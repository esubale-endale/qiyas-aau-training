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Session 1. By the end of this session, learners will understand what happens between pressing Run and receiving a response. These are not academic concepts  they are the daily decisions that distinguish junior from senior .NET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expectations. Ask learners which of these they can already explain. This gives you a read on the room before diving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wrong answers: 'Main()' or 'it just runs.' Correct: the .NET runtime starts first. Your Program.cs is code running INSIDE that runtime  not the starting point itself. The runtime is the environment; your code is the instructions it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you compile C# to x86 machine code and try to run it on ARM?' Guide: it crashes. IL is portable; machine code is not. The runtime translates IL to whatever the host platform needs. This is why .NET apps run everywhere without recompilation.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'.NET is slow because it compiles at runtime.' Redirect: it compiles ONCE per method. After that it runs as fast as native code. Ask: 'When would you use dotnet run vs dotnet run --configuration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this and walk left to right: 'Request enters, passes through logging, exception handling, routing... Notice the response travels BACK through each layer in reverse. Ask: what happens if we swap Authentication and Endpoint?' This makes ordering consequences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is one line: next.Invoke(). If you call it, the pipeline continues. If you do not, it stops here. Ask: 'If I use Use() but forget to call next.Invoke(), what happens?' Answer: exactly like Run()  pipeline terminates. Method name does not matter; calling next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SILENT. No error, no warning. The app starts, the health check works, but every API endpoint returns 404. In production, someone deploys this and the entire API is down. The developer spends hours debugging endpoint mapping when the problem is a single line position in Program.cs.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work backwards from the endpoint. The endpoint needs all checks to have run. Authorization needs authentication. Authentication needs routing. Routing needs to be in the pipeline. This makes the order obvious  not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M4-Session-1-Presentation Order determines behaviour. Pair with slide 9: fix is not memorising a list alone, but knowing why each layer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is about diagnosis. Learners must read broken code and explain WHY it is broken before they fix it. The most common block: learners put app.Run() before endpoints. If they say 'my endpoints don't work,' check for that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verbal check: ask 2-3 learners to describe one item in their own words. Look for reasoning, not recitation. 'I chose this order because...' is better than 'The order is 1, 2,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is where M4 gets hard. DI lifetimes are the single most common source of production bugs in ASP.NET Core. The captive dependency problem is a classic interview question. If a learner understands why a singleton cannot hold a scoped service, they understand something many working developers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EA5E9"/>
          </a:solidFill>
          <a:ln w="12700">
            <a:solidFill>
              <a:srgbClr val="0EA5E9"/>
            </a:solidFill>
            <a:prstDash val="solid"/>
          </a:ln>
        </p:spPr>
      </p:sp>
      <p:sp>
        <p:nvSpPr>
          <p:cNvPr id="3" name="Shape 1"/>
          <p:cNvSpPr/>
          <p:nvPr/>
        </p:nvSpPr>
        <p:spPr>
          <a:xfrm>
            <a:off x="0" y="5052060"/>
            <a:ext cx="9144000" cy="91440"/>
          </a:xfrm>
          <a:prstGeom prst="rect">
            <a:avLst/>
          </a:prstGeom>
          <a:solidFill>
            <a:srgbClr val="0D9488"/>
          </a:solidFill>
          <a:ln w="12700">
            <a:solidFill>
              <a:srgbClr val="0D9488"/>
            </a:solidFill>
            <a:prstDash val="solid"/>
          </a:ln>
        </p:spPr>
      </p:sp>
      <p:sp>
        <p:nvSpPr>
          <p:cNvPr id="4" name="Shape 2"/>
          <p:cNvSpPr/>
          <p:nvPr/>
        </p:nvSpPr>
        <p:spPr>
          <a:xfrm>
            <a:off x="0" y="91440"/>
            <a:ext cx="411480" cy="4960620"/>
          </a:xfrm>
          <a:prstGeom prst="rect">
            <a:avLst/>
          </a:prstGeom>
          <a:solidFill>
            <a:srgbClr val="243556"/>
          </a:solidFill>
          <a:ln w="12700">
            <a:solidFill>
              <a:srgbClr val="243556"/>
            </a:solidFill>
            <a:prstDash val="solid"/>
          </a:ln>
        </p:spPr>
      </p:sp>
      <p:sp>
        <p:nvSpPr>
          <p:cNvPr id="5" name="Shape 3"/>
          <p:cNvSpPr/>
          <p:nvPr/>
        </p:nvSpPr>
        <p:spPr>
          <a:xfrm>
            <a:off x="685800" y="685800"/>
            <a:ext cx="1234440" cy="320040"/>
          </a:xfrm>
          <a:prstGeom prst="rect">
            <a:avLst/>
          </a:prstGeom>
          <a:solidFill>
            <a:srgbClr val="0EA5E9"/>
          </a:solidFill>
          <a:ln w="12700">
            <a:solidFill>
              <a:srgbClr val="0EA5E9"/>
            </a:solidFill>
            <a:prstDash val="solid"/>
          </a:ln>
        </p:spPr>
      </p:sp>
      <p:sp>
        <p:nvSpPr>
          <p:cNvPr id="6" name="Text 4"/>
          <p:cNvSpPr/>
          <p:nvPr/>
        </p:nvSpPr>
        <p:spPr>
          <a:xfrm>
            <a:off x="685800" y="685800"/>
            <a:ext cx="1234440" cy="320040"/>
          </a:xfrm>
          <a:prstGeom prst="rect">
            <a:avLst/>
          </a:prstGeom>
          <a:noFill/>
        </p:spPr>
        <p:txBody>
          <a:bodyPr wrap="square" lIns="0" tIns="0" rIns="0" bIns="0" rtlCol="0" anchor="ctr"/>
          <a:lstStyle/>
          <a:p>
            <a:pPr marL="0" indent="0" algn="ctr">
              <a:buNone/>
            </a:pPr>
            <a:r>
              <a:rPr lang="en-US" sz="900"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rPr>
              <a:t>MODULE 4</a:t>
            </a:r>
            <a:endParaRPr lang="en-US" sz="900" dirty="0"/>
          </a:p>
        </p:txBody>
      </p:sp>
      <p:sp>
        <p:nvSpPr>
          <p:cNvPr id="7" name="Text 5"/>
          <p:cNvSpPr/>
          <p:nvPr/>
        </p:nvSpPr>
        <p:spPr>
          <a:xfrm>
            <a:off x="685800" y="1097280"/>
            <a:ext cx="4572000" cy="347472"/>
          </a:xfrm>
          <a:prstGeom prst="rect">
            <a:avLst/>
          </a:prstGeom>
          <a:noFill/>
        </p:spPr>
        <p:txBody>
          <a:bodyPr wrap="square" lIns="0" tIns="0" rIns="0" bIns="0" rtlCol="0" anchor="ctr"/>
          <a:lstStyle/>
          <a:p>
            <a:pPr marL="0" indent="0" algn="l">
              <a:buNone/>
            </a:pPr>
            <a:r>
              <a:rPr lang="en-US" sz="1300" dirty="0">
                <a:solidFill>
                  <a:srgbClr val="0EA5E9"/>
                </a:solidFill>
                <a:latin typeface="Calibri" panose="020F0502020204030204" pitchFamily="34" charset="0"/>
                <a:ea typeface="Calibri" panose="020F0502020204030204" pitchFamily="34" charset="-122"/>
                <a:cs typeface="Calibri" panose="020F0502020204030204" pitchFamily="34" charset="-120"/>
              </a:rPr>
              <a:t>Session 1 of 4</a:t>
            </a:r>
            <a:endParaRPr lang="en-US" sz="1300" dirty="0"/>
          </a:p>
        </p:txBody>
      </p:sp>
      <p:sp>
        <p:nvSpPr>
          <p:cNvPr id="8" name="Text 6"/>
          <p:cNvSpPr/>
          <p:nvPr/>
        </p:nvSpPr>
        <p:spPr>
          <a:xfrm>
            <a:off x="685800" y="1444752"/>
            <a:ext cx="5943600" cy="1737360"/>
          </a:xfrm>
          <a:prstGeom prst="rect">
            <a:avLst/>
          </a:prstGeom>
          <a:noFill/>
        </p:spPr>
        <p:txBody>
          <a:bodyPr wrap="square" lIns="0" tIns="0" rIns="0" bIns="0" rtlCol="0" anchor="t"/>
          <a:lstStyle/>
          <a:p>
            <a:pPr marL="0" indent="0" algn="l">
              <a:buNone/>
            </a:pPr>
            <a:r>
              <a:rPr lang="en-US" sz="4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ASP.NET Core</a:t>
            </a:r>
            <a:endParaRPr lang="en-US" sz="4800" dirty="0"/>
          </a:p>
          <a:p>
            <a:pPr marL="0" indent="0" algn="l">
              <a:buNone/>
            </a:pPr>
            <a:r>
              <a:rPr lang="en-US" sz="4800" b="1" dirty="0">
                <a:solidFill>
                  <a:srgbClr val="FFFFFF"/>
                </a:solidFill>
                <a:latin typeface="Calibri" panose="020F0502020204030204" pitchFamily="34" charset="0"/>
                <a:ea typeface="Calibri" panose="020F0502020204030204" pitchFamily="34" charset="-122"/>
                <a:cs typeface="Calibri" panose="020F0502020204030204" pitchFamily="34" charset="-120"/>
              </a:rPr>
              <a:t>Fundamentals</a:t>
            </a:r>
            <a:endParaRPr lang="en-US" sz="4800" dirty="0"/>
          </a:p>
        </p:txBody>
      </p:sp>
      <p:sp>
        <p:nvSpPr>
          <p:cNvPr id="9" name="Text 7"/>
          <p:cNvSpPr/>
          <p:nvPr/>
        </p:nvSpPr>
        <p:spPr>
          <a:xfrm>
            <a:off x="685800" y="3246120"/>
            <a:ext cx="6400800" cy="457200"/>
          </a:xfrm>
          <a:prstGeom prst="rect">
            <a:avLst/>
          </a:prstGeom>
          <a:noFill/>
        </p:spPr>
        <p:txBody>
          <a:bodyPr wrap="square" lIns="0" tIns="0" rIns="0" bIns="0" rtlCol="0" anchor="ctr"/>
          <a:lstStyle/>
          <a:p>
            <a:pPr marL="0" indent="0" algn="l">
              <a:buNone/>
            </a:pPr>
            <a:r>
              <a:rPr lang="en-US" sz="1800" dirty="0">
                <a:solidFill>
                  <a:srgbClr val="93C5FD"/>
                </a:solidFill>
                <a:latin typeface="Calibri" panose="020F0502020204030204" pitchFamily="34" charset="0"/>
                <a:ea typeface="Calibri" panose="020F0502020204030204" pitchFamily="34" charset="-122"/>
                <a:cs typeface="Calibri" panose="020F0502020204030204" pitchFamily="34" charset="-120"/>
              </a:rPr>
              <a:t>.NET Runtime &amp; the Request Pipeline</a:t>
            </a:r>
            <a:endParaRPr lang="en-US" sz="1800" dirty="0"/>
          </a:p>
        </p:txBody>
      </p:sp>
      <p:sp>
        <p:nvSpPr>
          <p:cNvPr id="10" name="Shape 8"/>
          <p:cNvSpPr/>
          <p:nvPr/>
        </p:nvSpPr>
        <p:spPr>
          <a:xfrm>
            <a:off x="685800" y="3794760"/>
            <a:ext cx="4114800" cy="0"/>
          </a:xfrm>
          <a:prstGeom prst="line">
            <a:avLst/>
          </a:prstGeom>
          <a:noFill/>
          <a:ln w="19050">
            <a:solidFill>
              <a:srgbClr val="0EA5E9"/>
            </a:solidFill>
            <a:prstDash val="solid"/>
          </a:ln>
        </p:spPr>
      </p:sp>
      <p:sp>
        <p:nvSpPr>
          <p:cNvPr id="12" name="Shape 10"/>
          <p:cNvSpPr/>
          <p:nvPr/>
        </p:nvSpPr>
        <p:spPr>
          <a:xfrm>
            <a:off x="6675120" y="1005840"/>
            <a:ext cx="2240280" cy="3017520"/>
          </a:xfrm>
          <a:prstGeom prst="rect">
            <a:avLst/>
          </a:prstGeom>
          <a:solidFill>
            <a:srgbClr val="0F1A2E"/>
          </a:solidFill>
          <a:ln w="12700">
            <a:solidFill>
              <a:srgbClr val="0EA5E9"/>
            </a:solidFill>
            <a:prstDash val="solid"/>
          </a:ln>
          <a:effectLst>
            <a:outerShdw blurRad="177800" dist="63500" dir="8100000" algn="bl" rotWithShape="0">
              <a:srgbClr val="000000">
                <a:alpha val="18000"/>
              </a:srgbClr>
            </a:outerShdw>
          </a:effectLst>
        </p:spPr>
      </p:sp>
      <p:sp>
        <p:nvSpPr>
          <p:cNvPr id="13" name="Text 11"/>
          <p:cNvSpPr/>
          <p:nvPr/>
        </p:nvSpPr>
        <p:spPr>
          <a:xfrm>
            <a:off x="6812280" y="1115568"/>
            <a:ext cx="1920240" cy="256032"/>
          </a:xfrm>
          <a:prstGeom prst="rect">
            <a:avLst/>
          </a:prstGeom>
          <a:noFill/>
        </p:spPr>
        <p:txBody>
          <a:bodyPr wrap="square" lIns="0" tIns="0" rIns="0" bIns="0" rtlCol="0" anchor="ctr"/>
          <a:lstStyle/>
          <a:p>
            <a:pPr marL="0" indent="0" algn="l">
              <a:buNone/>
            </a:pPr>
            <a:r>
              <a:rPr lang="en-US" sz="80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a:t>
            </a:r>
            <a:endParaRPr lang="en-US" sz="800" dirty="0"/>
          </a:p>
        </p:txBody>
      </p:sp>
      <p:sp>
        <p:nvSpPr>
          <p:cNvPr id="14" name="Text 12"/>
          <p:cNvSpPr/>
          <p:nvPr/>
        </p:nvSpPr>
        <p:spPr>
          <a:xfrm>
            <a:off x="6812280" y="1444752"/>
            <a:ext cx="1965960" cy="2423160"/>
          </a:xfrm>
          <a:prstGeom prst="rect">
            <a:avLst/>
          </a:prstGeom>
          <a:noFill/>
        </p:spPr>
        <p:txBody>
          <a:bodyPr wrap="square" lIns="0" tIns="0" rIns="0" bIns="0" rtlCol="0" anchor="t"/>
          <a:lstStyle/>
          <a:p>
            <a:pPr marL="0" indent="0" algn="l">
              <a:buNone/>
            </a:pP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var </a:t>
            </a: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builder</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00" dirty="0"/>
          </a:p>
          <a:p>
            <a:pPr marL="0" indent="0" algn="l">
              <a:buNone/>
            </a:pP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  WebApplication</a:t>
            </a:r>
            <a:endParaRPr lang="en-US" sz="800" dirty="0"/>
          </a:p>
          <a:p>
            <a:pPr marL="0" indent="0" algn="l">
              <a:buNone/>
            </a:pPr>
            <a:endParaRPr lang="en-US" sz="800" dirty="0"/>
          </a:p>
          <a:p>
            <a:pPr marL="0" indent="0" algn="l">
              <a:buNone/>
            </a:pP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  .CreateBuilder(args);</a:t>
            </a:r>
            <a:endParaRPr lang="en-US" sz="800" dirty="0"/>
          </a:p>
          <a:p>
            <a:pPr marL="0" indent="0" algn="l">
              <a:buNone/>
            </a:pPr>
            <a:r>
              <a:rPr lang="en-US" sz="800" dirty="0">
                <a:solidFill>
                  <a:srgbClr val="000000"/>
                </a:solidFill>
                <a:latin typeface="Consolas" panose="020B0609020204030204" pitchFamily="34" charset="0"/>
                <a:ea typeface="Consolas" panose="020B0609020204030204" pitchFamily="34" charset="-122"/>
                <a:cs typeface="Consolas" panose="020B0609020204030204" pitchFamily="34" charset="-120"/>
              </a:rPr>
              <a:t>
</a:t>
            </a:r>
            <a:endParaRPr lang="en-US" sz="800" dirty="0"/>
          </a:p>
          <a:p>
            <a:pPr marL="0" indent="0" algn="l">
              <a:buNone/>
            </a:pP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builder</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.Services</a:t>
            </a:r>
            <a:endParaRPr lang="en-US" sz="800" dirty="0"/>
          </a:p>
          <a:p>
            <a:pPr marL="0" indent="0" algn="l">
              <a:buNone/>
            </a:pP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  .AddControllers();</a:t>
            </a:r>
            <a:endParaRPr lang="en-US" sz="800" dirty="0"/>
          </a:p>
          <a:p>
            <a:pPr marL="0" indent="0" algn="l">
              <a:buNone/>
            </a:pPr>
            <a:r>
              <a:rPr lang="en-US" sz="800" dirty="0">
                <a:solidFill>
                  <a:srgbClr val="000000"/>
                </a:solidFill>
                <a:latin typeface="Consolas" panose="020B0609020204030204" pitchFamily="34" charset="0"/>
                <a:ea typeface="Consolas" panose="020B0609020204030204" pitchFamily="34" charset="-122"/>
                <a:cs typeface="Consolas" panose="020B0609020204030204" pitchFamily="34" charset="-120"/>
              </a:rPr>
              <a:t>
</a:t>
            </a:r>
            <a:endParaRPr lang="en-US" sz="800" dirty="0"/>
          </a:p>
          <a:p>
            <a:pPr marL="0" indent="0" algn="l">
              <a:buNone/>
            </a:pP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var </a:t>
            </a: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 = builder.Build();</a:t>
            </a:r>
            <a:endParaRPr lang="en-US" sz="800" dirty="0"/>
          </a:p>
          <a:p>
            <a:pPr marL="0" indent="0" algn="l">
              <a:buNone/>
            </a:pPr>
            <a:r>
              <a:rPr lang="en-US" sz="800" dirty="0">
                <a:solidFill>
                  <a:srgbClr val="000000"/>
                </a:solidFill>
                <a:latin typeface="Consolas" panose="020B0609020204030204" pitchFamily="34" charset="0"/>
                <a:ea typeface="Consolas" panose="020B0609020204030204" pitchFamily="34" charset="-122"/>
                <a:cs typeface="Consolas" panose="020B0609020204030204" pitchFamily="34" charset="-120"/>
              </a:rPr>
              <a:t>
</a:t>
            </a:r>
            <a:endParaRPr lang="en-US" sz="800" dirty="0"/>
          </a:p>
          <a:p>
            <a:pPr marL="0" indent="0" algn="l">
              <a:buNone/>
            </a:pP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.UseRouting();</a:t>
            </a:r>
            <a:endParaRPr lang="en-US" sz="800" dirty="0"/>
          </a:p>
          <a:p>
            <a:pPr marL="0" indent="0" algn="l">
              <a:buNone/>
            </a:pP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.UseAuthorization();</a:t>
            </a:r>
            <a:endParaRPr lang="en-US" sz="800" dirty="0"/>
          </a:p>
          <a:p>
            <a:pPr marL="0" indent="0" algn="l">
              <a:buNone/>
            </a:pP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.MapControllers();</a:t>
            </a:r>
            <a:endParaRPr lang="en-US" sz="800" dirty="0"/>
          </a:p>
          <a:p>
            <a:pPr marL="0" indent="0" algn="l">
              <a:buNone/>
            </a:pPr>
            <a:r>
              <a:rPr lang="en-US" sz="8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00" dirty="0">
                <a:solidFill>
                  <a:srgbClr val="FFFFFF"/>
                </a:solidFill>
                <a:latin typeface="Consolas" panose="020B0609020204030204" pitchFamily="34" charset="0"/>
                <a:ea typeface="Consolas" panose="020B0609020204030204" pitchFamily="34" charset="-122"/>
                <a:cs typeface="Consolas" panose="020B0609020204030204" pitchFamily="34" charset="-120"/>
              </a:rPr>
              <a:t>.Run();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Session Overview</a:t>
            </a:r>
            <a:endParaRPr lang="en-US" sz="2100" dirty="0"/>
          </a:p>
        </p:txBody>
      </p:sp>
      <p:sp>
        <p:nvSpPr>
          <p:cNvPr id="6" name="Text 4"/>
          <p:cNvSpPr/>
          <p:nvPr/>
        </p:nvSpPr>
        <p:spPr>
          <a:xfrm>
            <a:off x="228600" y="841248"/>
            <a:ext cx="8686800" cy="292608"/>
          </a:xfrm>
          <a:prstGeom prst="rect">
            <a:avLst/>
          </a:prstGeom>
          <a:noFill/>
        </p:spPr>
        <p:txBody>
          <a:bodyPr wrap="square" lIns="0" tIns="0" rIns="0" bIns="0" rtlCol="0" anchor="ctr"/>
          <a:lstStyle/>
          <a:p>
            <a:pPr marL="0" indent="0" algn="l">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By the end of this session, you will be able to:</a:t>
            </a:r>
            <a:endParaRPr lang="en-US" sz="1200" dirty="0"/>
          </a:p>
        </p:txBody>
      </p:sp>
      <p:sp>
        <p:nvSpPr>
          <p:cNvPr id="7" name="Shape 5"/>
          <p:cNvSpPr/>
          <p:nvPr/>
        </p:nvSpPr>
        <p:spPr>
          <a:xfrm>
            <a:off x="256032" y="1261872"/>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56032" y="1261872"/>
            <a:ext cx="54864" cy="1389888"/>
          </a:xfrm>
          <a:prstGeom prst="rect">
            <a:avLst/>
          </a:prstGeom>
          <a:solidFill>
            <a:srgbClr val="0EA5E9"/>
          </a:solidFill>
          <a:ln w="12700">
            <a:solidFill>
              <a:srgbClr val="0EA5E9"/>
            </a:solidFill>
            <a:prstDash val="solid"/>
          </a:ln>
        </p:spPr>
      </p:sp>
      <p:sp>
        <p:nvSpPr>
          <p:cNvPr id="9" name="Shape 7"/>
          <p:cNvSpPr/>
          <p:nvPr/>
        </p:nvSpPr>
        <p:spPr>
          <a:xfrm>
            <a:off x="420624" y="1408176"/>
            <a:ext cx="365760" cy="365760"/>
          </a:xfrm>
          <a:prstGeom prst="ellipse">
            <a:avLst/>
          </a:prstGeom>
          <a:solidFill>
            <a:srgbClr val="0EA5E9"/>
          </a:solidFill>
          <a:ln w="12700">
            <a:solidFill>
              <a:srgbClr val="0EA5E9"/>
            </a:solidFill>
            <a:prstDash val="solid"/>
          </a:ln>
        </p:spPr>
      </p:sp>
      <p:sp>
        <p:nvSpPr>
          <p:cNvPr id="10" name="Text 8"/>
          <p:cNvSpPr/>
          <p:nvPr/>
        </p:nvSpPr>
        <p:spPr>
          <a:xfrm>
            <a:off x="420624" y="1408176"/>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100" dirty="0"/>
          </a:p>
        </p:txBody>
      </p:sp>
      <p:sp>
        <p:nvSpPr>
          <p:cNvPr id="11" name="Text 9"/>
          <p:cNvSpPr/>
          <p:nvPr/>
        </p:nvSpPr>
        <p:spPr>
          <a:xfrm>
            <a:off x="914400" y="1389888"/>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Explain the .NET runtime</a:t>
            </a:r>
            <a:endParaRPr lang="en-US" sz="1150" dirty="0"/>
          </a:p>
        </p:txBody>
      </p:sp>
      <p:sp>
        <p:nvSpPr>
          <p:cNvPr id="12" name="Text 10"/>
          <p:cNvSpPr/>
          <p:nvPr/>
        </p:nvSpPr>
        <p:spPr>
          <a:xfrm>
            <a:off x="438912" y="1792224"/>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What happens between pressing Run and seeing a response in the browser</a:t>
            </a:r>
            <a:endParaRPr lang="en-US" sz="1000" dirty="0"/>
          </a:p>
        </p:txBody>
      </p:sp>
      <p:sp>
        <p:nvSpPr>
          <p:cNvPr id="13" name="Shape 11"/>
          <p:cNvSpPr/>
          <p:nvPr/>
        </p:nvSpPr>
        <p:spPr>
          <a:xfrm>
            <a:off x="3227832" y="1261872"/>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3227832" y="1261872"/>
            <a:ext cx="54864" cy="1389888"/>
          </a:xfrm>
          <a:prstGeom prst="rect">
            <a:avLst/>
          </a:prstGeom>
          <a:solidFill>
            <a:srgbClr val="0D9488"/>
          </a:solidFill>
          <a:ln w="12700">
            <a:solidFill>
              <a:srgbClr val="0D9488"/>
            </a:solidFill>
            <a:prstDash val="solid"/>
          </a:ln>
        </p:spPr>
      </p:sp>
      <p:sp>
        <p:nvSpPr>
          <p:cNvPr id="15" name="Shape 13"/>
          <p:cNvSpPr/>
          <p:nvPr/>
        </p:nvSpPr>
        <p:spPr>
          <a:xfrm>
            <a:off x="3392424" y="1408176"/>
            <a:ext cx="365760" cy="365760"/>
          </a:xfrm>
          <a:prstGeom prst="ellipse">
            <a:avLst/>
          </a:prstGeom>
          <a:solidFill>
            <a:srgbClr val="0D9488"/>
          </a:solidFill>
          <a:ln w="12700">
            <a:solidFill>
              <a:srgbClr val="0D9488"/>
            </a:solidFill>
            <a:prstDash val="solid"/>
          </a:ln>
        </p:spPr>
      </p:sp>
      <p:sp>
        <p:nvSpPr>
          <p:cNvPr id="16" name="Text 14"/>
          <p:cNvSpPr/>
          <p:nvPr/>
        </p:nvSpPr>
        <p:spPr>
          <a:xfrm>
            <a:off x="3392424" y="1408176"/>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
        <p:nvSpPr>
          <p:cNvPr id="17" name="Text 15"/>
          <p:cNvSpPr/>
          <p:nvPr/>
        </p:nvSpPr>
        <p:spPr>
          <a:xfrm>
            <a:off x="3886200" y="1389888"/>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Understand JIT compilation</a:t>
            </a:r>
            <a:endParaRPr lang="en-US" sz="1150" dirty="0"/>
          </a:p>
        </p:txBody>
      </p:sp>
      <p:sp>
        <p:nvSpPr>
          <p:cNvPr id="18" name="Text 16"/>
          <p:cNvSpPr/>
          <p:nvPr/>
        </p:nvSpPr>
        <p:spPr>
          <a:xfrm>
            <a:off x="3410712" y="1792224"/>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Why C# compiles to IL first and when the JIT penalty actually matters</a:t>
            </a:r>
            <a:endParaRPr lang="en-US" sz="1000" dirty="0"/>
          </a:p>
        </p:txBody>
      </p:sp>
      <p:sp>
        <p:nvSpPr>
          <p:cNvPr id="19" name="Shape 17"/>
          <p:cNvSpPr/>
          <p:nvPr/>
        </p:nvSpPr>
        <p:spPr>
          <a:xfrm>
            <a:off x="6199632" y="1261872"/>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6199632" y="1261872"/>
            <a:ext cx="54864" cy="1389888"/>
          </a:xfrm>
          <a:prstGeom prst="rect">
            <a:avLst/>
          </a:prstGeom>
          <a:solidFill>
            <a:srgbClr val="7C3AED"/>
          </a:solidFill>
          <a:ln w="12700">
            <a:solidFill>
              <a:srgbClr val="7C3AED"/>
            </a:solidFill>
            <a:prstDash val="solid"/>
          </a:ln>
        </p:spPr>
      </p:sp>
      <p:sp>
        <p:nvSpPr>
          <p:cNvPr id="21" name="Shape 19"/>
          <p:cNvSpPr/>
          <p:nvPr/>
        </p:nvSpPr>
        <p:spPr>
          <a:xfrm>
            <a:off x="6364224" y="1408176"/>
            <a:ext cx="365760" cy="365760"/>
          </a:xfrm>
          <a:prstGeom prst="ellipse">
            <a:avLst/>
          </a:prstGeom>
          <a:solidFill>
            <a:srgbClr val="7C3AED"/>
          </a:solidFill>
          <a:ln w="12700">
            <a:solidFill>
              <a:srgbClr val="7C3AED"/>
            </a:solidFill>
            <a:prstDash val="solid"/>
          </a:ln>
        </p:spPr>
      </p:sp>
      <p:sp>
        <p:nvSpPr>
          <p:cNvPr id="22" name="Text 20"/>
          <p:cNvSpPr/>
          <p:nvPr/>
        </p:nvSpPr>
        <p:spPr>
          <a:xfrm>
            <a:off x="6364224" y="1408176"/>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
        <p:nvSpPr>
          <p:cNvPr id="23" name="Text 21"/>
          <p:cNvSpPr/>
          <p:nvPr/>
        </p:nvSpPr>
        <p:spPr>
          <a:xfrm>
            <a:off x="6858000" y="1389888"/>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Order middleware correctly</a:t>
            </a:r>
            <a:endParaRPr lang="en-US" sz="1150" dirty="0"/>
          </a:p>
        </p:txBody>
      </p:sp>
      <p:sp>
        <p:nvSpPr>
          <p:cNvPr id="24" name="Text 22"/>
          <p:cNvSpPr/>
          <p:nvPr/>
        </p:nvSpPr>
        <p:spPr>
          <a:xfrm>
            <a:off x="6382512" y="1792224"/>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Why pipeline order is more impactful than any other decision in Program.cs</a:t>
            </a:r>
            <a:endParaRPr lang="en-US" sz="1000" dirty="0"/>
          </a:p>
        </p:txBody>
      </p:sp>
      <p:sp>
        <p:nvSpPr>
          <p:cNvPr id="25" name="Shape 23"/>
          <p:cNvSpPr/>
          <p:nvPr/>
        </p:nvSpPr>
        <p:spPr>
          <a:xfrm>
            <a:off x="256032" y="278892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256032" y="2788920"/>
            <a:ext cx="54864" cy="1389888"/>
          </a:xfrm>
          <a:prstGeom prst="rect">
            <a:avLst/>
          </a:prstGeom>
          <a:solidFill>
            <a:srgbClr val="F59E0B"/>
          </a:solidFill>
          <a:ln w="12700">
            <a:solidFill>
              <a:srgbClr val="F59E0B"/>
            </a:solidFill>
            <a:prstDash val="solid"/>
          </a:ln>
        </p:spPr>
      </p:sp>
      <p:sp>
        <p:nvSpPr>
          <p:cNvPr id="27" name="Shape 25"/>
          <p:cNvSpPr/>
          <p:nvPr/>
        </p:nvSpPr>
        <p:spPr>
          <a:xfrm>
            <a:off x="420624" y="2935224"/>
            <a:ext cx="365760" cy="365760"/>
          </a:xfrm>
          <a:prstGeom prst="ellipse">
            <a:avLst/>
          </a:prstGeom>
          <a:solidFill>
            <a:srgbClr val="F59E0B"/>
          </a:solidFill>
          <a:ln w="12700">
            <a:solidFill>
              <a:srgbClr val="F59E0B"/>
            </a:solidFill>
            <a:prstDash val="solid"/>
          </a:ln>
        </p:spPr>
      </p:sp>
      <p:sp>
        <p:nvSpPr>
          <p:cNvPr id="28" name="Text 26"/>
          <p:cNvSpPr/>
          <p:nvPr/>
        </p:nvSpPr>
        <p:spPr>
          <a:xfrm>
            <a:off x="420624" y="293522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
        <p:nvSpPr>
          <p:cNvPr id="29" name="Text 27"/>
          <p:cNvSpPr/>
          <p:nvPr/>
        </p:nvSpPr>
        <p:spPr>
          <a:xfrm>
            <a:off x="914400" y="291693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Distinguish Use() from Run()</a:t>
            </a:r>
            <a:endParaRPr lang="en-US" sz="1150" dirty="0"/>
          </a:p>
        </p:txBody>
      </p:sp>
      <p:sp>
        <p:nvSpPr>
          <p:cNvPr id="30" name="Text 28"/>
          <p:cNvSpPr/>
          <p:nvPr/>
        </p:nvSpPr>
        <p:spPr>
          <a:xfrm>
            <a:off x="438912" y="3319272"/>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The one line that separates pipeline continuation from silent termination</a:t>
            </a:r>
            <a:endParaRPr lang="en-US" sz="1000" dirty="0"/>
          </a:p>
        </p:txBody>
      </p:sp>
      <p:sp>
        <p:nvSpPr>
          <p:cNvPr id="31" name="Shape 29"/>
          <p:cNvSpPr/>
          <p:nvPr/>
        </p:nvSpPr>
        <p:spPr>
          <a:xfrm>
            <a:off x="3227832" y="278892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3227832" y="2788920"/>
            <a:ext cx="54864" cy="1389888"/>
          </a:xfrm>
          <a:prstGeom prst="rect">
            <a:avLst/>
          </a:prstGeom>
          <a:solidFill>
            <a:srgbClr val="EF4444"/>
          </a:solidFill>
          <a:ln w="12700">
            <a:solidFill>
              <a:srgbClr val="EF4444"/>
            </a:solidFill>
            <a:prstDash val="solid"/>
          </a:ln>
        </p:spPr>
      </p:sp>
      <p:sp>
        <p:nvSpPr>
          <p:cNvPr id="33" name="Shape 31"/>
          <p:cNvSpPr/>
          <p:nvPr/>
        </p:nvSpPr>
        <p:spPr>
          <a:xfrm>
            <a:off x="3392424" y="2935224"/>
            <a:ext cx="365760" cy="365760"/>
          </a:xfrm>
          <a:prstGeom prst="ellipse">
            <a:avLst/>
          </a:prstGeom>
          <a:solidFill>
            <a:srgbClr val="EF4444"/>
          </a:solidFill>
          <a:ln w="12700">
            <a:solidFill>
              <a:srgbClr val="EF4444"/>
            </a:solidFill>
            <a:prstDash val="solid"/>
          </a:ln>
        </p:spPr>
      </p:sp>
      <p:sp>
        <p:nvSpPr>
          <p:cNvPr id="34" name="Text 32"/>
          <p:cNvSpPr/>
          <p:nvPr/>
        </p:nvSpPr>
        <p:spPr>
          <a:xfrm>
            <a:off x="3392424" y="293522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35" name="Text 33"/>
          <p:cNvSpPr/>
          <p:nvPr/>
        </p:nvSpPr>
        <p:spPr>
          <a:xfrm>
            <a:off x="3886200" y="291693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Diagnose ordering bugs</a:t>
            </a:r>
            <a:endParaRPr lang="en-US" sz="1150" dirty="0"/>
          </a:p>
        </p:txBody>
      </p:sp>
      <p:sp>
        <p:nvSpPr>
          <p:cNvPr id="36" name="Text 34"/>
          <p:cNvSpPr/>
          <p:nvPr/>
        </p:nvSpPr>
        <p:spPr>
          <a:xfrm>
            <a:off x="3410712" y="3319272"/>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Read Program.cs and identify middleware mistakes before they hit production</a:t>
            </a:r>
            <a:endParaRPr lang="en-US" sz="1000" dirty="0"/>
          </a:p>
        </p:txBody>
      </p:sp>
      <p:sp>
        <p:nvSpPr>
          <p:cNvPr id="37" name="Shape 35"/>
          <p:cNvSpPr/>
          <p:nvPr/>
        </p:nvSpPr>
        <p:spPr>
          <a:xfrm>
            <a:off x="6199632" y="278892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38" name="Shape 36"/>
          <p:cNvSpPr/>
          <p:nvPr/>
        </p:nvSpPr>
        <p:spPr>
          <a:xfrm>
            <a:off x="6199632" y="2788920"/>
            <a:ext cx="54864" cy="1389888"/>
          </a:xfrm>
          <a:prstGeom prst="rect">
            <a:avLst/>
          </a:prstGeom>
          <a:solidFill>
            <a:srgbClr val="10B981"/>
          </a:solidFill>
          <a:ln w="12700">
            <a:solidFill>
              <a:srgbClr val="10B981"/>
            </a:solidFill>
            <a:prstDash val="solid"/>
          </a:ln>
        </p:spPr>
      </p:sp>
      <p:sp>
        <p:nvSpPr>
          <p:cNvPr id="39" name="Shape 37"/>
          <p:cNvSpPr/>
          <p:nvPr/>
        </p:nvSpPr>
        <p:spPr>
          <a:xfrm>
            <a:off x="6364224" y="2935224"/>
            <a:ext cx="365760" cy="365760"/>
          </a:xfrm>
          <a:prstGeom prst="ellipse">
            <a:avLst/>
          </a:prstGeom>
          <a:solidFill>
            <a:srgbClr val="10B981"/>
          </a:solidFill>
          <a:ln w="12700">
            <a:solidFill>
              <a:srgbClr val="10B981"/>
            </a:solidFill>
            <a:prstDash val="solid"/>
          </a:ln>
        </p:spPr>
      </p:sp>
      <p:sp>
        <p:nvSpPr>
          <p:cNvPr id="40" name="Text 38"/>
          <p:cNvSpPr/>
          <p:nvPr/>
        </p:nvSpPr>
        <p:spPr>
          <a:xfrm>
            <a:off x="6364224" y="293522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
        <p:nvSpPr>
          <p:cNvPr id="41" name="Text 39"/>
          <p:cNvSpPr/>
          <p:nvPr/>
        </p:nvSpPr>
        <p:spPr>
          <a:xfrm>
            <a:off x="6858000" y="291693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Build the TMS pipeline</a:t>
            </a:r>
            <a:endParaRPr lang="en-US" sz="1150" dirty="0"/>
          </a:p>
        </p:txBody>
      </p:sp>
      <p:sp>
        <p:nvSpPr>
          <p:cNvPr id="42" name="Text 40"/>
          <p:cNvSpPr/>
          <p:nvPr/>
        </p:nvSpPr>
        <p:spPr>
          <a:xfrm>
            <a:off x="6382512" y="3319272"/>
            <a:ext cx="2487168" cy="74980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Implement a correct, production-ready request pipeline for the TMS API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EA5E9"/>
          </a:solidFill>
          <a:ln w="12700">
            <a:solidFill>
              <a:srgbClr val="0EA5E9"/>
            </a:solidFill>
            <a:prstDash val="solid"/>
          </a:ln>
        </p:spPr>
      </p:sp>
      <p:sp>
        <p:nvSpPr>
          <p:cNvPr id="3" name="Shape 1"/>
          <p:cNvSpPr/>
          <p:nvPr/>
        </p:nvSpPr>
        <p:spPr>
          <a:xfrm>
            <a:off x="0" y="5052060"/>
            <a:ext cx="9144000" cy="91440"/>
          </a:xfrm>
          <a:prstGeom prst="rect">
            <a:avLst/>
          </a:prstGeom>
          <a:solidFill>
            <a:srgbClr val="0D9488"/>
          </a:solidFill>
          <a:ln w="12700">
            <a:solidFill>
              <a:srgbClr val="0D9488"/>
            </a:solidFill>
            <a:prstDash val="solid"/>
          </a:ln>
        </p:spPr>
      </p:sp>
      <p:sp>
        <p:nvSpPr>
          <p:cNvPr id="4" name="Text 2"/>
          <p:cNvSpPr/>
          <p:nvPr/>
        </p:nvSpPr>
        <p:spPr>
          <a:xfrm>
            <a:off x="6217920" y="274320"/>
            <a:ext cx="2743200" cy="4572000"/>
          </a:xfrm>
          <a:prstGeom prst="rect">
            <a:avLst/>
          </a:prstGeom>
          <a:noFill/>
        </p:spPr>
        <p:txBody>
          <a:bodyPr wrap="square" lIns="0" tIns="0" rIns="0" bIns="0" rtlCol="0" anchor="ctr"/>
          <a:lstStyle/>
          <a:p>
            <a:pPr marL="0" indent="0" algn="ctr">
              <a:buNone/>
            </a:pPr>
            <a:r>
              <a:rPr lang="en-US" sz="24000" b="1" dirty="0">
                <a:solidFill>
                  <a:srgbClr val="0F2040"/>
                </a:solidFill>
                <a:latin typeface="Calibri" panose="020F0502020204030204" pitchFamily="34" charset="0"/>
                <a:ea typeface="Calibri" panose="020F0502020204030204" pitchFamily="34" charset="-122"/>
                <a:cs typeface="Calibri" panose="020F0502020204030204" pitchFamily="34" charset="-120"/>
              </a:rPr>
              <a:t>?</a:t>
            </a:r>
            <a:endParaRPr lang="en-US" sz="24000" dirty="0"/>
          </a:p>
        </p:txBody>
      </p:sp>
      <p:sp>
        <p:nvSpPr>
          <p:cNvPr id="5" name="Shape 3"/>
          <p:cNvSpPr/>
          <p:nvPr/>
        </p:nvSpPr>
        <p:spPr>
          <a:xfrm>
            <a:off x="457200" y="457200"/>
            <a:ext cx="54864" cy="4206240"/>
          </a:xfrm>
          <a:prstGeom prst="rect">
            <a:avLst/>
          </a:prstGeom>
          <a:solidFill>
            <a:srgbClr val="0EA5E9"/>
          </a:solidFill>
          <a:ln w="12700">
            <a:solidFill>
              <a:srgbClr val="0EA5E9"/>
            </a:solidFill>
            <a:prstDash val="solid"/>
          </a:ln>
        </p:spPr>
      </p:sp>
      <p:sp>
        <p:nvSpPr>
          <p:cNvPr id="6" name="Text 4"/>
          <p:cNvSpPr/>
          <p:nvPr/>
        </p:nvSpPr>
        <p:spPr>
          <a:xfrm>
            <a:off x="685800" y="502920"/>
            <a:ext cx="5486400" cy="347472"/>
          </a:xfrm>
          <a:prstGeom prst="rect">
            <a:avLst/>
          </a:prstGeom>
          <a:noFill/>
        </p:spPr>
        <p:txBody>
          <a:bodyPr wrap="square" lIns="0" tIns="0" rIns="0" bIns="0" rtlCol="0" anchor="ctr"/>
          <a:lstStyle/>
          <a:p>
            <a:pPr marL="0" indent="0" algn="l">
              <a:buNone/>
            </a:pPr>
            <a:r>
              <a:rPr lang="en-US" sz="1100" b="1" kern="0" spc="300" dirty="0">
                <a:solidFill>
                  <a:srgbClr val="0EA5E9"/>
                </a:solidFill>
                <a:latin typeface="Calibri" panose="020F0502020204030204" pitchFamily="34" charset="0"/>
                <a:ea typeface="Calibri" panose="020F0502020204030204" pitchFamily="34" charset="-122"/>
                <a:cs typeface="Calibri" panose="020F0502020204030204" pitchFamily="34" charset="-120"/>
              </a:rPr>
              <a:t>OPENING QUESTION</a:t>
            </a:r>
            <a:endParaRPr lang="en-US" sz="1100" dirty="0"/>
          </a:p>
        </p:txBody>
      </p:sp>
      <p:sp>
        <p:nvSpPr>
          <p:cNvPr id="7" name="Text 5"/>
          <p:cNvSpPr/>
          <p:nvPr/>
        </p:nvSpPr>
        <p:spPr>
          <a:xfrm>
            <a:off x="685800" y="960120"/>
            <a:ext cx="5943600" cy="2194560"/>
          </a:xfrm>
          <a:prstGeom prst="rect">
            <a:avLst/>
          </a:prstGeom>
          <a:noFill/>
        </p:spPr>
        <p:txBody>
          <a:bodyPr wrap="square" lIns="0" tIns="0" rIns="0" bIns="0" rtlCol="0" anchor="t"/>
          <a:lstStyle/>
          <a:p>
            <a:pPr marL="0" indent="0" algn="l">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When you press</a:t>
            </a:r>
            <a:endParaRPr lang="en-US" sz="4000" dirty="0"/>
          </a:p>
          <a:p>
            <a:pPr marL="0" indent="0" algn="l">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Run  what</a:t>
            </a:r>
            <a:endParaRPr lang="en-US" sz="4000" dirty="0"/>
          </a:p>
          <a:p>
            <a:pPr marL="0" indent="0" algn="l">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happens first?</a:t>
            </a:r>
            <a:endParaRPr lang="en-US" sz="4000" dirty="0"/>
          </a:p>
        </p:txBody>
      </p:sp>
      <p:sp>
        <p:nvSpPr>
          <p:cNvPr id="8" name="Text 6"/>
          <p:cNvSpPr/>
          <p:nvPr/>
        </p:nvSpPr>
        <p:spPr>
          <a:xfrm>
            <a:off x="685800" y="3246120"/>
            <a:ext cx="5486400" cy="411480"/>
          </a:xfrm>
          <a:prstGeom prst="rect">
            <a:avLst/>
          </a:prstGeom>
          <a:noFill/>
        </p:spPr>
        <p:txBody>
          <a:bodyPr wrap="square" lIns="0" tIns="0" rIns="0" bIns="0" rtlCol="0" anchor="ctr"/>
          <a:lstStyle/>
          <a:p>
            <a:pPr marL="0" indent="0" algn="l">
              <a:buNone/>
            </a:pPr>
            <a:r>
              <a:rPr lang="en-US" sz="1500" dirty="0">
                <a:solidFill>
                  <a:srgbClr val="93C5FD"/>
                </a:solidFill>
                <a:latin typeface="Calibri" panose="020F0502020204030204" pitchFamily="34" charset="0"/>
                <a:ea typeface="Calibri" panose="020F0502020204030204" pitchFamily="34" charset="-122"/>
                <a:cs typeface="Calibri" panose="020F0502020204030204" pitchFamily="34" charset="-120"/>
              </a:rPr>
              <a:t>Where does your code actually start executing?</a:t>
            </a:r>
            <a:endParaRPr lang="en-US" sz="1500" dirty="0"/>
          </a:p>
        </p:txBody>
      </p:sp>
      <p:sp>
        <p:nvSpPr>
          <p:cNvPr id="9" name="Shape 7"/>
          <p:cNvSpPr/>
          <p:nvPr/>
        </p:nvSpPr>
        <p:spPr>
          <a:xfrm>
            <a:off x="685800" y="3840480"/>
            <a:ext cx="4114800" cy="457200"/>
          </a:xfrm>
          <a:prstGeom prst="rect">
            <a:avLst/>
          </a:prstGeom>
          <a:solidFill>
            <a:srgbClr val="0D1B36"/>
          </a:solidFill>
          <a:ln w="12700">
            <a:solidFill>
              <a:srgbClr val="0EA5E9"/>
            </a:solidFill>
            <a:prstDash val="solid"/>
          </a:ln>
        </p:spPr>
      </p:sp>
      <p:sp>
        <p:nvSpPr>
          <p:cNvPr id="10" name="Text 8"/>
          <p:cNvSpPr/>
          <p:nvPr/>
        </p:nvSpPr>
        <p:spPr>
          <a:xfrm>
            <a:off x="685800" y="3840480"/>
            <a:ext cx="4114800" cy="457200"/>
          </a:xfrm>
          <a:prstGeom prst="rect">
            <a:avLst/>
          </a:prstGeom>
          <a:noFill/>
        </p:spPr>
        <p:txBody>
          <a:bodyPr wrap="square" lIns="0" tIns="0" rIns="0" bIns="0" rtlCol="0" anchor="ctr"/>
          <a:lstStyle/>
          <a:p>
            <a:pPr marL="0" indent="0" algn="ctr">
              <a:buNone/>
            </a:pPr>
            <a:r>
              <a:rPr lang="en-US" sz="1100" i="1" dirty="0">
                <a:solidFill>
                  <a:srgbClr val="93C5FD"/>
                </a:solidFill>
                <a:latin typeface="Calibri" panose="020F0502020204030204" pitchFamily="34" charset="0"/>
                <a:ea typeface="Calibri" panose="020F0502020204030204" pitchFamily="34" charset="-122"/>
                <a:cs typeface="Calibri" panose="020F0502020204030204" pitchFamily="34" charset="-120"/>
              </a:rPr>
              <a:t>Discuss with the person next to you  2 minutes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The Journey from Code to Execution</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548640" y="1005840"/>
            <a:ext cx="1426464" cy="1417320"/>
          </a:xfrm>
          <a:prstGeom prst="rect">
            <a:avLst/>
          </a:prstGeom>
          <a:solidFill>
            <a:srgbClr val="F8FAFC"/>
          </a:solidFill>
          <a:ln w="19050">
            <a:solidFill>
              <a:srgbClr val="0EA5E9"/>
            </a:solidFill>
            <a:prstDash val="solid"/>
          </a:ln>
          <a:effectLst>
            <a:outerShdw blurRad="101600" dist="38100" dir="8100000" algn="bl" rotWithShape="0">
              <a:srgbClr val="000000">
                <a:alpha val="12000"/>
              </a:srgbClr>
            </a:outerShdw>
          </a:effectLst>
        </p:spPr>
      </p:sp>
      <p:sp>
        <p:nvSpPr>
          <p:cNvPr id="8" name="Shape 6"/>
          <p:cNvSpPr/>
          <p:nvPr/>
        </p:nvSpPr>
        <p:spPr>
          <a:xfrm>
            <a:off x="548640" y="1005840"/>
            <a:ext cx="1426464" cy="347472"/>
          </a:xfrm>
          <a:prstGeom prst="rect">
            <a:avLst/>
          </a:prstGeom>
          <a:solidFill>
            <a:srgbClr val="0EA5E9"/>
          </a:solidFill>
          <a:ln w="12700">
            <a:solidFill>
              <a:srgbClr val="0EA5E9"/>
            </a:solidFill>
            <a:prstDash val="solid"/>
          </a:ln>
        </p:spPr>
      </p:sp>
      <p:sp>
        <p:nvSpPr>
          <p:cNvPr id="9" name="Text 7"/>
          <p:cNvSpPr/>
          <p:nvPr/>
        </p:nvSpPr>
        <p:spPr>
          <a:xfrm>
            <a:off x="548640" y="1005840"/>
            <a:ext cx="1426464"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0" name="Text 8"/>
          <p:cNvSpPr/>
          <p:nvPr/>
        </p:nvSpPr>
        <p:spPr>
          <a:xfrm>
            <a:off x="548640" y="1408176"/>
            <a:ext cx="1426464" cy="411480"/>
          </a:xfrm>
          <a:prstGeom prst="rect">
            <a:avLst/>
          </a:prstGeom>
          <a:noFill/>
        </p:spPr>
        <p:txBody>
          <a:bodyPr wrap="square" lIns="0" tIns="0" rIns="0" bIns="0" rtlCol="0" anchor="ctr"/>
          <a:lstStyle/>
          <a:p>
            <a:pPr marL="0" indent="0" algn="ctr">
              <a:buNone/>
            </a:pPr>
            <a:r>
              <a:rPr lang="en-US" sz="1250" b="1" dirty="0">
                <a:solidFill>
                  <a:srgbClr val="1E293B"/>
                </a:solidFill>
                <a:latin typeface="Calibri" panose="020F0502020204030204" pitchFamily="34" charset="0"/>
                <a:ea typeface="Calibri" panose="020F0502020204030204" pitchFamily="34" charset="-122"/>
                <a:cs typeface="Calibri" panose="020F0502020204030204" pitchFamily="34" charset="-120"/>
              </a:rPr>
              <a:t>C# Source</a:t>
            </a:r>
            <a:endParaRPr lang="en-US" sz="1250" dirty="0"/>
          </a:p>
        </p:txBody>
      </p:sp>
      <p:sp>
        <p:nvSpPr>
          <p:cNvPr id="11" name="Text 9"/>
          <p:cNvSpPr/>
          <p:nvPr/>
        </p:nvSpPr>
        <p:spPr>
          <a:xfrm>
            <a:off x="548640" y="1856232"/>
            <a:ext cx="1426464" cy="457200"/>
          </a:xfrm>
          <a:prstGeom prst="rect">
            <a:avLst/>
          </a:prstGeom>
          <a:noFill/>
        </p:spPr>
        <p:txBody>
          <a:bodyPr wrap="square" lIns="0" tIns="0" rIns="0" bIns="0" rtlCol="0" anchor="ctr"/>
          <a:lstStyle/>
          <a:p>
            <a:pPr marL="0" indent="0" algn="ctr">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.cs files you write</a:t>
            </a:r>
            <a:endParaRPr lang="en-US" sz="950" dirty="0"/>
          </a:p>
        </p:txBody>
      </p:sp>
      <p:sp>
        <p:nvSpPr>
          <p:cNvPr id="12" name="Shape 10"/>
          <p:cNvSpPr/>
          <p:nvPr/>
        </p:nvSpPr>
        <p:spPr>
          <a:xfrm>
            <a:off x="2011680" y="1714500"/>
            <a:ext cx="155448" cy="0"/>
          </a:xfrm>
          <a:prstGeom prst="line">
            <a:avLst/>
          </a:prstGeom>
          <a:noFill/>
          <a:ln w="19050">
            <a:solidFill>
              <a:srgbClr val="64748B"/>
            </a:solidFill>
            <a:prstDash val="solid"/>
          </a:ln>
        </p:spPr>
      </p:sp>
      <p:sp>
        <p:nvSpPr>
          <p:cNvPr id="13" name="Shape 11"/>
          <p:cNvSpPr/>
          <p:nvPr/>
        </p:nvSpPr>
        <p:spPr>
          <a:xfrm>
            <a:off x="2203704" y="1005840"/>
            <a:ext cx="1426464" cy="1417320"/>
          </a:xfrm>
          <a:prstGeom prst="rect">
            <a:avLst/>
          </a:prstGeom>
          <a:solidFill>
            <a:srgbClr val="F8FAFC"/>
          </a:solidFill>
          <a:ln w="19050">
            <a:solidFill>
              <a:srgbClr val="0D9488"/>
            </a:solidFill>
            <a:prstDash val="solid"/>
          </a:ln>
          <a:effectLst>
            <a:outerShdw blurRad="101600" dist="38100" dir="8100000" algn="bl" rotWithShape="0">
              <a:srgbClr val="000000">
                <a:alpha val="12000"/>
              </a:srgbClr>
            </a:outerShdw>
          </a:effectLst>
        </p:spPr>
      </p:sp>
      <p:sp>
        <p:nvSpPr>
          <p:cNvPr id="14" name="Shape 12"/>
          <p:cNvSpPr/>
          <p:nvPr/>
        </p:nvSpPr>
        <p:spPr>
          <a:xfrm>
            <a:off x="2203704" y="1005840"/>
            <a:ext cx="1426464" cy="347472"/>
          </a:xfrm>
          <a:prstGeom prst="rect">
            <a:avLst/>
          </a:prstGeom>
          <a:solidFill>
            <a:srgbClr val="0D9488"/>
          </a:solidFill>
          <a:ln w="12700">
            <a:solidFill>
              <a:srgbClr val="0D9488"/>
            </a:solidFill>
            <a:prstDash val="solid"/>
          </a:ln>
        </p:spPr>
      </p:sp>
      <p:sp>
        <p:nvSpPr>
          <p:cNvPr id="15" name="Text 13"/>
          <p:cNvSpPr/>
          <p:nvPr/>
        </p:nvSpPr>
        <p:spPr>
          <a:xfrm>
            <a:off x="2203704" y="1005840"/>
            <a:ext cx="1426464"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6" name="Text 14"/>
          <p:cNvSpPr/>
          <p:nvPr/>
        </p:nvSpPr>
        <p:spPr>
          <a:xfrm>
            <a:off x="2203704" y="1408176"/>
            <a:ext cx="1426464" cy="411480"/>
          </a:xfrm>
          <a:prstGeom prst="rect">
            <a:avLst/>
          </a:prstGeom>
          <a:noFill/>
        </p:spPr>
        <p:txBody>
          <a:bodyPr wrap="square" lIns="0" tIns="0" rIns="0" bIns="0" rtlCol="0" anchor="ctr"/>
          <a:lstStyle/>
          <a:p>
            <a:pPr marL="0" indent="0" algn="ctr">
              <a:buNone/>
            </a:pPr>
            <a:r>
              <a:rPr lang="en-US" sz="1250" b="1" dirty="0">
                <a:solidFill>
                  <a:srgbClr val="1E293B"/>
                </a:solidFill>
                <a:latin typeface="Calibri" panose="020F0502020204030204" pitchFamily="34" charset="0"/>
                <a:ea typeface="Calibri" panose="020F0502020204030204" pitchFamily="34" charset="-122"/>
                <a:cs typeface="Calibri" panose="020F0502020204030204" pitchFamily="34" charset="-120"/>
              </a:rPr>
              <a:t>IL Bytecode</a:t>
            </a:r>
            <a:endParaRPr lang="en-US" sz="1250" dirty="0"/>
          </a:p>
        </p:txBody>
      </p:sp>
      <p:sp>
        <p:nvSpPr>
          <p:cNvPr id="17" name="Text 15"/>
          <p:cNvSpPr/>
          <p:nvPr/>
        </p:nvSpPr>
        <p:spPr>
          <a:xfrm>
            <a:off x="2203704" y="1856232"/>
            <a:ext cx="1426464" cy="457200"/>
          </a:xfrm>
          <a:prstGeom prst="rect">
            <a:avLst/>
          </a:prstGeom>
          <a:noFill/>
        </p:spPr>
        <p:txBody>
          <a:bodyPr wrap="square" lIns="0" tIns="0" rIns="0" bIns="0" rtlCol="0" anchor="ctr"/>
          <a:lstStyle/>
          <a:p>
            <a:pPr marL="0" indent="0" algn="ctr">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Platform-neutral code</a:t>
            </a:r>
            <a:endParaRPr lang="en-US" sz="950" dirty="0"/>
          </a:p>
        </p:txBody>
      </p:sp>
      <p:sp>
        <p:nvSpPr>
          <p:cNvPr id="18" name="Shape 16"/>
          <p:cNvSpPr/>
          <p:nvPr/>
        </p:nvSpPr>
        <p:spPr>
          <a:xfrm>
            <a:off x="3666744" y="1714500"/>
            <a:ext cx="155448" cy="0"/>
          </a:xfrm>
          <a:prstGeom prst="line">
            <a:avLst/>
          </a:prstGeom>
          <a:noFill/>
          <a:ln w="19050">
            <a:solidFill>
              <a:srgbClr val="64748B"/>
            </a:solidFill>
            <a:prstDash val="solid"/>
          </a:ln>
        </p:spPr>
      </p:sp>
      <p:sp>
        <p:nvSpPr>
          <p:cNvPr id="19" name="Shape 17"/>
          <p:cNvSpPr/>
          <p:nvPr/>
        </p:nvSpPr>
        <p:spPr>
          <a:xfrm>
            <a:off x="3858768" y="1005840"/>
            <a:ext cx="1426464" cy="1417320"/>
          </a:xfrm>
          <a:prstGeom prst="rect">
            <a:avLst/>
          </a:prstGeom>
          <a:solidFill>
            <a:srgbClr val="F8FAFC"/>
          </a:solidFill>
          <a:ln w="19050">
            <a:solidFill>
              <a:srgbClr val="7C3AED"/>
            </a:solidFill>
            <a:prstDash val="solid"/>
          </a:ln>
          <a:effectLst>
            <a:outerShdw blurRad="101600" dist="38100" dir="8100000" algn="bl" rotWithShape="0">
              <a:srgbClr val="000000">
                <a:alpha val="12000"/>
              </a:srgbClr>
            </a:outerShdw>
          </a:effectLst>
        </p:spPr>
      </p:sp>
      <p:sp>
        <p:nvSpPr>
          <p:cNvPr id="20" name="Shape 18"/>
          <p:cNvSpPr/>
          <p:nvPr/>
        </p:nvSpPr>
        <p:spPr>
          <a:xfrm>
            <a:off x="3858768" y="1005840"/>
            <a:ext cx="1426464" cy="347472"/>
          </a:xfrm>
          <a:prstGeom prst="rect">
            <a:avLst/>
          </a:prstGeom>
          <a:solidFill>
            <a:srgbClr val="7C3AED"/>
          </a:solidFill>
          <a:ln w="12700">
            <a:solidFill>
              <a:srgbClr val="7C3AED"/>
            </a:solidFill>
            <a:prstDash val="solid"/>
          </a:ln>
        </p:spPr>
      </p:sp>
      <p:sp>
        <p:nvSpPr>
          <p:cNvPr id="21" name="Text 19"/>
          <p:cNvSpPr/>
          <p:nvPr/>
        </p:nvSpPr>
        <p:spPr>
          <a:xfrm>
            <a:off x="3858768" y="1005840"/>
            <a:ext cx="1426464"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2" name="Text 20"/>
          <p:cNvSpPr/>
          <p:nvPr/>
        </p:nvSpPr>
        <p:spPr>
          <a:xfrm>
            <a:off x="3858768" y="1408176"/>
            <a:ext cx="1426464" cy="411480"/>
          </a:xfrm>
          <a:prstGeom prst="rect">
            <a:avLst/>
          </a:prstGeom>
          <a:noFill/>
        </p:spPr>
        <p:txBody>
          <a:bodyPr wrap="square" lIns="0" tIns="0" rIns="0" bIns="0" rtlCol="0" anchor="ctr"/>
          <a:lstStyle/>
          <a:p>
            <a:pPr marL="0" indent="0" algn="ctr">
              <a:buNone/>
            </a:pPr>
            <a:r>
              <a:rPr lang="en-US" sz="1250" b="1" dirty="0">
                <a:solidFill>
                  <a:srgbClr val="1E293B"/>
                </a:solidFill>
                <a:latin typeface="Calibri" panose="020F0502020204030204" pitchFamily="34" charset="0"/>
                <a:ea typeface="Calibri" panose="020F0502020204030204" pitchFamily="34" charset="-122"/>
                <a:cs typeface="Calibri" panose="020F0502020204030204" pitchFamily="34" charset="-120"/>
              </a:rPr>
              <a:t>JIT Compiler</a:t>
            </a:r>
            <a:endParaRPr lang="en-US" sz="1250" dirty="0"/>
          </a:p>
        </p:txBody>
      </p:sp>
      <p:sp>
        <p:nvSpPr>
          <p:cNvPr id="23" name="Text 21"/>
          <p:cNvSpPr/>
          <p:nvPr/>
        </p:nvSpPr>
        <p:spPr>
          <a:xfrm>
            <a:off x="3858768" y="1856232"/>
            <a:ext cx="1426464" cy="457200"/>
          </a:xfrm>
          <a:prstGeom prst="rect">
            <a:avLst/>
          </a:prstGeom>
          <a:noFill/>
        </p:spPr>
        <p:txBody>
          <a:bodyPr wrap="square" lIns="0" tIns="0" rIns="0" bIns="0" rtlCol="0" anchor="ctr"/>
          <a:lstStyle/>
          <a:p>
            <a:pPr marL="0" indent="0" algn="ctr">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Runs at first call</a:t>
            </a:r>
            <a:endParaRPr lang="en-US" sz="950" dirty="0"/>
          </a:p>
        </p:txBody>
      </p:sp>
      <p:sp>
        <p:nvSpPr>
          <p:cNvPr id="24" name="Shape 22"/>
          <p:cNvSpPr/>
          <p:nvPr/>
        </p:nvSpPr>
        <p:spPr>
          <a:xfrm>
            <a:off x="5321808" y="1714500"/>
            <a:ext cx="155448" cy="0"/>
          </a:xfrm>
          <a:prstGeom prst="line">
            <a:avLst/>
          </a:prstGeom>
          <a:noFill/>
          <a:ln w="19050">
            <a:solidFill>
              <a:srgbClr val="64748B"/>
            </a:solidFill>
            <a:prstDash val="solid"/>
          </a:ln>
        </p:spPr>
      </p:sp>
      <p:sp>
        <p:nvSpPr>
          <p:cNvPr id="25" name="Shape 23"/>
          <p:cNvSpPr/>
          <p:nvPr/>
        </p:nvSpPr>
        <p:spPr>
          <a:xfrm>
            <a:off x="5513832" y="1005840"/>
            <a:ext cx="1426464" cy="1417320"/>
          </a:xfrm>
          <a:prstGeom prst="rect">
            <a:avLst/>
          </a:prstGeom>
          <a:solidFill>
            <a:srgbClr val="F8FAFC"/>
          </a:solidFill>
          <a:ln w="19050">
            <a:solidFill>
              <a:srgbClr val="F59E0B"/>
            </a:solidFill>
            <a:prstDash val="solid"/>
          </a:ln>
          <a:effectLst>
            <a:outerShdw blurRad="101600" dist="38100" dir="8100000" algn="bl" rotWithShape="0">
              <a:srgbClr val="000000">
                <a:alpha val="12000"/>
              </a:srgbClr>
            </a:outerShdw>
          </a:effectLst>
        </p:spPr>
      </p:sp>
      <p:sp>
        <p:nvSpPr>
          <p:cNvPr id="26" name="Shape 24"/>
          <p:cNvSpPr/>
          <p:nvPr/>
        </p:nvSpPr>
        <p:spPr>
          <a:xfrm>
            <a:off x="5513832" y="1005840"/>
            <a:ext cx="1426464" cy="347472"/>
          </a:xfrm>
          <a:prstGeom prst="rect">
            <a:avLst/>
          </a:prstGeom>
          <a:solidFill>
            <a:srgbClr val="F59E0B"/>
          </a:solidFill>
          <a:ln w="12700">
            <a:solidFill>
              <a:srgbClr val="F59E0B"/>
            </a:solidFill>
            <a:prstDash val="solid"/>
          </a:ln>
        </p:spPr>
      </p:sp>
      <p:sp>
        <p:nvSpPr>
          <p:cNvPr id="27" name="Text 25"/>
          <p:cNvSpPr/>
          <p:nvPr/>
        </p:nvSpPr>
        <p:spPr>
          <a:xfrm>
            <a:off x="5513832" y="1005840"/>
            <a:ext cx="1426464"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8" name="Text 26"/>
          <p:cNvSpPr/>
          <p:nvPr/>
        </p:nvSpPr>
        <p:spPr>
          <a:xfrm>
            <a:off x="5513832" y="1408176"/>
            <a:ext cx="1426464" cy="411480"/>
          </a:xfrm>
          <a:prstGeom prst="rect">
            <a:avLst/>
          </a:prstGeom>
          <a:noFill/>
        </p:spPr>
        <p:txBody>
          <a:bodyPr wrap="square" lIns="0" tIns="0" rIns="0" bIns="0" rtlCol="0" anchor="ctr"/>
          <a:lstStyle/>
          <a:p>
            <a:pPr marL="0" indent="0" algn="ctr">
              <a:buNone/>
            </a:pPr>
            <a:r>
              <a:rPr lang="en-US" sz="1250" b="1" dirty="0">
                <a:solidFill>
                  <a:srgbClr val="1E293B"/>
                </a:solidFill>
                <a:latin typeface="Calibri" panose="020F0502020204030204" pitchFamily="34" charset="0"/>
                <a:ea typeface="Calibri" panose="020F0502020204030204" pitchFamily="34" charset="-122"/>
                <a:cs typeface="Calibri" panose="020F0502020204030204" pitchFamily="34" charset="-120"/>
              </a:rPr>
              <a:t>Machine Code</a:t>
            </a:r>
            <a:endParaRPr lang="en-US" sz="1250" dirty="0"/>
          </a:p>
        </p:txBody>
      </p:sp>
      <p:sp>
        <p:nvSpPr>
          <p:cNvPr id="29" name="Text 27"/>
          <p:cNvSpPr/>
          <p:nvPr/>
        </p:nvSpPr>
        <p:spPr>
          <a:xfrm>
            <a:off x="5513832" y="1856232"/>
            <a:ext cx="1426464" cy="457200"/>
          </a:xfrm>
          <a:prstGeom prst="rect">
            <a:avLst/>
          </a:prstGeom>
          <a:noFill/>
        </p:spPr>
        <p:txBody>
          <a:bodyPr wrap="square" lIns="0" tIns="0" rIns="0" bIns="0" rtlCol="0" anchor="ctr"/>
          <a:lstStyle/>
          <a:p>
            <a:pPr marL="0" indent="0" algn="ctr">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x86 / ARM native</a:t>
            </a:r>
            <a:endParaRPr lang="en-US" sz="950" dirty="0"/>
          </a:p>
        </p:txBody>
      </p:sp>
      <p:sp>
        <p:nvSpPr>
          <p:cNvPr id="30" name="Shape 28"/>
          <p:cNvSpPr/>
          <p:nvPr/>
        </p:nvSpPr>
        <p:spPr>
          <a:xfrm>
            <a:off x="6976872" y="1714500"/>
            <a:ext cx="155448" cy="0"/>
          </a:xfrm>
          <a:prstGeom prst="line">
            <a:avLst/>
          </a:prstGeom>
          <a:noFill/>
          <a:ln w="19050">
            <a:solidFill>
              <a:srgbClr val="64748B"/>
            </a:solidFill>
            <a:prstDash val="solid"/>
          </a:ln>
        </p:spPr>
      </p:sp>
      <p:sp>
        <p:nvSpPr>
          <p:cNvPr id="31" name="Shape 29"/>
          <p:cNvSpPr/>
          <p:nvPr/>
        </p:nvSpPr>
        <p:spPr>
          <a:xfrm>
            <a:off x="7168896" y="1005840"/>
            <a:ext cx="1426464" cy="1417320"/>
          </a:xfrm>
          <a:prstGeom prst="rect">
            <a:avLst/>
          </a:prstGeom>
          <a:solidFill>
            <a:srgbClr val="F8FAFC"/>
          </a:solidFill>
          <a:ln w="19050">
            <a:solidFill>
              <a:srgbClr val="10B981"/>
            </a:solidFill>
            <a:prstDash val="solid"/>
          </a:ln>
          <a:effectLst>
            <a:outerShdw blurRad="101600" dist="38100" dir="8100000" algn="bl" rotWithShape="0">
              <a:srgbClr val="000000">
                <a:alpha val="12000"/>
              </a:srgbClr>
            </a:outerShdw>
          </a:effectLst>
        </p:spPr>
      </p:sp>
      <p:sp>
        <p:nvSpPr>
          <p:cNvPr id="32" name="Shape 30"/>
          <p:cNvSpPr/>
          <p:nvPr/>
        </p:nvSpPr>
        <p:spPr>
          <a:xfrm>
            <a:off x="7168896" y="1005840"/>
            <a:ext cx="1426464" cy="347472"/>
          </a:xfrm>
          <a:prstGeom prst="rect">
            <a:avLst/>
          </a:prstGeom>
          <a:solidFill>
            <a:srgbClr val="10B981"/>
          </a:solidFill>
          <a:ln w="12700">
            <a:solidFill>
              <a:srgbClr val="10B981"/>
            </a:solidFill>
            <a:prstDash val="solid"/>
          </a:ln>
        </p:spPr>
      </p:sp>
      <p:sp>
        <p:nvSpPr>
          <p:cNvPr id="33" name="Text 31"/>
          <p:cNvSpPr/>
          <p:nvPr/>
        </p:nvSpPr>
        <p:spPr>
          <a:xfrm>
            <a:off x="7168896" y="1005840"/>
            <a:ext cx="1426464"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34" name="Text 32"/>
          <p:cNvSpPr/>
          <p:nvPr/>
        </p:nvSpPr>
        <p:spPr>
          <a:xfrm>
            <a:off x="7168896" y="1408176"/>
            <a:ext cx="1426464" cy="411480"/>
          </a:xfrm>
          <a:prstGeom prst="rect">
            <a:avLst/>
          </a:prstGeom>
          <a:noFill/>
        </p:spPr>
        <p:txBody>
          <a:bodyPr wrap="square" lIns="0" tIns="0" rIns="0" bIns="0" rtlCol="0" anchor="ctr"/>
          <a:lstStyle/>
          <a:p>
            <a:pPr marL="0" indent="0" algn="ctr">
              <a:buNone/>
            </a:pPr>
            <a:r>
              <a:rPr lang="en-US" sz="1250" b="1" dirty="0">
                <a:solidFill>
                  <a:srgbClr val="1E293B"/>
                </a:solidFill>
                <a:latin typeface="Calibri" panose="020F0502020204030204" pitchFamily="34" charset="0"/>
                <a:ea typeface="Calibri" panose="020F0502020204030204" pitchFamily="34" charset="-122"/>
                <a:cs typeface="Calibri" panose="020F0502020204030204" pitchFamily="34" charset="-120"/>
              </a:rPr>
              <a:t>Execution</a:t>
            </a:r>
            <a:endParaRPr lang="en-US" sz="1250" dirty="0"/>
          </a:p>
        </p:txBody>
      </p:sp>
      <p:sp>
        <p:nvSpPr>
          <p:cNvPr id="35" name="Text 33"/>
          <p:cNvSpPr/>
          <p:nvPr/>
        </p:nvSpPr>
        <p:spPr>
          <a:xfrm>
            <a:off x="7168896" y="1856232"/>
            <a:ext cx="1426464" cy="457200"/>
          </a:xfrm>
          <a:prstGeom prst="rect">
            <a:avLst/>
          </a:prstGeom>
          <a:noFill/>
        </p:spPr>
        <p:txBody>
          <a:bodyPr wrap="square" lIns="0" tIns="0" rIns="0" bIns="0" rtlCol="0" anchor="ctr"/>
          <a:lstStyle/>
          <a:p>
            <a:pPr marL="0" indent="0" algn="ctr">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Your app is live!</a:t>
            </a:r>
            <a:endParaRPr lang="en-US" sz="950" dirty="0"/>
          </a:p>
        </p:txBody>
      </p:sp>
      <p:sp>
        <p:nvSpPr>
          <p:cNvPr id="36" name="Shape 34"/>
          <p:cNvSpPr/>
          <p:nvPr/>
        </p:nvSpPr>
        <p:spPr>
          <a:xfrm>
            <a:off x="182880" y="2633472"/>
            <a:ext cx="8778240" cy="1188720"/>
          </a:xfrm>
          <a:prstGeom prst="rect">
            <a:avLst/>
          </a:prstGeom>
          <a:solidFill>
            <a:srgbClr val="EFF6FF"/>
          </a:solidFill>
          <a:ln w="12700">
            <a:solidFill>
              <a:srgbClr val="0EA5E9"/>
            </a:solidFill>
            <a:prstDash val="solid"/>
          </a:ln>
        </p:spPr>
      </p:sp>
      <p:sp>
        <p:nvSpPr>
          <p:cNvPr id="37" name="Shape 35"/>
          <p:cNvSpPr/>
          <p:nvPr/>
        </p:nvSpPr>
        <p:spPr>
          <a:xfrm>
            <a:off x="182880" y="2633472"/>
            <a:ext cx="54864" cy="1188720"/>
          </a:xfrm>
          <a:prstGeom prst="rect">
            <a:avLst/>
          </a:prstGeom>
          <a:solidFill>
            <a:srgbClr val="0EA5E9"/>
          </a:solidFill>
          <a:ln w="12700">
            <a:solidFill>
              <a:srgbClr val="0EA5E9"/>
            </a:solidFill>
            <a:prstDash val="solid"/>
          </a:ln>
        </p:spPr>
      </p:sp>
      <p:sp>
        <p:nvSpPr>
          <p:cNvPr id="38" name="Text 36"/>
          <p:cNvSpPr/>
          <p:nvPr/>
        </p:nvSpPr>
        <p:spPr>
          <a:xfrm>
            <a:off x="365760" y="2724912"/>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Key Insight</a:t>
            </a:r>
            <a:endParaRPr lang="en-US" sz="1000" dirty="0"/>
          </a:p>
        </p:txBody>
      </p:sp>
      <p:sp>
        <p:nvSpPr>
          <p:cNvPr id="39" name="Text 37"/>
          <p:cNvSpPr/>
          <p:nvPr/>
        </p:nvSpPr>
        <p:spPr>
          <a:xfrm>
            <a:off x="365760" y="3017520"/>
            <a:ext cx="8503920" cy="68580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Your C# code is never executed directly. It compiles to IL (Intermediate Language)  a portable bytecode. The JIT compiler translates IL to native machine code the first time each method runs. This means the same .NET app runs on Windows, Linux, macOS, and ARM without recompilation.</a:t>
            </a:r>
            <a:endParaRPr lang="en-US" sz="1000" dirty="0"/>
          </a:p>
        </p:txBody>
      </p:sp>
      <p:sp>
        <p:nvSpPr>
          <p:cNvPr id="40" name="Shape 38"/>
          <p:cNvSpPr/>
          <p:nvPr/>
        </p:nvSpPr>
        <p:spPr>
          <a:xfrm>
            <a:off x="182880" y="3931920"/>
            <a:ext cx="4297680" cy="914400"/>
          </a:xfrm>
          <a:prstGeom prst="rect">
            <a:avLst/>
          </a:prstGeom>
          <a:solidFill>
            <a:srgbClr val="F0FDF4"/>
          </a:solidFill>
          <a:ln w="10160">
            <a:solidFill>
              <a:srgbClr val="10B981"/>
            </a:solidFill>
            <a:prstDash val="solid"/>
          </a:ln>
        </p:spPr>
      </p:sp>
      <p:sp>
        <p:nvSpPr>
          <p:cNvPr id="41" name="Text 39"/>
          <p:cNvSpPr/>
          <p:nvPr/>
        </p:nvSpPr>
        <p:spPr>
          <a:xfrm>
            <a:off x="320040" y="4005072"/>
            <a:ext cx="4023360" cy="274320"/>
          </a:xfrm>
          <a:prstGeom prst="rect">
            <a:avLst/>
          </a:prstGeom>
          <a:noFill/>
        </p:spPr>
        <p:txBody>
          <a:bodyPr wrap="square" lIns="0" tIns="0" rIns="0" bIns="0" rtlCol="0" anchor="ctr"/>
          <a:lstStyle/>
          <a:p>
            <a:pPr marL="0" indent="0" algn="l">
              <a:buNone/>
            </a:pPr>
            <a:r>
              <a:rPr lang="en-US" sz="1100" b="1" dirty="0">
                <a:solidFill>
                  <a:srgbClr val="065F46"/>
                </a:solidFill>
                <a:latin typeface="Calibri" panose="020F0502020204030204" pitchFamily="34" charset="0"/>
                <a:ea typeface="Calibri" panose="020F0502020204030204" pitchFamily="34" charset="-122"/>
                <a:cs typeface="Calibri" panose="020F0502020204030204" pitchFamily="34" charset="-120"/>
              </a:rPr>
              <a:t>JIT: One-time Cost Per Method</a:t>
            </a:r>
            <a:endParaRPr lang="en-US" sz="1100" dirty="0"/>
          </a:p>
        </p:txBody>
      </p:sp>
      <p:sp>
        <p:nvSpPr>
          <p:cNvPr id="42" name="Text 40"/>
          <p:cNvSpPr/>
          <p:nvPr/>
        </p:nvSpPr>
        <p:spPr>
          <a:xfrm>
            <a:off x="320040" y="4315968"/>
            <a:ext cx="4023360" cy="457200"/>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First call compiles the method. Every call after uses cached native code. The cost is startup, not per-request.</a:t>
            </a:r>
            <a:endParaRPr lang="en-US" sz="950" dirty="0"/>
          </a:p>
        </p:txBody>
      </p:sp>
      <p:sp>
        <p:nvSpPr>
          <p:cNvPr id="43" name="Shape 41"/>
          <p:cNvSpPr/>
          <p:nvPr/>
        </p:nvSpPr>
        <p:spPr>
          <a:xfrm>
            <a:off x="4663440" y="3931920"/>
            <a:ext cx="4297680" cy="914400"/>
          </a:xfrm>
          <a:prstGeom prst="rect">
            <a:avLst/>
          </a:prstGeom>
          <a:solidFill>
            <a:srgbClr val="FFF7ED"/>
          </a:solidFill>
          <a:ln w="10160">
            <a:solidFill>
              <a:srgbClr val="F59E0B"/>
            </a:solidFill>
            <a:prstDash val="solid"/>
          </a:ln>
        </p:spPr>
      </p:sp>
      <p:sp>
        <p:nvSpPr>
          <p:cNvPr id="44" name="Text 42"/>
          <p:cNvSpPr/>
          <p:nvPr/>
        </p:nvSpPr>
        <p:spPr>
          <a:xfrm>
            <a:off x="4800600" y="4005072"/>
            <a:ext cx="4023360" cy="274320"/>
          </a:xfrm>
          <a:prstGeom prst="rect">
            <a:avLst/>
          </a:prstGeom>
          <a:noFill/>
        </p:spPr>
        <p:txBody>
          <a:bodyPr wrap="square" lIns="0" tIns="0" rIns="0" bIns="0" rtlCol="0" anchor="ctr"/>
          <a:lstStyle/>
          <a:p>
            <a:pPr marL="0" indent="0" algn="l">
              <a:buNone/>
            </a:pPr>
            <a:r>
              <a:rPr lang="en-US" sz="1100" b="1" dirty="0">
                <a:solidFill>
                  <a:srgbClr val="92400E"/>
                </a:solidFill>
                <a:latin typeface="Calibri" panose="020F0502020204030204" pitchFamily="34" charset="0"/>
                <a:ea typeface="Calibri" panose="020F0502020204030204" pitchFamily="34" charset="-122"/>
                <a:cs typeface="Calibri" panose="020F0502020204030204" pitchFamily="34" charset="-120"/>
              </a:rPr>
              <a:t>Why IL and Not Direct Machine Code?</a:t>
            </a:r>
            <a:endParaRPr lang="en-US" sz="1100" dirty="0"/>
          </a:p>
        </p:txBody>
      </p:sp>
      <p:sp>
        <p:nvSpPr>
          <p:cNvPr id="45" name="Text 43"/>
          <p:cNvSpPr/>
          <p:nvPr/>
        </p:nvSpPr>
        <p:spPr>
          <a:xfrm>
            <a:off x="4800600" y="4315968"/>
            <a:ext cx="4023360" cy="457200"/>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Compile to x86 and the app won't run on ARM. IL is platform-neutral  the runtime on each machine handles the final compilation step.</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D9488"/>
          </a:solidFill>
          <a:ln w="12700">
            <a:solidFill>
              <a:srgbClr val="0D9488"/>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JIT Compilation  Debug vs Release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914400"/>
            <a:ext cx="4160520" cy="2880360"/>
          </a:xfrm>
          <a:prstGeom prst="rect">
            <a:avLst/>
          </a:prstGeom>
          <a:solidFill>
            <a:srgbClr val="F0FDF4"/>
          </a:solidFill>
          <a:ln w="12700">
            <a:solidFill>
              <a:srgbClr val="10B981"/>
            </a:solidFill>
            <a:prstDash val="solid"/>
          </a:ln>
        </p:spPr>
      </p:sp>
      <p:sp>
        <p:nvSpPr>
          <p:cNvPr id="8" name="Text 6"/>
          <p:cNvSpPr/>
          <p:nvPr/>
        </p:nvSpPr>
        <p:spPr>
          <a:xfrm>
            <a:off x="347472" y="1005840"/>
            <a:ext cx="3840480" cy="320040"/>
          </a:xfrm>
          <a:prstGeom prst="rect">
            <a:avLst/>
          </a:prstGeom>
          <a:noFill/>
        </p:spPr>
        <p:txBody>
          <a:bodyPr wrap="square" lIns="0" tIns="0" rIns="0" bIns="0" rtlCol="0" anchor="ctr"/>
          <a:lstStyle/>
          <a:p>
            <a:pPr marL="0" indent="0" algn="l">
              <a:buNone/>
            </a:pPr>
            <a:r>
              <a:rPr lang="en-US" sz="1250" b="1" dirty="0">
                <a:solidFill>
                  <a:srgbClr val="065F46"/>
                </a:solidFill>
                <a:latin typeface="Calibri" panose="020F0502020204030204" pitchFamily="34" charset="0"/>
                <a:ea typeface="Calibri" panose="020F0502020204030204" pitchFamily="34" charset="-122"/>
                <a:cs typeface="Calibri" panose="020F0502020204030204" pitchFamily="34" charset="-120"/>
              </a:rPr>
              <a:t>First Request vs. Subsequent</a:t>
            </a:r>
            <a:endParaRPr lang="en-US" sz="1250" dirty="0"/>
          </a:p>
        </p:txBody>
      </p:sp>
      <p:sp>
        <p:nvSpPr>
          <p:cNvPr id="9" name="Text 7"/>
          <p:cNvSpPr/>
          <p:nvPr/>
        </p:nvSpPr>
        <p:spPr>
          <a:xfrm>
            <a:off x="320040" y="1444752"/>
            <a:ext cx="1097280" cy="320040"/>
          </a:xfrm>
          <a:prstGeom prst="rect">
            <a:avLst/>
          </a:prstGeom>
          <a:noFill/>
        </p:spPr>
        <p:txBody>
          <a:bodyPr wrap="square" lIns="0" tIns="0" rIns="0" bIns="0" rtlCol="0" anchor="ctr"/>
          <a:lstStyle/>
          <a:p>
            <a:pPr marL="0" indent="0" algn="l">
              <a:buNone/>
            </a:pPr>
            <a:r>
              <a:rPr lang="en-US" sz="1100" b="1" dirty="0">
                <a:solidFill>
                  <a:srgbClr val="1E293B"/>
                </a:solidFill>
                <a:latin typeface="Calibri" panose="020F0502020204030204" pitchFamily="34" charset="0"/>
                <a:ea typeface="Calibri" panose="020F0502020204030204" pitchFamily="34" charset="-122"/>
                <a:cs typeface="Calibri" panose="020F0502020204030204" pitchFamily="34" charset="-120"/>
              </a:rPr>
              <a:t>Request 1</a:t>
            </a:r>
            <a:endParaRPr lang="en-US" sz="1100" dirty="0"/>
          </a:p>
        </p:txBody>
      </p:sp>
      <p:sp>
        <p:nvSpPr>
          <p:cNvPr id="10" name="Shape 8"/>
          <p:cNvSpPr/>
          <p:nvPr/>
        </p:nvSpPr>
        <p:spPr>
          <a:xfrm>
            <a:off x="1508760" y="1508760"/>
            <a:ext cx="2286000" cy="201168"/>
          </a:xfrm>
          <a:prstGeom prst="rect">
            <a:avLst/>
          </a:prstGeom>
          <a:solidFill>
            <a:srgbClr val="E2E8F0"/>
          </a:solidFill>
          <a:ln w="12700">
            <a:solidFill>
              <a:srgbClr val="E2E8F0"/>
            </a:solidFill>
            <a:prstDash val="solid"/>
          </a:ln>
        </p:spPr>
      </p:sp>
      <p:sp>
        <p:nvSpPr>
          <p:cNvPr id="11" name="Shape 9"/>
          <p:cNvSpPr/>
          <p:nvPr/>
        </p:nvSpPr>
        <p:spPr>
          <a:xfrm>
            <a:off x="1508760" y="1508760"/>
            <a:ext cx="1920240" cy="201168"/>
          </a:xfrm>
          <a:prstGeom prst="rect">
            <a:avLst/>
          </a:prstGeom>
          <a:solidFill>
            <a:srgbClr val="F59E0B"/>
          </a:solidFill>
          <a:ln w="12700">
            <a:solidFill>
              <a:srgbClr val="F59E0B"/>
            </a:solidFill>
            <a:prstDash val="solid"/>
          </a:ln>
        </p:spPr>
      </p:sp>
      <p:sp>
        <p:nvSpPr>
          <p:cNvPr id="12" name="Text 10"/>
          <p:cNvSpPr/>
          <p:nvPr/>
        </p:nvSpPr>
        <p:spPr>
          <a:xfrm>
            <a:off x="3840480" y="1444752"/>
            <a:ext cx="457200" cy="320040"/>
          </a:xfrm>
          <a:prstGeom prst="rect">
            <a:avLst/>
          </a:prstGeom>
          <a:noFill/>
        </p:spPr>
        <p:txBody>
          <a:bodyPr wrap="square" lIns="0" tIns="0" rIns="0" bIns="0" rtlCol="0" anchor="ctr"/>
          <a:lstStyle/>
          <a:p>
            <a:pPr marL="0" indent="0" algn="r">
              <a:buNone/>
            </a:pPr>
            <a:r>
              <a:rPr lang="en-US" sz="1000" b="1" dirty="0">
                <a:solidFill>
                  <a:srgbClr val="F59E0B"/>
                </a:solidFill>
                <a:latin typeface="Calibri" panose="020F0502020204030204" pitchFamily="34" charset="0"/>
                <a:ea typeface="Calibri" panose="020F0502020204030204" pitchFamily="34" charset="-122"/>
                <a:cs typeface="Calibri" panose="020F0502020204030204" pitchFamily="34" charset="-120"/>
              </a:rPr>
              <a:t>52ms</a:t>
            </a:r>
            <a:endParaRPr lang="en-US" sz="1000" dirty="0"/>
          </a:p>
        </p:txBody>
      </p:sp>
      <p:sp>
        <p:nvSpPr>
          <p:cNvPr id="13" name="Text 11"/>
          <p:cNvSpPr/>
          <p:nvPr/>
        </p:nvSpPr>
        <p:spPr>
          <a:xfrm>
            <a:off x="320040" y="1737360"/>
            <a:ext cx="3931920" cy="256032"/>
          </a:xfrm>
          <a:prstGeom prst="rect">
            <a:avLst/>
          </a:prstGeom>
          <a:noFill/>
        </p:spPr>
        <p:txBody>
          <a:bodyPr wrap="square" lIns="0" tIns="0" rIns="0" bIns="0" rtlCol="0" anchor="ctr"/>
          <a:lstStyle/>
          <a:p>
            <a:pPr marL="0" indent="0" algn="l">
              <a:buNone/>
            </a:pPr>
            <a:r>
              <a:rPr lang="en-US" sz="900" i="1" dirty="0">
                <a:solidFill>
                  <a:srgbClr val="64748B"/>
                </a:solidFill>
                <a:latin typeface="Calibri" panose="020F0502020204030204" pitchFamily="34" charset="0"/>
                <a:ea typeface="Calibri" panose="020F0502020204030204" pitchFamily="34" charset="-122"/>
                <a:cs typeface="Calibri" panose="020F0502020204030204" pitchFamily="34" charset="-120"/>
              </a:rPr>
              <a:t>JIT compiles (50ms) + runs (2ms)</a:t>
            </a:r>
            <a:endParaRPr lang="en-US" sz="900" dirty="0"/>
          </a:p>
        </p:txBody>
      </p:sp>
      <p:sp>
        <p:nvSpPr>
          <p:cNvPr id="14" name="Text 12"/>
          <p:cNvSpPr/>
          <p:nvPr/>
        </p:nvSpPr>
        <p:spPr>
          <a:xfrm>
            <a:off x="320040" y="2103120"/>
            <a:ext cx="1097280" cy="320040"/>
          </a:xfrm>
          <a:prstGeom prst="rect">
            <a:avLst/>
          </a:prstGeom>
          <a:noFill/>
        </p:spPr>
        <p:txBody>
          <a:bodyPr wrap="square" lIns="0" tIns="0" rIns="0" bIns="0" rtlCol="0" anchor="ctr"/>
          <a:lstStyle/>
          <a:p>
            <a:pPr marL="0" indent="0" algn="l">
              <a:buNone/>
            </a:pPr>
            <a:r>
              <a:rPr lang="en-US" sz="1100" b="1" dirty="0">
                <a:solidFill>
                  <a:srgbClr val="1E293B"/>
                </a:solidFill>
                <a:latin typeface="Calibri" panose="020F0502020204030204" pitchFamily="34" charset="0"/>
                <a:ea typeface="Calibri" panose="020F0502020204030204" pitchFamily="34" charset="-122"/>
                <a:cs typeface="Calibri" panose="020F0502020204030204" pitchFamily="34" charset="-120"/>
              </a:rPr>
              <a:t>Request 2</a:t>
            </a:r>
            <a:endParaRPr lang="en-US" sz="1100" dirty="0"/>
          </a:p>
        </p:txBody>
      </p:sp>
      <p:sp>
        <p:nvSpPr>
          <p:cNvPr id="15" name="Shape 13"/>
          <p:cNvSpPr/>
          <p:nvPr/>
        </p:nvSpPr>
        <p:spPr>
          <a:xfrm>
            <a:off x="1508760" y="2167128"/>
            <a:ext cx="2286000" cy="201168"/>
          </a:xfrm>
          <a:prstGeom prst="rect">
            <a:avLst/>
          </a:prstGeom>
          <a:solidFill>
            <a:srgbClr val="E2E8F0"/>
          </a:solidFill>
          <a:ln w="12700">
            <a:solidFill>
              <a:srgbClr val="E2E8F0"/>
            </a:solidFill>
            <a:prstDash val="solid"/>
          </a:ln>
        </p:spPr>
      </p:sp>
      <p:sp>
        <p:nvSpPr>
          <p:cNvPr id="16" name="Shape 14"/>
          <p:cNvSpPr/>
          <p:nvPr/>
        </p:nvSpPr>
        <p:spPr>
          <a:xfrm>
            <a:off x="1508760" y="2167128"/>
            <a:ext cx="137160" cy="201168"/>
          </a:xfrm>
          <a:prstGeom prst="rect">
            <a:avLst/>
          </a:prstGeom>
          <a:solidFill>
            <a:srgbClr val="10B981"/>
          </a:solidFill>
          <a:ln w="12700">
            <a:solidFill>
              <a:srgbClr val="10B981"/>
            </a:solidFill>
            <a:prstDash val="solid"/>
          </a:ln>
        </p:spPr>
      </p:sp>
      <p:sp>
        <p:nvSpPr>
          <p:cNvPr id="17" name="Text 15"/>
          <p:cNvSpPr/>
          <p:nvPr/>
        </p:nvSpPr>
        <p:spPr>
          <a:xfrm>
            <a:off x="3840480" y="2103120"/>
            <a:ext cx="457200" cy="320040"/>
          </a:xfrm>
          <a:prstGeom prst="rect">
            <a:avLst/>
          </a:prstGeom>
          <a:noFill/>
        </p:spPr>
        <p:txBody>
          <a:bodyPr wrap="square" lIns="0" tIns="0" rIns="0" bIns="0" rtlCol="0" anchor="ctr"/>
          <a:lstStyle/>
          <a:p>
            <a:pPr marL="0" indent="0" algn="r">
              <a:buNone/>
            </a:pPr>
            <a:r>
              <a:rPr lang="en-US" sz="1000" b="1" dirty="0">
                <a:solidFill>
                  <a:srgbClr val="10B981"/>
                </a:solidFill>
                <a:latin typeface="Calibri" panose="020F0502020204030204" pitchFamily="34" charset="0"/>
                <a:ea typeface="Calibri" panose="020F0502020204030204" pitchFamily="34" charset="-122"/>
                <a:cs typeface="Calibri" panose="020F0502020204030204" pitchFamily="34" charset="-120"/>
              </a:rPr>
              <a:t>2ms</a:t>
            </a:r>
            <a:endParaRPr lang="en-US" sz="1000" dirty="0"/>
          </a:p>
        </p:txBody>
      </p:sp>
      <p:sp>
        <p:nvSpPr>
          <p:cNvPr id="18" name="Text 16"/>
          <p:cNvSpPr/>
          <p:nvPr/>
        </p:nvSpPr>
        <p:spPr>
          <a:xfrm>
            <a:off x="320040" y="2395728"/>
            <a:ext cx="3931920" cy="256032"/>
          </a:xfrm>
          <a:prstGeom prst="rect">
            <a:avLst/>
          </a:prstGeom>
          <a:noFill/>
        </p:spPr>
        <p:txBody>
          <a:bodyPr wrap="square" lIns="0" tIns="0" rIns="0" bIns="0" rtlCol="0" anchor="ctr"/>
          <a:lstStyle/>
          <a:p>
            <a:pPr marL="0" indent="0" algn="l">
              <a:buNone/>
            </a:pPr>
            <a:r>
              <a:rPr lang="en-US" sz="900" i="1" dirty="0">
                <a:solidFill>
                  <a:srgbClr val="64748B"/>
                </a:solidFill>
                <a:latin typeface="Calibri" panose="020F0502020204030204" pitchFamily="34" charset="0"/>
                <a:ea typeface="Calibri" panose="020F0502020204030204" pitchFamily="34" charset="-122"/>
                <a:cs typeface="Calibri" panose="020F0502020204030204" pitchFamily="34" charset="-120"/>
              </a:rPr>
              <a:t>Cached machine code  instant!</a:t>
            </a:r>
            <a:endParaRPr lang="en-US" sz="900" dirty="0"/>
          </a:p>
        </p:txBody>
      </p:sp>
      <p:sp>
        <p:nvSpPr>
          <p:cNvPr id="19" name="Text 17"/>
          <p:cNvSpPr/>
          <p:nvPr/>
        </p:nvSpPr>
        <p:spPr>
          <a:xfrm>
            <a:off x="320040" y="2761488"/>
            <a:ext cx="1097280" cy="320040"/>
          </a:xfrm>
          <a:prstGeom prst="rect">
            <a:avLst/>
          </a:prstGeom>
          <a:noFill/>
        </p:spPr>
        <p:txBody>
          <a:bodyPr wrap="square" lIns="0" tIns="0" rIns="0" bIns="0" rtlCol="0" anchor="ctr"/>
          <a:lstStyle/>
          <a:p>
            <a:pPr marL="0" indent="0" algn="l">
              <a:buNone/>
            </a:pPr>
            <a:r>
              <a:rPr lang="en-US" sz="1100" b="1" dirty="0">
                <a:solidFill>
                  <a:srgbClr val="1E293B"/>
                </a:solidFill>
                <a:latin typeface="Calibri" panose="020F0502020204030204" pitchFamily="34" charset="0"/>
                <a:ea typeface="Calibri" panose="020F0502020204030204" pitchFamily="34" charset="-122"/>
                <a:cs typeface="Calibri" panose="020F0502020204030204" pitchFamily="34" charset="-120"/>
              </a:rPr>
              <a:t>Request 3</a:t>
            </a:r>
            <a:endParaRPr lang="en-US" sz="1100" dirty="0"/>
          </a:p>
        </p:txBody>
      </p:sp>
      <p:sp>
        <p:nvSpPr>
          <p:cNvPr id="20" name="Shape 18"/>
          <p:cNvSpPr/>
          <p:nvPr/>
        </p:nvSpPr>
        <p:spPr>
          <a:xfrm>
            <a:off x="1508760" y="2825496"/>
            <a:ext cx="2286000" cy="201168"/>
          </a:xfrm>
          <a:prstGeom prst="rect">
            <a:avLst/>
          </a:prstGeom>
          <a:solidFill>
            <a:srgbClr val="E2E8F0"/>
          </a:solidFill>
          <a:ln w="12700">
            <a:solidFill>
              <a:srgbClr val="E2E8F0"/>
            </a:solidFill>
            <a:prstDash val="solid"/>
          </a:ln>
        </p:spPr>
      </p:sp>
      <p:sp>
        <p:nvSpPr>
          <p:cNvPr id="21" name="Shape 19"/>
          <p:cNvSpPr/>
          <p:nvPr/>
        </p:nvSpPr>
        <p:spPr>
          <a:xfrm>
            <a:off x="1508760" y="2825496"/>
            <a:ext cx="137160" cy="201168"/>
          </a:xfrm>
          <a:prstGeom prst="rect">
            <a:avLst/>
          </a:prstGeom>
          <a:solidFill>
            <a:srgbClr val="10B981"/>
          </a:solidFill>
          <a:ln w="12700">
            <a:solidFill>
              <a:srgbClr val="10B981"/>
            </a:solidFill>
            <a:prstDash val="solid"/>
          </a:ln>
        </p:spPr>
      </p:sp>
      <p:sp>
        <p:nvSpPr>
          <p:cNvPr id="22" name="Text 20"/>
          <p:cNvSpPr/>
          <p:nvPr/>
        </p:nvSpPr>
        <p:spPr>
          <a:xfrm>
            <a:off x="3840480" y="2761488"/>
            <a:ext cx="457200" cy="320040"/>
          </a:xfrm>
          <a:prstGeom prst="rect">
            <a:avLst/>
          </a:prstGeom>
          <a:noFill/>
        </p:spPr>
        <p:txBody>
          <a:bodyPr wrap="square" lIns="0" tIns="0" rIns="0" bIns="0" rtlCol="0" anchor="ctr"/>
          <a:lstStyle/>
          <a:p>
            <a:pPr marL="0" indent="0" algn="r">
              <a:buNone/>
            </a:pPr>
            <a:r>
              <a:rPr lang="en-US" sz="1000" b="1" dirty="0">
                <a:solidFill>
                  <a:srgbClr val="10B981"/>
                </a:solidFill>
                <a:latin typeface="Calibri" panose="020F0502020204030204" pitchFamily="34" charset="0"/>
                <a:ea typeface="Calibri" panose="020F0502020204030204" pitchFamily="34" charset="-122"/>
                <a:cs typeface="Calibri" panose="020F0502020204030204" pitchFamily="34" charset="-120"/>
              </a:rPr>
              <a:t>2ms</a:t>
            </a:r>
            <a:endParaRPr lang="en-US" sz="1000" dirty="0"/>
          </a:p>
        </p:txBody>
      </p:sp>
      <p:sp>
        <p:nvSpPr>
          <p:cNvPr id="23" name="Text 21"/>
          <p:cNvSpPr/>
          <p:nvPr/>
        </p:nvSpPr>
        <p:spPr>
          <a:xfrm>
            <a:off x="320040" y="3054096"/>
            <a:ext cx="3931920" cy="256032"/>
          </a:xfrm>
          <a:prstGeom prst="rect">
            <a:avLst/>
          </a:prstGeom>
          <a:noFill/>
        </p:spPr>
        <p:txBody>
          <a:bodyPr wrap="square" lIns="0" tIns="0" rIns="0" bIns="0" rtlCol="0" anchor="ctr"/>
          <a:lstStyle/>
          <a:p>
            <a:pPr marL="0" indent="0" algn="l">
              <a:buNone/>
            </a:pPr>
            <a:r>
              <a:rPr lang="en-US" sz="900" i="1" dirty="0">
                <a:solidFill>
                  <a:srgbClr val="64748B"/>
                </a:solidFill>
                <a:latin typeface="Calibri" panose="020F0502020204030204" pitchFamily="34" charset="0"/>
                <a:ea typeface="Calibri" panose="020F0502020204030204" pitchFamily="34" charset="-122"/>
                <a:cs typeface="Calibri" panose="020F0502020204030204" pitchFamily="34" charset="-120"/>
              </a:rPr>
              <a:t>Cached machine code  instant!</a:t>
            </a:r>
            <a:endParaRPr lang="en-US" sz="900" dirty="0"/>
          </a:p>
        </p:txBody>
      </p:sp>
      <p:sp>
        <p:nvSpPr>
          <p:cNvPr id="24" name="Text 22"/>
          <p:cNvSpPr/>
          <p:nvPr/>
        </p:nvSpPr>
        <p:spPr>
          <a:xfrm>
            <a:off x="320040" y="3456432"/>
            <a:ext cx="3840480" cy="256032"/>
          </a:xfrm>
          <a:prstGeom prst="rect">
            <a:avLst/>
          </a:prstGeom>
          <a:noFill/>
        </p:spPr>
        <p:txBody>
          <a:bodyPr wrap="square" lIns="0" tIns="0" rIns="0" bIns="0" rtlCol="0" anchor="ctr"/>
          <a:lstStyle/>
          <a:p>
            <a:pPr marL="0" indent="0" algn="ctr">
              <a:buNone/>
            </a:pPr>
            <a:r>
              <a:rPr lang="en-US" sz="1000" b="1" i="1" dirty="0">
                <a:solidFill>
                  <a:srgbClr val="065F46"/>
                </a:solidFill>
                <a:latin typeface="Calibri" panose="020F0502020204030204" pitchFamily="34" charset="0"/>
                <a:ea typeface="Calibri" panose="020F0502020204030204" pitchFamily="34" charset="-122"/>
                <a:cs typeface="Calibri" panose="020F0502020204030204" pitchFamily="34" charset="-120"/>
              </a:rPr>
              <a:t>The JIT penalty is a one-time startup cost  not per-request.</a:t>
            </a:r>
            <a:endParaRPr lang="en-US" sz="1000" dirty="0"/>
          </a:p>
        </p:txBody>
      </p:sp>
      <p:sp>
        <p:nvSpPr>
          <p:cNvPr id="25" name="Shape 23"/>
          <p:cNvSpPr/>
          <p:nvPr/>
        </p:nvSpPr>
        <p:spPr>
          <a:xfrm>
            <a:off x="4572000" y="914400"/>
            <a:ext cx="4389120" cy="2880360"/>
          </a:xfrm>
          <a:prstGeom prst="rect">
            <a:avLst/>
          </a:prstGeom>
          <a:solidFill>
            <a:srgbClr val="FFF7ED"/>
          </a:solidFill>
          <a:ln w="12700">
            <a:solidFill>
              <a:srgbClr val="F59E0B"/>
            </a:solidFill>
            <a:prstDash val="solid"/>
          </a:ln>
        </p:spPr>
      </p:sp>
      <p:sp>
        <p:nvSpPr>
          <p:cNvPr id="26" name="Text 24"/>
          <p:cNvSpPr/>
          <p:nvPr/>
        </p:nvSpPr>
        <p:spPr>
          <a:xfrm>
            <a:off x="4736592" y="1005840"/>
            <a:ext cx="4023360" cy="320040"/>
          </a:xfrm>
          <a:prstGeom prst="rect">
            <a:avLst/>
          </a:prstGeom>
          <a:noFill/>
        </p:spPr>
        <p:txBody>
          <a:bodyPr wrap="square" lIns="0" tIns="0" rIns="0" bIns="0" rtlCol="0" anchor="ctr"/>
          <a:lstStyle/>
          <a:p>
            <a:pPr marL="0" indent="0" algn="l">
              <a:buNone/>
            </a:pPr>
            <a:r>
              <a:rPr lang="en-US" sz="1250" b="1" dirty="0">
                <a:solidFill>
                  <a:srgbClr val="92400E"/>
                </a:solidFill>
                <a:latin typeface="Calibri" panose="020F0502020204030204" pitchFamily="34" charset="0"/>
                <a:ea typeface="Calibri" panose="020F0502020204030204" pitchFamily="34" charset="-122"/>
                <a:cs typeface="Calibri" panose="020F0502020204030204" pitchFamily="34" charset="-120"/>
              </a:rPr>
              <a:t>Debug vs Release Mode</a:t>
            </a:r>
            <a:endParaRPr lang="en-US" sz="1250" dirty="0"/>
          </a:p>
        </p:txBody>
      </p:sp>
      <p:sp>
        <p:nvSpPr>
          <p:cNvPr id="27" name="Shape 25"/>
          <p:cNvSpPr/>
          <p:nvPr/>
        </p:nvSpPr>
        <p:spPr>
          <a:xfrm>
            <a:off x="4709160" y="1444752"/>
            <a:ext cx="1920240" cy="274320"/>
          </a:xfrm>
          <a:prstGeom prst="rect">
            <a:avLst/>
          </a:prstGeom>
          <a:solidFill>
            <a:srgbClr val="6366F1"/>
          </a:solidFill>
          <a:ln w="12700">
            <a:solidFill>
              <a:srgbClr val="6366F1"/>
            </a:solidFill>
            <a:prstDash val="solid"/>
          </a:ln>
        </p:spPr>
      </p:sp>
      <p:sp>
        <p:nvSpPr>
          <p:cNvPr id="28" name="Text 26"/>
          <p:cNvSpPr/>
          <p:nvPr/>
        </p:nvSpPr>
        <p:spPr>
          <a:xfrm>
            <a:off x="4709160" y="1444752"/>
            <a:ext cx="1920240" cy="27432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DEBUG</a:t>
            </a:r>
            <a:endParaRPr lang="en-US" sz="1000" dirty="0"/>
          </a:p>
        </p:txBody>
      </p:sp>
      <p:sp>
        <p:nvSpPr>
          <p:cNvPr id="29" name="Text 27"/>
          <p:cNvSpPr/>
          <p:nvPr/>
        </p:nvSpPr>
        <p:spPr>
          <a:xfrm>
            <a:off x="4782312" y="1792224"/>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Minimal JIT optimization</a:t>
            </a:r>
            <a:endParaRPr lang="en-US" sz="950" dirty="0"/>
          </a:p>
        </p:txBody>
      </p:sp>
      <p:sp>
        <p:nvSpPr>
          <p:cNvPr id="30" name="Text 28"/>
          <p:cNvSpPr/>
          <p:nvPr/>
        </p:nvSpPr>
        <p:spPr>
          <a:xfrm>
            <a:off x="4782312" y="2121408"/>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Preserves debuggability</a:t>
            </a:r>
            <a:endParaRPr lang="en-US" sz="950" dirty="0"/>
          </a:p>
        </p:txBody>
      </p:sp>
      <p:sp>
        <p:nvSpPr>
          <p:cNvPr id="31" name="Text 29"/>
          <p:cNvSpPr/>
          <p:nvPr/>
        </p:nvSpPr>
        <p:spPr>
          <a:xfrm>
            <a:off x="4782312" y="2450592"/>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Step through every line</a:t>
            </a:r>
            <a:endParaRPr lang="en-US" sz="950" dirty="0"/>
          </a:p>
        </p:txBody>
      </p:sp>
      <p:sp>
        <p:nvSpPr>
          <p:cNvPr id="32" name="Text 30"/>
          <p:cNvSpPr/>
          <p:nvPr/>
        </p:nvSpPr>
        <p:spPr>
          <a:xfrm>
            <a:off x="4782312" y="2779776"/>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Slower execution speed</a:t>
            </a:r>
            <a:endParaRPr lang="en-US" sz="950" dirty="0"/>
          </a:p>
        </p:txBody>
      </p:sp>
      <p:sp>
        <p:nvSpPr>
          <p:cNvPr id="33" name="Shape 31"/>
          <p:cNvSpPr/>
          <p:nvPr/>
        </p:nvSpPr>
        <p:spPr>
          <a:xfrm>
            <a:off x="6812280" y="1444752"/>
            <a:ext cx="1920240" cy="274320"/>
          </a:xfrm>
          <a:prstGeom prst="rect">
            <a:avLst/>
          </a:prstGeom>
          <a:solidFill>
            <a:srgbClr val="10B981"/>
          </a:solidFill>
          <a:ln w="12700">
            <a:solidFill>
              <a:srgbClr val="10B981"/>
            </a:solidFill>
            <a:prstDash val="solid"/>
          </a:ln>
        </p:spPr>
      </p:sp>
      <p:sp>
        <p:nvSpPr>
          <p:cNvPr id="34" name="Text 32"/>
          <p:cNvSpPr/>
          <p:nvPr/>
        </p:nvSpPr>
        <p:spPr>
          <a:xfrm>
            <a:off x="6812280" y="1444752"/>
            <a:ext cx="1920240" cy="27432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RELEASE</a:t>
            </a:r>
            <a:endParaRPr lang="en-US" sz="1000" dirty="0"/>
          </a:p>
        </p:txBody>
      </p:sp>
      <p:sp>
        <p:nvSpPr>
          <p:cNvPr id="35" name="Text 33"/>
          <p:cNvSpPr/>
          <p:nvPr/>
        </p:nvSpPr>
        <p:spPr>
          <a:xfrm>
            <a:off x="6885432" y="1792224"/>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Aggressive JIT optimization</a:t>
            </a:r>
            <a:endParaRPr lang="en-US" sz="950" dirty="0"/>
          </a:p>
        </p:txBody>
      </p:sp>
      <p:sp>
        <p:nvSpPr>
          <p:cNvPr id="36" name="Text 34"/>
          <p:cNvSpPr/>
          <p:nvPr/>
        </p:nvSpPr>
        <p:spPr>
          <a:xfrm>
            <a:off x="6885432" y="2121408"/>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Inlines &amp; eliminates code</a:t>
            </a:r>
            <a:endParaRPr lang="en-US" sz="950" dirty="0"/>
          </a:p>
        </p:txBody>
      </p:sp>
      <p:sp>
        <p:nvSpPr>
          <p:cNvPr id="37" name="Text 35"/>
          <p:cNvSpPr/>
          <p:nvPr/>
        </p:nvSpPr>
        <p:spPr>
          <a:xfrm>
            <a:off x="6885432" y="2450592"/>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Cannot step through optimized code</a:t>
            </a:r>
            <a:endParaRPr lang="en-US" sz="950" dirty="0"/>
          </a:p>
        </p:txBody>
      </p:sp>
      <p:sp>
        <p:nvSpPr>
          <p:cNvPr id="38" name="Text 36"/>
          <p:cNvSpPr/>
          <p:nvPr/>
        </p:nvSpPr>
        <p:spPr>
          <a:xfrm>
            <a:off x="6885432" y="2779776"/>
            <a:ext cx="1792224" cy="310896"/>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 Full production performance</a:t>
            </a:r>
            <a:endParaRPr lang="en-US" sz="950" dirty="0"/>
          </a:p>
        </p:txBody>
      </p:sp>
      <p:sp>
        <p:nvSpPr>
          <p:cNvPr id="39" name="Shape 37"/>
          <p:cNvSpPr/>
          <p:nvPr/>
        </p:nvSpPr>
        <p:spPr>
          <a:xfrm>
            <a:off x="4709160" y="3410712"/>
            <a:ext cx="4069080" cy="292608"/>
          </a:xfrm>
          <a:prstGeom prst="rect">
            <a:avLst/>
          </a:prstGeom>
          <a:solidFill>
            <a:srgbClr val="92400E"/>
          </a:solidFill>
          <a:ln w="12700">
            <a:solidFill>
              <a:srgbClr val="92400E"/>
            </a:solidFill>
            <a:prstDash val="solid"/>
          </a:ln>
        </p:spPr>
      </p:sp>
      <p:sp>
        <p:nvSpPr>
          <p:cNvPr id="40" name="Text 38"/>
          <p:cNvSpPr/>
          <p:nvPr/>
        </p:nvSpPr>
        <p:spPr>
          <a:xfrm>
            <a:off x="4709160" y="3410712"/>
            <a:ext cx="4069080" cy="292608"/>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Always benchmark in Release  ·  Always debug in Debug</a:t>
            </a:r>
            <a:endParaRPr lang="en-US" sz="1000" dirty="0"/>
          </a:p>
        </p:txBody>
      </p:sp>
      <p:sp>
        <p:nvSpPr>
          <p:cNvPr id="41" name="Shape 39"/>
          <p:cNvSpPr/>
          <p:nvPr/>
        </p:nvSpPr>
        <p:spPr>
          <a:xfrm>
            <a:off x="182880" y="3913632"/>
            <a:ext cx="8778240" cy="960120"/>
          </a:xfrm>
          <a:prstGeom prst="rect">
            <a:avLst/>
          </a:prstGeom>
          <a:solidFill>
            <a:srgbClr val="EFF6FF"/>
          </a:solidFill>
          <a:ln w="12700">
            <a:solidFill>
              <a:srgbClr val="0EA5E9"/>
            </a:solidFill>
            <a:prstDash val="solid"/>
          </a:ln>
        </p:spPr>
      </p:sp>
      <p:sp>
        <p:nvSpPr>
          <p:cNvPr id="42" name="Shape 40"/>
          <p:cNvSpPr/>
          <p:nvPr/>
        </p:nvSpPr>
        <p:spPr>
          <a:xfrm>
            <a:off x="182880" y="3913632"/>
            <a:ext cx="54864" cy="960120"/>
          </a:xfrm>
          <a:prstGeom prst="rect">
            <a:avLst/>
          </a:prstGeom>
          <a:solidFill>
            <a:srgbClr val="0EA5E9"/>
          </a:solidFill>
          <a:ln w="12700">
            <a:solidFill>
              <a:srgbClr val="0EA5E9"/>
            </a:solidFill>
            <a:prstDash val="solid"/>
          </a:ln>
        </p:spPr>
      </p:sp>
      <p:sp>
        <p:nvSpPr>
          <p:cNvPr id="43" name="Text 41"/>
          <p:cNvSpPr/>
          <p:nvPr/>
        </p:nvSpPr>
        <p:spPr>
          <a:xfrm>
            <a:off x="365760" y="4005072"/>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The Rule</a:t>
            </a:r>
            <a:endParaRPr lang="en-US" sz="1000" dirty="0"/>
          </a:p>
        </p:txBody>
      </p:sp>
      <p:sp>
        <p:nvSpPr>
          <p:cNvPr id="44" name="Text 42"/>
          <p:cNvSpPr/>
          <p:nvPr/>
        </p:nvSpPr>
        <p:spPr>
          <a:xfrm>
            <a:off x="365760" y="4297680"/>
            <a:ext cx="8503920" cy="45720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If your app feels slow in development, check: are you running Debug? Debug trades performance for debuggability. Switch to Release mode before benchmarking. If the first production request is slow, that is JIT warm-up  completely normal.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Every Request Walks Through a Chain</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41248"/>
            <a:ext cx="8686800" cy="320040"/>
          </a:xfrm>
          <a:prstGeom prst="rect">
            <a:avLst/>
          </a:prstGeom>
          <a:noFill/>
        </p:spPr>
        <p:txBody>
          <a:bodyPr wrap="square" lIns="0" tIns="0" rIns="0" bIns="0" rtlCol="0" anchor="ctr"/>
          <a:lstStyle/>
          <a:p>
            <a:pPr marL="0" indent="0" algn="l">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Before your code runs, ASP.NET Core passes the request through a series of middleware components  each handling one concern.</a:t>
            </a:r>
            <a:endParaRPr lang="en-US" sz="1150" dirty="0"/>
          </a:p>
        </p:txBody>
      </p:sp>
      <p:sp>
        <p:nvSpPr>
          <p:cNvPr id="8" name="Shape 6"/>
          <p:cNvSpPr/>
          <p:nvPr/>
        </p:nvSpPr>
        <p:spPr>
          <a:xfrm>
            <a:off x="461772" y="1298448"/>
            <a:ext cx="1033272" cy="475488"/>
          </a:xfrm>
          <a:prstGeom prst="rect">
            <a:avLst/>
          </a:prstGeom>
          <a:solidFill>
            <a:srgbClr val="7C3AED"/>
          </a:solidFill>
          <a:ln w="12700">
            <a:solidFill>
              <a:srgbClr val="7C3AED"/>
            </a:solidFill>
            <a:prstDash val="solid"/>
          </a:ln>
          <a:effectLst>
            <a:outerShdw blurRad="101600" dist="38100" dir="8100000" algn="bl" rotWithShape="0">
              <a:srgbClr val="000000">
                <a:alpha val="12000"/>
              </a:srgbClr>
            </a:outerShdw>
          </a:effectLst>
        </p:spPr>
      </p:sp>
      <p:sp>
        <p:nvSpPr>
          <p:cNvPr id="9" name="Text 7"/>
          <p:cNvSpPr/>
          <p:nvPr/>
        </p:nvSpPr>
        <p:spPr>
          <a:xfrm>
            <a:off x="461772"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Client</a:t>
            </a:r>
            <a:endParaRPr lang="en-US" sz="1050" dirty="0"/>
          </a:p>
        </p:txBody>
      </p:sp>
      <p:sp>
        <p:nvSpPr>
          <p:cNvPr id="10" name="Shape 8"/>
          <p:cNvSpPr/>
          <p:nvPr/>
        </p:nvSpPr>
        <p:spPr>
          <a:xfrm>
            <a:off x="1495044" y="1536192"/>
            <a:ext cx="164592" cy="0"/>
          </a:xfrm>
          <a:prstGeom prst="line">
            <a:avLst/>
          </a:prstGeom>
          <a:noFill/>
          <a:ln w="15240">
            <a:solidFill>
              <a:srgbClr val="64748B"/>
            </a:solidFill>
            <a:prstDash val="solid"/>
          </a:ln>
        </p:spPr>
      </p:sp>
      <p:sp>
        <p:nvSpPr>
          <p:cNvPr id="11" name="Shape 9"/>
          <p:cNvSpPr/>
          <p:nvPr/>
        </p:nvSpPr>
        <p:spPr>
          <a:xfrm>
            <a:off x="1659636" y="1298448"/>
            <a:ext cx="1033272" cy="475488"/>
          </a:xfrm>
          <a:prstGeom prst="rect">
            <a:avLst/>
          </a:prstGeom>
          <a:solidFill>
            <a:srgbClr val="0EA5E9"/>
          </a:solidFill>
          <a:ln w="12700">
            <a:solidFill>
              <a:srgbClr val="0EA5E9"/>
            </a:solidFill>
            <a:prstDash val="solid"/>
          </a:ln>
          <a:effectLst>
            <a:outerShdw blurRad="101600" dist="38100" dir="8100000" algn="bl" rotWithShape="0">
              <a:srgbClr val="000000">
                <a:alpha val="12000"/>
              </a:srgbClr>
            </a:outerShdw>
          </a:effectLst>
        </p:spPr>
      </p:sp>
      <p:sp>
        <p:nvSpPr>
          <p:cNvPr id="12" name="Text 10"/>
          <p:cNvSpPr/>
          <p:nvPr/>
        </p:nvSpPr>
        <p:spPr>
          <a:xfrm>
            <a:off x="1659636"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Logging</a:t>
            </a:r>
            <a:endParaRPr lang="en-US" sz="1050" dirty="0"/>
          </a:p>
        </p:txBody>
      </p:sp>
      <p:sp>
        <p:nvSpPr>
          <p:cNvPr id="13" name="Shape 11"/>
          <p:cNvSpPr/>
          <p:nvPr/>
        </p:nvSpPr>
        <p:spPr>
          <a:xfrm>
            <a:off x="2692908" y="1536192"/>
            <a:ext cx="164592" cy="0"/>
          </a:xfrm>
          <a:prstGeom prst="line">
            <a:avLst/>
          </a:prstGeom>
          <a:noFill/>
          <a:ln w="15240">
            <a:solidFill>
              <a:srgbClr val="64748B"/>
            </a:solidFill>
            <a:prstDash val="solid"/>
          </a:ln>
        </p:spPr>
      </p:sp>
      <p:sp>
        <p:nvSpPr>
          <p:cNvPr id="14" name="Shape 12"/>
          <p:cNvSpPr/>
          <p:nvPr/>
        </p:nvSpPr>
        <p:spPr>
          <a:xfrm>
            <a:off x="2857500" y="1298448"/>
            <a:ext cx="1033272" cy="475488"/>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5" name="Text 13"/>
          <p:cNvSpPr/>
          <p:nvPr/>
        </p:nvSpPr>
        <p:spPr>
          <a:xfrm>
            <a:off x="2857500"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Exception</a:t>
            </a:r>
            <a:endParaRPr lang="en-US" sz="1050" dirty="0"/>
          </a:p>
        </p:txBody>
      </p:sp>
      <p:sp>
        <p:nvSpPr>
          <p:cNvPr id="16" name="Shape 14"/>
          <p:cNvSpPr/>
          <p:nvPr/>
        </p:nvSpPr>
        <p:spPr>
          <a:xfrm>
            <a:off x="3890772" y="1536192"/>
            <a:ext cx="164592" cy="0"/>
          </a:xfrm>
          <a:prstGeom prst="line">
            <a:avLst/>
          </a:prstGeom>
          <a:noFill/>
          <a:ln w="15240">
            <a:solidFill>
              <a:srgbClr val="64748B"/>
            </a:solidFill>
            <a:prstDash val="solid"/>
          </a:ln>
        </p:spPr>
      </p:sp>
      <p:sp>
        <p:nvSpPr>
          <p:cNvPr id="17" name="Shape 15"/>
          <p:cNvSpPr/>
          <p:nvPr/>
        </p:nvSpPr>
        <p:spPr>
          <a:xfrm>
            <a:off x="4055364" y="1298448"/>
            <a:ext cx="1033272" cy="475488"/>
          </a:xfrm>
          <a:prstGeom prst="rect">
            <a:avLst/>
          </a:prstGeom>
          <a:solidFill>
            <a:srgbClr val="6366F1"/>
          </a:solidFill>
          <a:ln w="12700">
            <a:solidFill>
              <a:srgbClr val="6366F1"/>
            </a:solidFill>
            <a:prstDash val="solid"/>
          </a:ln>
          <a:effectLst>
            <a:outerShdw blurRad="101600" dist="38100" dir="8100000" algn="bl" rotWithShape="0">
              <a:srgbClr val="000000">
                <a:alpha val="12000"/>
              </a:srgbClr>
            </a:outerShdw>
          </a:effectLst>
        </p:spPr>
      </p:sp>
      <p:sp>
        <p:nvSpPr>
          <p:cNvPr id="18" name="Text 16"/>
          <p:cNvSpPr/>
          <p:nvPr/>
        </p:nvSpPr>
        <p:spPr>
          <a:xfrm>
            <a:off x="4055364"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Routing</a:t>
            </a:r>
            <a:endParaRPr lang="en-US" sz="1050" dirty="0"/>
          </a:p>
        </p:txBody>
      </p:sp>
      <p:sp>
        <p:nvSpPr>
          <p:cNvPr id="19" name="Shape 17"/>
          <p:cNvSpPr/>
          <p:nvPr/>
        </p:nvSpPr>
        <p:spPr>
          <a:xfrm>
            <a:off x="5088636" y="1536192"/>
            <a:ext cx="164592" cy="0"/>
          </a:xfrm>
          <a:prstGeom prst="line">
            <a:avLst/>
          </a:prstGeom>
          <a:noFill/>
          <a:ln w="15240">
            <a:solidFill>
              <a:srgbClr val="64748B"/>
            </a:solidFill>
            <a:prstDash val="solid"/>
          </a:ln>
        </p:spPr>
      </p:sp>
      <p:sp>
        <p:nvSpPr>
          <p:cNvPr id="20" name="Shape 18"/>
          <p:cNvSpPr/>
          <p:nvPr/>
        </p:nvSpPr>
        <p:spPr>
          <a:xfrm>
            <a:off x="5253228" y="1298448"/>
            <a:ext cx="1033272" cy="475488"/>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21" name="Text 19"/>
          <p:cNvSpPr/>
          <p:nvPr/>
        </p:nvSpPr>
        <p:spPr>
          <a:xfrm>
            <a:off x="5253228"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Auth</a:t>
            </a:r>
            <a:endParaRPr lang="en-US" sz="1050" dirty="0"/>
          </a:p>
        </p:txBody>
      </p:sp>
      <p:sp>
        <p:nvSpPr>
          <p:cNvPr id="22" name="Shape 20"/>
          <p:cNvSpPr/>
          <p:nvPr/>
        </p:nvSpPr>
        <p:spPr>
          <a:xfrm>
            <a:off x="6286500" y="1536192"/>
            <a:ext cx="164592" cy="0"/>
          </a:xfrm>
          <a:prstGeom prst="line">
            <a:avLst/>
          </a:prstGeom>
          <a:noFill/>
          <a:ln w="15240">
            <a:solidFill>
              <a:srgbClr val="64748B"/>
            </a:solidFill>
            <a:prstDash val="solid"/>
          </a:ln>
        </p:spPr>
      </p:sp>
      <p:sp>
        <p:nvSpPr>
          <p:cNvPr id="23" name="Shape 21"/>
          <p:cNvSpPr/>
          <p:nvPr/>
        </p:nvSpPr>
        <p:spPr>
          <a:xfrm>
            <a:off x="6451092" y="1298448"/>
            <a:ext cx="1033272" cy="475488"/>
          </a:xfrm>
          <a:prstGeom prst="rect">
            <a:avLst/>
          </a:prstGeom>
          <a:solidFill>
            <a:srgbClr val="EF4444"/>
          </a:solidFill>
          <a:ln w="12700">
            <a:solidFill>
              <a:srgbClr val="EF4444"/>
            </a:solidFill>
            <a:prstDash val="solid"/>
          </a:ln>
          <a:effectLst>
            <a:outerShdw blurRad="101600" dist="38100" dir="8100000" algn="bl" rotWithShape="0">
              <a:srgbClr val="000000">
                <a:alpha val="12000"/>
              </a:srgbClr>
            </a:outerShdw>
          </a:effectLst>
        </p:spPr>
      </p:sp>
      <p:sp>
        <p:nvSpPr>
          <p:cNvPr id="24" name="Text 22"/>
          <p:cNvSpPr/>
          <p:nvPr/>
        </p:nvSpPr>
        <p:spPr>
          <a:xfrm>
            <a:off x="6451092"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Authz</a:t>
            </a:r>
            <a:endParaRPr lang="en-US" sz="1050" dirty="0"/>
          </a:p>
        </p:txBody>
      </p:sp>
      <p:sp>
        <p:nvSpPr>
          <p:cNvPr id="25" name="Shape 23"/>
          <p:cNvSpPr/>
          <p:nvPr/>
        </p:nvSpPr>
        <p:spPr>
          <a:xfrm>
            <a:off x="7484364" y="1536192"/>
            <a:ext cx="164592" cy="0"/>
          </a:xfrm>
          <a:prstGeom prst="line">
            <a:avLst/>
          </a:prstGeom>
          <a:noFill/>
          <a:ln w="15240">
            <a:solidFill>
              <a:srgbClr val="64748B"/>
            </a:solidFill>
            <a:prstDash val="solid"/>
          </a:ln>
        </p:spPr>
      </p:sp>
      <p:sp>
        <p:nvSpPr>
          <p:cNvPr id="26" name="Shape 24"/>
          <p:cNvSpPr/>
          <p:nvPr/>
        </p:nvSpPr>
        <p:spPr>
          <a:xfrm>
            <a:off x="7648956" y="1298448"/>
            <a:ext cx="1033272" cy="475488"/>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27" name="Text 25"/>
          <p:cNvSpPr/>
          <p:nvPr/>
        </p:nvSpPr>
        <p:spPr>
          <a:xfrm>
            <a:off x="7648956" y="1298448"/>
            <a:ext cx="1033272" cy="475488"/>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Endpoint</a:t>
            </a:r>
            <a:endParaRPr lang="en-US" sz="1050" dirty="0"/>
          </a:p>
        </p:txBody>
      </p:sp>
      <p:sp>
        <p:nvSpPr>
          <p:cNvPr id="28" name="Text 26"/>
          <p:cNvSpPr/>
          <p:nvPr/>
        </p:nvSpPr>
        <p:spPr>
          <a:xfrm>
            <a:off x="461772" y="1865376"/>
            <a:ext cx="4572000" cy="256032"/>
          </a:xfrm>
          <a:prstGeom prst="rect">
            <a:avLst/>
          </a:prstGeom>
          <a:noFill/>
        </p:spPr>
        <p:txBody>
          <a:bodyPr wrap="square" lIns="0" tIns="0" rIns="0" bIns="0" rtlCol="0" anchor="ctr"/>
          <a:lstStyle/>
          <a:p>
            <a:pPr marL="0" indent="0" algn="l">
              <a:buNone/>
            </a:pPr>
            <a:r>
              <a:rPr lang="en-US" sz="950" i="1" dirty="0">
                <a:solidFill>
                  <a:srgbClr val="64748B"/>
                </a:solidFill>
                <a:latin typeface="Calibri" panose="020F0502020204030204" pitchFamily="34" charset="0"/>
                <a:ea typeface="Calibri" panose="020F0502020204030204" pitchFamily="34" charset="-122"/>
                <a:cs typeface="Calibri" panose="020F0502020204030204" pitchFamily="34" charset="-120"/>
              </a:rPr>
              <a:t>REQUEST flows down  →</a:t>
            </a:r>
            <a:endParaRPr lang="en-US" sz="950" dirty="0"/>
          </a:p>
        </p:txBody>
      </p:sp>
      <p:sp>
        <p:nvSpPr>
          <p:cNvPr id="29" name="Text 27"/>
          <p:cNvSpPr/>
          <p:nvPr/>
        </p:nvSpPr>
        <p:spPr>
          <a:xfrm>
            <a:off x="4572000" y="1865376"/>
            <a:ext cx="4389120" cy="256032"/>
          </a:xfrm>
          <a:prstGeom prst="rect">
            <a:avLst/>
          </a:prstGeom>
          <a:noFill/>
        </p:spPr>
        <p:txBody>
          <a:bodyPr wrap="square" lIns="0" tIns="0" rIns="0" bIns="0" rtlCol="0" anchor="ctr"/>
          <a:lstStyle/>
          <a:p>
            <a:pPr marL="0" indent="0" algn="r">
              <a:buNone/>
            </a:pPr>
            <a:r>
              <a:rPr lang="en-US" sz="950" i="1" dirty="0">
                <a:solidFill>
                  <a:srgbClr val="64748B"/>
                </a:solidFill>
                <a:latin typeface="Calibri" panose="020F0502020204030204" pitchFamily="34" charset="0"/>
                <a:ea typeface="Calibri" panose="020F0502020204030204" pitchFamily="34" charset="-122"/>
                <a:cs typeface="Calibri" panose="020F0502020204030204" pitchFamily="34" charset="-120"/>
              </a:rPr>
              <a:t>←  RESPONSE flows back up</a:t>
            </a:r>
            <a:endParaRPr lang="en-US" sz="950" dirty="0"/>
          </a:p>
        </p:txBody>
      </p:sp>
      <p:sp>
        <p:nvSpPr>
          <p:cNvPr id="30" name="Shape 28"/>
          <p:cNvSpPr/>
          <p:nvPr/>
        </p:nvSpPr>
        <p:spPr>
          <a:xfrm>
            <a:off x="182880" y="2212848"/>
            <a:ext cx="8778240" cy="2633472"/>
          </a:xfrm>
          <a:prstGeom prst="rect">
            <a:avLst/>
          </a:prstGeom>
          <a:solidFill>
            <a:srgbClr val="1A2B4A"/>
          </a:solidFill>
          <a:ln w="12700">
            <a:solidFill>
              <a:srgbClr val="0EA5E9"/>
            </a:solidFill>
            <a:prstDash val="solid"/>
          </a:ln>
          <a:effectLst>
            <a:outerShdw blurRad="101600" dist="38100" dir="8100000" algn="bl" rotWithShape="0">
              <a:srgbClr val="000000">
                <a:alpha val="12000"/>
              </a:srgbClr>
            </a:outerShdw>
          </a:effectLst>
        </p:spPr>
      </p:sp>
      <p:sp>
        <p:nvSpPr>
          <p:cNvPr id="31" name="Text 29"/>
          <p:cNvSpPr/>
          <p:nvPr/>
        </p:nvSpPr>
        <p:spPr>
          <a:xfrm>
            <a:off x="411480" y="2304288"/>
            <a:ext cx="8412480" cy="347472"/>
          </a:xfrm>
          <a:prstGeom prst="rect">
            <a:avLst/>
          </a:prstGeom>
          <a:noFill/>
        </p:spPr>
        <p:txBody>
          <a:bodyPr wrap="square" lIns="0" tIns="0" rIns="0" bIns="0" rtlCol="0" anchor="ctr"/>
          <a:lstStyle/>
          <a:p>
            <a:pPr marL="0" indent="0" algn="l">
              <a:buNone/>
            </a:pPr>
            <a:r>
              <a:rPr lang="en-US" sz="1200" b="1" dirty="0">
                <a:solidFill>
                  <a:srgbClr val="0EA5E9"/>
                </a:solidFill>
                <a:latin typeface="Calibri" panose="020F0502020204030204" pitchFamily="34" charset="0"/>
                <a:ea typeface="Calibri" panose="020F0502020204030204" pitchFamily="34" charset="-122"/>
                <a:cs typeface="Calibri" panose="020F0502020204030204" pitchFamily="34" charset="-120"/>
              </a:rPr>
              <a:t>TMS Scenario  Yared clicks 'View Enrollments'</a:t>
            </a:r>
            <a:endParaRPr lang="en-US" sz="1200" dirty="0"/>
          </a:p>
        </p:txBody>
      </p:sp>
      <p:sp>
        <p:nvSpPr>
          <p:cNvPr id="32" name="Text 30"/>
          <p:cNvSpPr/>
          <p:nvPr/>
        </p:nvSpPr>
        <p:spPr>
          <a:xfrm>
            <a:off x="411480" y="272491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①  Logging starts a Stopwatch and adds an X-Correlation-Id header</a:t>
            </a:r>
            <a:endParaRPr lang="en-US" sz="1000" dirty="0"/>
          </a:p>
        </p:txBody>
      </p:sp>
      <p:sp>
        <p:nvSpPr>
          <p:cNvPr id="33" name="Text 31"/>
          <p:cNvSpPr/>
          <p:nvPr/>
        </p:nvSpPr>
        <p:spPr>
          <a:xfrm>
            <a:off x="411480" y="299923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②  Exception Handler arms itself  it will catch any crash in the layers below</a:t>
            </a:r>
            <a:endParaRPr lang="en-US" sz="1000" dirty="0"/>
          </a:p>
        </p:txBody>
      </p:sp>
      <p:sp>
        <p:nvSpPr>
          <p:cNvPr id="34" name="Text 32"/>
          <p:cNvSpPr/>
          <p:nvPr/>
        </p:nvSpPr>
        <p:spPr>
          <a:xfrm>
            <a:off x="411480" y="327355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③  Routing matches GET /api/enrollments to EnrollmentsController.GetAll()</a:t>
            </a:r>
            <a:endParaRPr lang="en-US" sz="1000" dirty="0"/>
          </a:p>
        </p:txBody>
      </p:sp>
      <p:sp>
        <p:nvSpPr>
          <p:cNvPr id="35" name="Text 33"/>
          <p:cNvSpPr/>
          <p:nvPr/>
        </p:nvSpPr>
        <p:spPr>
          <a:xfrm>
            <a:off x="411480" y="354787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④  Authentication verifies Yared's JWT token  confirmed: instructor role</a:t>
            </a:r>
            <a:endParaRPr lang="en-US" sz="1000" dirty="0"/>
          </a:p>
        </p:txBody>
      </p:sp>
      <p:sp>
        <p:nvSpPr>
          <p:cNvPr id="36" name="Text 34"/>
          <p:cNvSpPr/>
          <p:nvPr/>
        </p:nvSpPr>
        <p:spPr>
          <a:xfrm>
            <a:off x="411480" y="382219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⑤  Authorization confirms the Instructor role can access this endpoint  allowed</a:t>
            </a:r>
            <a:endParaRPr lang="en-US" sz="1000" dirty="0"/>
          </a:p>
        </p:txBody>
      </p:sp>
      <p:sp>
        <p:nvSpPr>
          <p:cNvPr id="37" name="Text 35"/>
          <p:cNvSpPr/>
          <p:nvPr/>
        </p:nvSpPr>
        <p:spPr>
          <a:xfrm>
            <a:off x="411480" y="4096512"/>
            <a:ext cx="8412480" cy="256032"/>
          </a:xfrm>
          <a:prstGeom prst="rect">
            <a:avLst/>
          </a:prstGeom>
          <a:noFill/>
        </p:spPr>
        <p:txBody>
          <a:bodyPr wrap="square" lIns="0" tIns="0" rIns="0" bIns="0" rtlCol="0" anchor="ctr"/>
          <a:lstStyle/>
          <a:p>
            <a:pPr marL="0" indent="0" algn="l">
              <a:buNone/>
            </a:pPr>
            <a:r>
              <a:rPr lang="en-US" sz="1000" dirty="0">
                <a:solidFill>
                  <a:srgbClr val="86EFAC"/>
                </a:solidFill>
                <a:latin typeface="Calibri" panose="020F0502020204030204" pitchFamily="34" charset="0"/>
                <a:ea typeface="Calibri" panose="020F0502020204030204" pitchFamily="34" charset="-122"/>
                <a:cs typeface="Calibri" panose="020F0502020204030204" pitchFamily="34" charset="-120"/>
              </a:rPr>
              <a:t>⑥  Endpoint runs  enrollments fetched, 200 OK returned</a:t>
            </a:r>
            <a:endParaRPr lang="en-US" sz="1000" dirty="0"/>
          </a:p>
        </p:txBody>
      </p:sp>
      <p:sp>
        <p:nvSpPr>
          <p:cNvPr id="38" name="Text 36"/>
          <p:cNvSpPr/>
          <p:nvPr/>
        </p:nvSpPr>
        <p:spPr>
          <a:xfrm>
            <a:off x="411480" y="4370832"/>
            <a:ext cx="8412480" cy="256032"/>
          </a:xfrm>
          <a:prstGeom prst="rect">
            <a:avLst/>
          </a:prstGeom>
          <a:noFill/>
        </p:spPr>
        <p:txBody>
          <a:bodyPr wrap="square" lIns="0" tIns="0" rIns="0" bIns="0" rtlCol="0" anchor="ctr"/>
          <a:lstStyle/>
          <a:p>
            <a:pPr marL="0" indent="0" algn="l">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⑦  Response travels back through every layer in reverse  logging records timing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7C3AED"/>
          </a:solidFill>
          <a:ln w="12700">
            <a:solidFill>
              <a:srgbClr val="7C3AED"/>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Use() vs Run()  One Line Makes All the Difference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914400"/>
            <a:ext cx="4160520" cy="3429000"/>
          </a:xfrm>
          <a:prstGeom prst="rect">
            <a:avLst/>
          </a:prstGeom>
          <a:solidFill>
            <a:srgbClr val="F0FDF4"/>
          </a:solidFill>
          <a:ln w="19050">
            <a:solidFill>
              <a:srgbClr val="10B981"/>
            </a:solidFill>
            <a:prstDash val="solid"/>
          </a:ln>
          <a:effectLst>
            <a:outerShdw blurRad="101600" dist="38100" dir="8100000" algn="bl" rotWithShape="0">
              <a:srgbClr val="000000">
                <a:alpha val="12000"/>
              </a:srgbClr>
            </a:outerShdw>
          </a:effectLst>
        </p:spPr>
      </p:sp>
      <p:sp>
        <p:nvSpPr>
          <p:cNvPr id="8" name="Shape 6"/>
          <p:cNvSpPr/>
          <p:nvPr/>
        </p:nvSpPr>
        <p:spPr>
          <a:xfrm>
            <a:off x="182880" y="914400"/>
            <a:ext cx="4160520" cy="365760"/>
          </a:xfrm>
          <a:prstGeom prst="rect">
            <a:avLst/>
          </a:prstGeom>
          <a:solidFill>
            <a:srgbClr val="10B981"/>
          </a:solidFill>
          <a:ln w="12700">
            <a:solidFill>
              <a:srgbClr val="10B981"/>
            </a:solidFill>
            <a:prstDash val="solid"/>
          </a:ln>
        </p:spPr>
      </p:sp>
      <p:sp>
        <p:nvSpPr>
          <p:cNvPr id="9" name="Text 7"/>
          <p:cNvSpPr/>
          <p:nvPr/>
        </p:nvSpPr>
        <p:spPr>
          <a:xfrm>
            <a:off x="320040" y="914400"/>
            <a:ext cx="3931920" cy="365760"/>
          </a:xfrm>
          <a:prstGeom prst="rect">
            <a:avLst/>
          </a:prstGeom>
          <a:noFill/>
        </p:spPr>
        <p:txBody>
          <a:bodyPr wrap="square" lIns="0" tIns="0" rIns="0" bIns="0" rtlCol="0" anchor="ct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app.Use()      Continues Pipeline</a:t>
            </a:r>
            <a:endParaRPr lang="en-US" sz="1200" dirty="0"/>
          </a:p>
        </p:txBody>
      </p:sp>
      <p:sp>
        <p:nvSpPr>
          <p:cNvPr id="10" name="Shape 8"/>
          <p:cNvSpPr/>
          <p:nvPr/>
        </p:nvSpPr>
        <p:spPr>
          <a:xfrm>
            <a:off x="274320" y="1371600"/>
            <a:ext cx="3931920" cy="155448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1" name="Shape 9"/>
          <p:cNvSpPr/>
          <p:nvPr/>
        </p:nvSpPr>
        <p:spPr>
          <a:xfrm>
            <a:off x="274320" y="1371600"/>
            <a:ext cx="3931920" cy="292608"/>
          </a:xfrm>
          <a:prstGeom prst="rect">
            <a:avLst/>
          </a:prstGeom>
          <a:solidFill>
            <a:srgbClr val="0F172A"/>
          </a:solidFill>
          <a:ln w="12700">
            <a:solidFill>
              <a:srgbClr val="334155"/>
            </a:solidFill>
            <a:prstDash val="solid"/>
          </a:ln>
        </p:spPr>
      </p:sp>
      <p:sp>
        <p:nvSpPr>
          <p:cNvPr id="12" name="Text 10"/>
          <p:cNvSpPr/>
          <p:nvPr/>
        </p:nvSpPr>
        <p:spPr>
          <a:xfrm>
            <a:off x="384048" y="1371600"/>
            <a:ext cx="371246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a:t>
            </a:r>
            <a:endParaRPr lang="en-US" sz="850" dirty="0"/>
          </a:p>
        </p:txBody>
      </p:sp>
      <p:sp>
        <p:nvSpPr>
          <p:cNvPr id="13" name="Text 11"/>
          <p:cNvSpPr/>
          <p:nvPr/>
        </p:nvSpPr>
        <p:spPr>
          <a:xfrm>
            <a:off x="411480" y="1719072"/>
            <a:ext cx="3657600" cy="1097280"/>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.Use(async (context, next) =&gt;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 Code BEFORE next middleware</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await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next</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.Invoke(context);  </a:t>
            </a:r>
            <a:r>
              <a:rPr lang="en-US" sz="850" dirty="0">
                <a:solidFill>
                  <a:srgbClr val="86EFAC"/>
                </a:solidFill>
                <a:latin typeface="Consolas" panose="020B0609020204030204" pitchFamily="34" charset="0"/>
                <a:ea typeface="Consolas" panose="020B0609020204030204" pitchFamily="34" charset="-122"/>
                <a:cs typeface="Consolas" panose="020B0609020204030204" pitchFamily="34" charset="-120"/>
              </a:rPr>
              <a:t>// ← KEY LINE</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 Code AFTER next middleware</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4" name="Text 12"/>
          <p:cNvSpPr/>
          <p:nvPr/>
        </p:nvSpPr>
        <p:spPr>
          <a:xfrm>
            <a:off x="320040" y="3017520"/>
            <a:ext cx="3840480" cy="594360"/>
          </a:xfrm>
          <a:prstGeom prst="rect">
            <a:avLst/>
          </a:prstGeom>
          <a:noFill/>
        </p:spPr>
        <p:txBody>
          <a:bodyPr wrap="square" lIns="0" tIns="0" rIns="0" bIns="0" rtlCol="0" anchor="t"/>
          <a:lstStyle/>
          <a:p>
            <a:pPr marL="0" indent="0" algn="l">
              <a:buNone/>
            </a:pPr>
            <a:r>
              <a:rPr lang="en-US" sz="1000" dirty="0">
                <a:solidFill>
                  <a:srgbClr val="065F46"/>
                </a:solidFill>
                <a:latin typeface="Calibri" panose="020F0502020204030204" pitchFamily="34" charset="0"/>
                <a:ea typeface="Calibri" panose="020F0502020204030204" pitchFamily="34" charset="-122"/>
                <a:cs typeface="Calibri" panose="020F0502020204030204" pitchFamily="34" charset="-120"/>
              </a:rPr>
              <a:t>Calls next.Invoke() to hand control to the next component. Runs code BEFORE and AFTER the rest of the pipeline.</a:t>
            </a:r>
            <a:endParaRPr lang="en-US" sz="1000" dirty="0"/>
          </a:p>
        </p:txBody>
      </p:sp>
      <p:sp>
        <p:nvSpPr>
          <p:cNvPr id="15" name="Shape 13"/>
          <p:cNvSpPr/>
          <p:nvPr/>
        </p:nvSpPr>
        <p:spPr>
          <a:xfrm>
            <a:off x="320040" y="3749040"/>
            <a:ext cx="256032" cy="256032"/>
          </a:xfrm>
          <a:prstGeom prst="ellipse">
            <a:avLst/>
          </a:prstGeom>
          <a:solidFill>
            <a:srgbClr val="10B981"/>
          </a:solidFill>
          <a:ln w="12700">
            <a:solidFill>
              <a:srgbClr val="10B981"/>
            </a:solidFill>
            <a:prstDash val="solid"/>
          </a:ln>
        </p:spPr>
      </p:sp>
      <p:sp>
        <p:nvSpPr>
          <p:cNvPr id="16" name="Text 14"/>
          <p:cNvSpPr/>
          <p:nvPr/>
        </p:nvSpPr>
        <p:spPr>
          <a:xfrm>
            <a:off x="658368" y="3749040"/>
            <a:ext cx="3474720" cy="256032"/>
          </a:xfrm>
          <a:prstGeom prst="rect">
            <a:avLst/>
          </a:prstGeom>
          <a:noFill/>
        </p:spPr>
        <p:txBody>
          <a:bodyPr wrap="square" lIns="0" tIns="0" rIns="0" bIns="0" rtlCol="0" anchor="ctr"/>
          <a:lstStyle/>
          <a:p>
            <a:pPr marL="0" indent="0" algn="l">
              <a:buNone/>
            </a:pPr>
            <a:r>
              <a:rPr lang="en-US" sz="1100" b="1" dirty="0">
                <a:solidFill>
                  <a:srgbClr val="10B981"/>
                </a:solidFill>
                <a:latin typeface="Calibri" panose="020F0502020204030204" pitchFamily="34" charset="0"/>
                <a:ea typeface="Calibri" panose="020F0502020204030204" pitchFamily="34" charset="-122"/>
                <a:cs typeface="Calibri" panose="020F0502020204030204" pitchFamily="34" charset="-120"/>
              </a:rPr>
              <a:t>Pipeline continues to next middleware</a:t>
            </a:r>
            <a:endParaRPr lang="en-US" sz="1100" dirty="0"/>
          </a:p>
        </p:txBody>
      </p:sp>
      <p:sp>
        <p:nvSpPr>
          <p:cNvPr id="17" name="Shape 15"/>
          <p:cNvSpPr/>
          <p:nvPr/>
        </p:nvSpPr>
        <p:spPr>
          <a:xfrm>
            <a:off x="4663440" y="914400"/>
            <a:ext cx="4297680" cy="3429000"/>
          </a:xfrm>
          <a:prstGeom prst="rect">
            <a:avLst/>
          </a:prstGeom>
          <a:solidFill>
            <a:srgbClr val="FEF2F2"/>
          </a:solidFill>
          <a:ln w="19050">
            <a:solidFill>
              <a:srgbClr val="EF4444"/>
            </a:solidFill>
            <a:prstDash val="solid"/>
          </a:ln>
          <a:effectLst>
            <a:outerShdw blurRad="101600" dist="38100" dir="8100000" algn="bl" rotWithShape="0">
              <a:srgbClr val="000000">
                <a:alpha val="12000"/>
              </a:srgbClr>
            </a:outerShdw>
          </a:effectLst>
        </p:spPr>
      </p:sp>
      <p:sp>
        <p:nvSpPr>
          <p:cNvPr id="18" name="Shape 16"/>
          <p:cNvSpPr/>
          <p:nvPr/>
        </p:nvSpPr>
        <p:spPr>
          <a:xfrm>
            <a:off x="4663440" y="914400"/>
            <a:ext cx="4297680" cy="365760"/>
          </a:xfrm>
          <a:prstGeom prst="rect">
            <a:avLst/>
          </a:prstGeom>
          <a:solidFill>
            <a:srgbClr val="EF4444"/>
          </a:solidFill>
          <a:ln w="12700">
            <a:solidFill>
              <a:srgbClr val="EF4444"/>
            </a:solidFill>
            <a:prstDash val="solid"/>
          </a:ln>
        </p:spPr>
      </p:sp>
      <p:sp>
        <p:nvSpPr>
          <p:cNvPr id="19" name="Text 17"/>
          <p:cNvSpPr/>
          <p:nvPr/>
        </p:nvSpPr>
        <p:spPr>
          <a:xfrm>
            <a:off x="4800600" y="914400"/>
            <a:ext cx="4023360" cy="365760"/>
          </a:xfrm>
          <a:prstGeom prst="rect">
            <a:avLst/>
          </a:prstGeom>
          <a:noFill/>
        </p:spPr>
        <p:txBody>
          <a:bodyPr wrap="square" lIns="0" tIns="0" rIns="0" bIns="0" rtlCol="0" anchor="ct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app.Run()      TERMINATES Pipeline</a:t>
            </a:r>
            <a:endParaRPr lang="en-US" sz="1200" dirty="0"/>
          </a:p>
        </p:txBody>
      </p:sp>
      <p:sp>
        <p:nvSpPr>
          <p:cNvPr id="20" name="Shape 18"/>
          <p:cNvSpPr/>
          <p:nvPr/>
        </p:nvSpPr>
        <p:spPr>
          <a:xfrm>
            <a:off x="4754880" y="1371600"/>
            <a:ext cx="4069080" cy="155448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21" name="Shape 19"/>
          <p:cNvSpPr/>
          <p:nvPr/>
        </p:nvSpPr>
        <p:spPr>
          <a:xfrm>
            <a:off x="4754880" y="1371600"/>
            <a:ext cx="4069080" cy="292608"/>
          </a:xfrm>
          <a:prstGeom prst="rect">
            <a:avLst/>
          </a:prstGeom>
          <a:solidFill>
            <a:srgbClr val="0F172A"/>
          </a:solidFill>
          <a:ln w="12700">
            <a:solidFill>
              <a:srgbClr val="334155"/>
            </a:solidFill>
            <a:prstDash val="solid"/>
          </a:ln>
        </p:spPr>
      </p:sp>
      <p:sp>
        <p:nvSpPr>
          <p:cNvPr id="22" name="Text 20"/>
          <p:cNvSpPr/>
          <p:nvPr/>
        </p:nvSpPr>
        <p:spPr>
          <a:xfrm>
            <a:off x="4864608" y="1371600"/>
            <a:ext cx="384962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a:t>
            </a:r>
            <a:endParaRPr lang="en-US" sz="850" dirty="0"/>
          </a:p>
        </p:txBody>
      </p:sp>
      <p:sp>
        <p:nvSpPr>
          <p:cNvPr id="23" name="Text 21"/>
          <p:cNvSpPr/>
          <p:nvPr/>
        </p:nvSpPr>
        <p:spPr>
          <a:xfrm>
            <a:off x="4892040" y="1719072"/>
            <a:ext cx="3794760" cy="1097280"/>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.Run(async context =&gt;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 Process and STOP here</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await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context.Response</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.WriteAsync("OK");</a:t>
            </a:r>
            <a:endParaRPr lang="en-US" sz="850" dirty="0"/>
          </a:p>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 No next.Invoke()  pipeline ENDS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24" name="Text 22"/>
          <p:cNvSpPr/>
          <p:nvPr/>
        </p:nvSpPr>
        <p:spPr>
          <a:xfrm>
            <a:off x="4800600" y="3017520"/>
            <a:ext cx="4023360" cy="594360"/>
          </a:xfrm>
          <a:prstGeom prst="rect">
            <a:avLst/>
          </a:prstGeom>
          <a:noFill/>
        </p:spPr>
        <p:txBody>
          <a:bodyPr wrap="square" lIns="0" tIns="0" rIns="0" bIns="0" rtlCol="0" anchor="t"/>
          <a:lstStyle/>
          <a:p>
            <a:pPr marL="0" indent="0" algn="l">
              <a:buNone/>
            </a:pPr>
            <a:r>
              <a:rPr lang="en-US" sz="1000" dirty="0">
                <a:solidFill>
                  <a:srgbClr val="991B1B"/>
                </a:solidFill>
                <a:latin typeface="Calibri" panose="020F0502020204030204" pitchFamily="34" charset="0"/>
                <a:ea typeface="Calibri" panose="020F0502020204030204" pitchFamily="34" charset="-122"/>
                <a:cs typeface="Calibri" panose="020F0502020204030204" pitchFamily="34" charset="-120"/>
              </a:rPr>
              <a:t>No next.Invoke() call. Pipeline ends completely. Every middleware registered AFTER this line is dead code.</a:t>
            </a:r>
            <a:endParaRPr lang="en-US" sz="1000" dirty="0"/>
          </a:p>
        </p:txBody>
      </p:sp>
      <p:sp>
        <p:nvSpPr>
          <p:cNvPr id="25" name="Shape 23"/>
          <p:cNvSpPr/>
          <p:nvPr/>
        </p:nvSpPr>
        <p:spPr>
          <a:xfrm>
            <a:off x="4800600" y="3749040"/>
            <a:ext cx="256032" cy="256032"/>
          </a:xfrm>
          <a:prstGeom prst="ellipse">
            <a:avLst/>
          </a:prstGeom>
          <a:solidFill>
            <a:srgbClr val="EF4444"/>
          </a:solidFill>
          <a:ln w="12700">
            <a:solidFill>
              <a:srgbClr val="EF4444"/>
            </a:solidFill>
            <a:prstDash val="solid"/>
          </a:ln>
        </p:spPr>
      </p:sp>
      <p:sp>
        <p:nvSpPr>
          <p:cNvPr id="26" name="Text 24"/>
          <p:cNvSpPr/>
          <p:nvPr/>
        </p:nvSpPr>
        <p:spPr>
          <a:xfrm>
            <a:off x="5138928" y="3749040"/>
            <a:ext cx="3657600" cy="256032"/>
          </a:xfrm>
          <a:prstGeom prst="rect">
            <a:avLst/>
          </a:prstGeom>
          <a:noFill/>
        </p:spPr>
        <p:txBody>
          <a:bodyPr wrap="square" lIns="0" tIns="0" rIns="0" bIns="0" rtlCol="0" anchor="ctr"/>
          <a:lstStyle/>
          <a:p>
            <a:pPr marL="0" indent="0" algn="l">
              <a:buNone/>
            </a:pPr>
            <a:r>
              <a:rPr lang="en-US" sz="1100" b="1" dirty="0">
                <a:solidFill>
                  <a:srgbClr val="EF4444"/>
                </a:solidFill>
                <a:latin typeface="Calibri" panose="020F0502020204030204" pitchFamily="34" charset="0"/>
                <a:ea typeface="Calibri" panose="020F0502020204030204" pitchFamily="34" charset="-122"/>
                <a:cs typeface="Calibri" panose="020F0502020204030204" pitchFamily="34" charset="-120"/>
              </a:rPr>
              <a:t>Pipeline terminated  nothing after this runs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4444"/>
          </a:solidFill>
          <a:ln w="12700">
            <a:solidFill>
              <a:srgbClr val="EF4444"/>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EF4444"/>
          </a:solidFill>
          <a:ln w="12700">
            <a:solidFill>
              <a:srgbClr val="EF4444"/>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The Run() Trap  Silent. No Errors. Everything Dead.</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50392"/>
            <a:ext cx="8778240" cy="402336"/>
          </a:xfrm>
          <a:prstGeom prst="rect">
            <a:avLst/>
          </a:prstGeom>
          <a:solidFill>
            <a:srgbClr val="FEF2F2"/>
          </a:solidFill>
          <a:ln w="12700">
            <a:solidFill>
              <a:srgbClr val="EF4444"/>
            </a:solidFill>
            <a:prstDash val="solid"/>
          </a:ln>
        </p:spPr>
      </p:sp>
      <p:sp>
        <p:nvSpPr>
          <p:cNvPr id="8" name="Text 6"/>
          <p:cNvSpPr/>
          <p:nvPr/>
        </p:nvSpPr>
        <p:spPr>
          <a:xfrm>
            <a:off x="365760" y="850392"/>
            <a:ext cx="8412480" cy="402336"/>
          </a:xfrm>
          <a:prstGeom prst="rect">
            <a:avLst/>
          </a:prstGeom>
          <a:noFill/>
        </p:spPr>
        <p:txBody>
          <a:bodyPr wrap="square" lIns="0" tIns="0" rIns="0" bIns="0" rtlCol="0" anchor="ctr"/>
          <a:lstStyle/>
          <a:p>
            <a:pPr marL="0" indent="0" algn="l">
              <a:buNone/>
            </a:pPr>
            <a:r>
              <a:rPr lang="en-US" sz="1200" b="1" dirty="0">
                <a:solidFill>
                  <a:srgbClr val="991B1B"/>
                </a:solidFill>
                <a:latin typeface="Calibri" panose="020F0502020204030204" pitchFamily="34" charset="0"/>
                <a:ea typeface="Calibri" panose="020F0502020204030204" pitchFamily="34" charset="-122"/>
                <a:cs typeface="Calibri" panose="020F0502020204030204" pitchFamily="34" charset="-120"/>
              </a:rPr>
              <a:t>No error message. No warning. The app starts  but every API endpoint silently returns 404.</a:t>
            </a:r>
            <a:endParaRPr lang="en-US" sz="1200" dirty="0"/>
          </a:p>
        </p:txBody>
      </p:sp>
      <p:sp>
        <p:nvSpPr>
          <p:cNvPr id="9" name="Shape 7"/>
          <p:cNvSpPr/>
          <p:nvPr/>
        </p:nvSpPr>
        <p:spPr>
          <a:xfrm>
            <a:off x="182880" y="1335024"/>
            <a:ext cx="4251960" cy="260604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0" name="Shape 8"/>
          <p:cNvSpPr/>
          <p:nvPr/>
        </p:nvSpPr>
        <p:spPr>
          <a:xfrm>
            <a:off x="182880" y="1335024"/>
            <a:ext cx="4251960" cy="292608"/>
          </a:xfrm>
          <a:prstGeom prst="rect">
            <a:avLst/>
          </a:prstGeom>
          <a:solidFill>
            <a:srgbClr val="0F172A"/>
          </a:solidFill>
          <a:ln w="12700">
            <a:solidFill>
              <a:srgbClr val="334155"/>
            </a:solidFill>
            <a:prstDash val="solid"/>
          </a:ln>
        </p:spPr>
      </p:sp>
      <p:sp>
        <p:nvSpPr>
          <p:cNvPr id="11" name="Text 9"/>
          <p:cNvSpPr/>
          <p:nvPr/>
        </p:nvSpPr>
        <p:spPr>
          <a:xfrm>
            <a:off x="292608" y="1335024"/>
            <a:ext cx="40325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BROKEN  Can you spot the bug?</a:t>
            </a:r>
            <a:endParaRPr lang="en-US" sz="850" dirty="0"/>
          </a:p>
        </p:txBody>
      </p:sp>
      <p:sp>
        <p:nvSpPr>
          <p:cNvPr id="12" name="Text 10"/>
          <p:cNvSpPr/>
          <p:nvPr/>
        </p:nvSpPr>
        <p:spPr>
          <a:xfrm>
            <a:off x="320040" y="1682496"/>
            <a:ext cx="3977640" cy="2148840"/>
          </a:xfrm>
          <a:prstGeom prst="rect">
            <a:avLst/>
          </a:prstGeom>
          <a:noFill/>
        </p:spPr>
        <p:txBody>
          <a:bodyPr wrap="square" lIns="0" tIns="0" rIns="0" bIns="0" rtlCol="0" anchor="t"/>
          <a:lstStyle/>
          <a:p>
            <a:pPr marL="0" indent="0" algn="l">
              <a:buNone/>
            </a:pPr>
            <a:r>
              <a:rPr lang="en-US" sz="1200" dirty="0">
                <a:solidFill>
                  <a:srgbClr val="FFFFFF"/>
                </a:solidFill>
                <a:latin typeface="Consolas" panose="020B0609020204030204" pitchFamily="34" charset="0"/>
                <a:ea typeface="Consolas" panose="020B0609020204030204" pitchFamily="34" charset="-122"/>
                <a:cs typeface="Consolas" panose="020B0609020204030204" pitchFamily="34" charset="-120"/>
              </a:rPr>
              <a:t>var </a:t>
            </a:r>
            <a:r>
              <a:rPr lang="en-US" sz="12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1200" dirty="0">
                <a:solidFill>
                  <a:srgbClr val="FFFFFF"/>
                </a:solidFill>
                <a:latin typeface="Consolas" panose="020B0609020204030204" pitchFamily="34" charset="0"/>
                <a:ea typeface="Consolas" panose="020B0609020204030204" pitchFamily="34" charset="-122"/>
                <a:cs typeface="Consolas" panose="020B0609020204030204" pitchFamily="34" charset="-120"/>
              </a:rPr>
              <a:t> = builder.Build();</a:t>
            </a:r>
            <a:endParaRPr lang="en-US" sz="1200" dirty="0">
              <a:solidFill>
                <a:srgbClr val="FFFFFF"/>
              </a:solidFill>
              <a:latin typeface="Consolas" panose="020B0609020204030204" pitchFamily="34" charset="0"/>
              <a:ea typeface="Consolas" panose="020B0609020204030204" pitchFamily="34" charset="-122"/>
              <a:cs typeface="Consolas" panose="020B0609020204030204" pitchFamily="34" charset="-120"/>
            </a:endParaRPr>
          </a:p>
          <a:p>
            <a:pPr marL="0" indent="0" algn="l">
              <a:buNone/>
            </a:pPr>
            <a:endParaRPr lang="en-US" sz="1200" dirty="0"/>
          </a:p>
          <a:p>
            <a:pPr marL="0" indent="0" algn="l">
              <a:buNone/>
            </a:pPr>
            <a:r>
              <a:rPr lang="en-US" sz="1200" dirty="0">
                <a:solidFill>
                  <a:srgbClr val="F87171"/>
                </a:solidFill>
                <a:latin typeface="Consolas" panose="020B0609020204030204" pitchFamily="34" charset="0"/>
                <a:ea typeface="Consolas" panose="020B0609020204030204" pitchFamily="34" charset="-122"/>
                <a:cs typeface="Consolas" panose="020B0609020204030204" pitchFamily="34" charset="-120"/>
              </a:rPr>
              <a:t>// Run() TERMINATES the pipeline here</a:t>
            </a:r>
            <a:endParaRPr lang="en-US" sz="1200" dirty="0"/>
          </a:p>
          <a:p>
            <a:pPr marL="0" indent="0" algn="l">
              <a:buNone/>
            </a:pPr>
            <a:r>
              <a:rPr lang="en-US" sz="120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1200" dirty="0">
                <a:solidFill>
                  <a:srgbClr val="FFFFFF"/>
                </a:solidFill>
                <a:latin typeface="Consolas" panose="020B0609020204030204" pitchFamily="34" charset="0"/>
                <a:ea typeface="Consolas" panose="020B0609020204030204" pitchFamily="34" charset="-122"/>
                <a:cs typeface="Consolas" panose="020B0609020204030204" pitchFamily="34" charset="-120"/>
              </a:rPr>
              <a:t>.Run(async context =&gt;</a:t>
            </a:r>
            <a:endParaRPr lang="en-US" sz="1200" dirty="0"/>
          </a:p>
          <a:p>
            <a:pPr marL="0" indent="0" algn="l">
              <a:buNone/>
            </a:pPr>
            <a:r>
              <a:rPr lang="en-US" sz="1200" dirty="0">
                <a:solidFill>
                  <a:srgbClr val="FFFFFF"/>
                </a:solidFill>
                <a:latin typeface="Consolas" panose="020B0609020204030204" pitchFamily="34" charset="0"/>
                <a:ea typeface="Consolas" panose="020B0609020204030204" pitchFamily="34" charset="-122"/>
                <a:cs typeface="Consolas" panose="020B0609020204030204" pitchFamily="34" charset="-120"/>
              </a:rPr>
              <a:t>  await context.Response.WriteAsync("OK"));</a:t>
            </a:r>
            <a:r>
              <a:rPr lang="en-US" sz="1200" dirty="0">
                <a:solidFill>
                  <a:srgbClr val="000000"/>
                </a:solidFill>
                <a:latin typeface="Consolas" panose="020B0609020204030204" pitchFamily="34" charset="0"/>
                <a:ea typeface="Consolas" panose="020B0609020204030204" pitchFamily="34" charset="-122"/>
                <a:cs typeface="Consolas" panose="020B0609020204030204" pitchFamily="34" charset="-120"/>
              </a:rPr>
              <a:t>
</a:t>
            </a:r>
            <a:endParaRPr lang="en-US" sz="1200" dirty="0"/>
          </a:p>
          <a:p>
            <a:pPr marL="0" indent="0" algn="l">
              <a:buNone/>
            </a:pPr>
            <a:r>
              <a:rPr lang="en-US" sz="1200" dirty="0">
                <a:solidFill>
                  <a:srgbClr val="F87171"/>
                </a:solidFill>
                <a:latin typeface="Consolas" panose="020B0609020204030204" pitchFamily="34" charset="0"/>
                <a:ea typeface="Consolas" panose="020B0609020204030204" pitchFamily="34" charset="-122"/>
                <a:cs typeface="Consolas" panose="020B0609020204030204" pitchFamily="34" charset="-120"/>
              </a:rPr>
              <a:t>// DEAD CODE  Run() already killed the pipeline!</a:t>
            </a:r>
            <a:endParaRPr lang="en-US" sz="1200" dirty="0"/>
          </a:p>
          <a:p>
            <a:pPr marL="0" indent="0" algn="l">
              <a:buNone/>
            </a:pPr>
            <a:r>
              <a:rPr lang="en-US" sz="1200" dirty="0">
                <a:solidFill>
                  <a:srgbClr val="4B5563"/>
                </a:solidFill>
                <a:latin typeface="Consolas" panose="020B0609020204030204" pitchFamily="34" charset="0"/>
                <a:ea typeface="Consolas" panose="020B0609020204030204" pitchFamily="34" charset="-122"/>
                <a:cs typeface="Consolas" panose="020B0609020204030204" pitchFamily="34" charset="-120"/>
              </a:rPr>
              <a:t>app.MapGet("/api/enrollments", () =&gt; ...);</a:t>
            </a:r>
            <a:endParaRPr lang="en-US" sz="1200" dirty="0"/>
          </a:p>
          <a:p>
            <a:pPr marL="0" indent="0" algn="l">
              <a:buNone/>
            </a:pPr>
            <a:r>
              <a:rPr lang="en-US" sz="1200" dirty="0">
                <a:solidFill>
                  <a:srgbClr val="4B5563"/>
                </a:solidFill>
                <a:latin typeface="Consolas" panose="020B0609020204030204" pitchFamily="34" charset="0"/>
                <a:ea typeface="Consolas" panose="020B0609020204030204" pitchFamily="34" charset="-122"/>
                <a:cs typeface="Consolas" panose="020B0609020204030204" pitchFamily="34" charset="-120"/>
              </a:rPr>
              <a:t>app.MapGet("/api/courses", () =&gt; ...);</a:t>
            </a:r>
            <a:endParaRPr lang="en-US" sz="1200" dirty="0"/>
          </a:p>
          <a:p>
            <a:pPr marL="0" indent="0" algn="l">
              <a:buNone/>
            </a:pPr>
            <a:r>
              <a:rPr lang="en-US" sz="1200" dirty="0">
                <a:solidFill>
                  <a:srgbClr val="4B5563"/>
                </a:solidFill>
                <a:latin typeface="Consolas" panose="020B0609020204030204" pitchFamily="34" charset="0"/>
                <a:ea typeface="Consolas" panose="020B0609020204030204" pitchFamily="34" charset="-122"/>
                <a:cs typeface="Consolas" panose="020B0609020204030204" pitchFamily="34" charset="-120"/>
              </a:rPr>
              <a:t>app.MapGet("/api/students", () =&gt; ...);</a:t>
            </a:r>
            <a:endParaRPr lang="en-US" sz="1200" dirty="0"/>
          </a:p>
        </p:txBody>
      </p:sp>
      <p:sp>
        <p:nvSpPr>
          <p:cNvPr id="13" name="Shape 11"/>
          <p:cNvSpPr/>
          <p:nvPr/>
        </p:nvSpPr>
        <p:spPr>
          <a:xfrm>
            <a:off x="4663440" y="1335024"/>
            <a:ext cx="4297680" cy="2606040"/>
          </a:xfrm>
          <a:prstGeom prst="rect">
            <a:avLst/>
          </a:prstGeom>
          <a:solidFill>
            <a:srgbClr val="FFF7ED"/>
          </a:solidFill>
          <a:ln w="12700">
            <a:solidFill>
              <a:srgbClr val="F59E0B"/>
            </a:solidFill>
            <a:prstDash val="solid"/>
          </a:ln>
        </p:spPr>
      </p:sp>
      <p:sp>
        <p:nvSpPr>
          <p:cNvPr id="14" name="Text 12"/>
          <p:cNvSpPr/>
          <p:nvPr/>
        </p:nvSpPr>
        <p:spPr>
          <a:xfrm>
            <a:off x="4828032" y="1426464"/>
            <a:ext cx="3931920" cy="320040"/>
          </a:xfrm>
          <a:prstGeom prst="rect">
            <a:avLst/>
          </a:prstGeom>
          <a:noFill/>
        </p:spPr>
        <p:txBody>
          <a:bodyPr wrap="square" lIns="0" tIns="0" rIns="0" bIns="0" rtlCol="0" anchor="ctr"/>
          <a:lstStyle/>
          <a:p>
            <a:pPr marL="0" indent="0" algn="l">
              <a:buNone/>
            </a:pPr>
            <a:r>
              <a:rPr lang="en-US" sz="1250" b="1" dirty="0">
                <a:solidFill>
                  <a:srgbClr val="92400E"/>
                </a:solidFill>
                <a:latin typeface="Calibri" panose="020F0502020204030204" pitchFamily="34" charset="0"/>
                <a:ea typeface="Calibri" panose="020F0502020204030204" pitchFamily="34" charset="-122"/>
                <a:cs typeface="Calibri" panose="020F0502020204030204" pitchFamily="34" charset="-120"/>
              </a:rPr>
              <a:t>What actually happens:</a:t>
            </a:r>
            <a:endParaRPr lang="en-US" sz="1250" dirty="0"/>
          </a:p>
        </p:txBody>
      </p:sp>
      <p:sp>
        <p:nvSpPr>
          <p:cNvPr id="15" name="Text 13"/>
          <p:cNvSpPr/>
          <p:nvPr/>
        </p:nvSpPr>
        <p:spPr>
          <a:xfrm>
            <a:off x="4828032" y="1874520"/>
            <a:ext cx="3931920" cy="301752"/>
          </a:xfrm>
          <a:prstGeom prst="rect">
            <a:avLst/>
          </a:prstGeom>
          <a:noFill/>
        </p:spPr>
        <p:txBody>
          <a:bodyPr wrap="square" lIns="0" tIns="0" rIns="0" bIns="0" rtlCol="0" anchor="ctr"/>
          <a:lstStyle/>
          <a:p>
            <a:pPr marL="0" indent="0" algn="l">
              <a:buNone/>
            </a:pPr>
            <a:r>
              <a:rPr lang="en-US" sz="1100" dirty="0">
                <a:solidFill>
                  <a:srgbClr val="065F46"/>
                </a:solidFill>
                <a:latin typeface="Calibri" panose="020F0502020204030204" pitchFamily="34" charset="0"/>
                <a:ea typeface="Calibri" panose="020F0502020204030204" pitchFamily="34" charset="-122"/>
                <a:cs typeface="Calibri" panose="020F0502020204030204" pitchFamily="34" charset="-120"/>
              </a:rPr>
              <a:t>✓  App starts  no startup error at all</a:t>
            </a:r>
            <a:endParaRPr lang="en-US" sz="1100" dirty="0"/>
          </a:p>
        </p:txBody>
      </p:sp>
      <p:sp>
        <p:nvSpPr>
          <p:cNvPr id="16" name="Text 14"/>
          <p:cNvSpPr/>
          <p:nvPr/>
        </p:nvSpPr>
        <p:spPr>
          <a:xfrm>
            <a:off x="4828032" y="2194560"/>
            <a:ext cx="3931920" cy="301752"/>
          </a:xfrm>
          <a:prstGeom prst="rect">
            <a:avLst/>
          </a:prstGeom>
          <a:noFill/>
        </p:spPr>
        <p:txBody>
          <a:bodyPr wrap="square" lIns="0" tIns="0" rIns="0" bIns="0" rtlCol="0" anchor="ctr"/>
          <a:lstStyle/>
          <a:p>
            <a:pPr marL="0" indent="0" algn="l">
              <a:buNone/>
            </a:pPr>
            <a:r>
              <a:rPr lang="en-US" sz="1100" dirty="0">
                <a:solidFill>
                  <a:srgbClr val="065F46"/>
                </a:solidFill>
                <a:latin typeface="Calibri" panose="020F0502020204030204" pitchFamily="34" charset="0"/>
                <a:ea typeface="Calibri" panose="020F0502020204030204" pitchFamily="34" charset="-122"/>
                <a:cs typeface="Calibri" panose="020F0502020204030204" pitchFamily="34" charset="-120"/>
              </a:rPr>
              <a:t>✓  GET /  responds with 'OK'</a:t>
            </a:r>
            <a:endParaRPr lang="en-US" sz="1100" dirty="0"/>
          </a:p>
        </p:txBody>
      </p:sp>
      <p:sp>
        <p:nvSpPr>
          <p:cNvPr id="17" name="Text 15"/>
          <p:cNvSpPr/>
          <p:nvPr/>
        </p:nvSpPr>
        <p:spPr>
          <a:xfrm>
            <a:off x="4828032" y="2514600"/>
            <a:ext cx="3931920" cy="301752"/>
          </a:xfrm>
          <a:prstGeom prst="rect">
            <a:avLst/>
          </a:prstGeom>
          <a:noFill/>
        </p:spPr>
        <p:txBody>
          <a:bodyPr wrap="square" lIns="0" tIns="0" rIns="0" bIns="0" rtlCol="0" anchor="ctr"/>
          <a:lstStyle/>
          <a:p>
            <a:pPr marL="0" indent="0" algn="l">
              <a:buNone/>
            </a:pPr>
            <a:r>
              <a:rPr lang="en-US" sz="1100" dirty="0">
                <a:solidFill>
                  <a:srgbClr val="EF4444"/>
                </a:solidFill>
                <a:latin typeface="Calibri" panose="020F0502020204030204" pitchFamily="34" charset="0"/>
                <a:ea typeface="Calibri" panose="020F0502020204030204" pitchFamily="34" charset="-122"/>
                <a:cs typeface="Calibri" panose="020F0502020204030204" pitchFamily="34" charset="-120"/>
              </a:rPr>
              <a:t>✗  GET /api/enrollments  →  404</a:t>
            </a:r>
            <a:endParaRPr lang="en-US" sz="1100" dirty="0"/>
          </a:p>
        </p:txBody>
      </p:sp>
      <p:sp>
        <p:nvSpPr>
          <p:cNvPr id="18" name="Text 16"/>
          <p:cNvSpPr/>
          <p:nvPr/>
        </p:nvSpPr>
        <p:spPr>
          <a:xfrm>
            <a:off x="4828032" y="2834640"/>
            <a:ext cx="3931920" cy="301752"/>
          </a:xfrm>
          <a:prstGeom prst="rect">
            <a:avLst/>
          </a:prstGeom>
          <a:noFill/>
        </p:spPr>
        <p:txBody>
          <a:bodyPr wrap="square" lIns="0" tIns="0" rIns="0" bIns="0" rtlCol="0" anchor="ctr"/>
          <a:lstStyle/>
          <a:p>
            <a:pPr marL="0" indent="0" algn="l">
              <a:buNone/>
            </a:pPr>
            <a:r>
              <a:rPr lang="en-US" sz="1100" dirty="0">
                <a:solidFill>
                  <a:srgbClr val="EF4444"/>
                </a:solidFill>
                <a:latin typeface="Calibri" panose="020F0502020204030204" pitchFamily="34" charset="0"/>
                <a:ea typeface="Calibri" panose="020F0502020204030204" pitchFamily="34" charset="-122"/>
                <a:cs typeface="Calibri" panose="020F0502020204030204" pitchFamily="34" charset="-120"/>
              </a:rPr>
              <a:t>✗  GET /api/courses  →  404</a:t>
            </a:r>
            <a:endParaRPr lang="en-US" sz="1100" dirty="0"/>
          </a:p>
        </p:txBody>
      </p:sp>
      <p:sp>
        <p:nvSpPr>
          <p:cNvPr id="19" name="Text 17"/>
          <p:cNvSpPr/>
          <p:nvPr/>
        </p:nvSpPr>
        <p:spPr>
          <a:xfrm>
            <a:off x="4828032" y="3154680"/>
            <a:ext cx="3931920" cy="301752"/>
          </a:xfrm>
          <a:prstGeom prst="rect">
            <a:avLst/>
          </a:prstGeom>
          <a:noFill/>
        </p:spPr>
        <p:txBody>
          <a:bodyPr wrap="square" lIns="0" tIns="0" rIns="0" bIns="0" rtlCol="0" anchor="ctr"/>
          <a:lstStyle/>
          <a:p>
            <a:pPr marL="0" indent="0" algn="l">
              <a:buNone/>
            </a:pPr>
            <a:r>
              <a:rPr lang="en-US" sz="1100" dirty="0">
                <a:solidFill>
                  <a:srgbClr val="EF4444"/>
                </a:solidFill>
                <a:latin typeface="Calibri" panose="020F0502020204030204" pitchFamily="34" charset="0"/>
                <a:ea typeface="Calibri" panose="020F0502020204030204" pitchFamily="34" charset="-122"/>
                <a:cs typeface="Calibri" panose="020F0502020204030204" pitchFamily="34" charset="-120"/>
              </a:rPr>
              <a:t>✗  GET /api/students  →  404</a:t>
            </a:r>
            <a:endParaRPr lang="en-US" sz="1100" dirty="0"/>
          </a:p>
        </p:txBody>
      </p:sp>
      <p:sp>
        <p:nvSpPr>
          <p:cNvPr id="20" name="Text 18"/>
          <p:cNvSpPr/>
          <p:nvPr/>
        </p:nvSpPr>
        <p:spPr>
          <a:xfrm>
            <a:off x="4828032" y="3474720"/>
            <a:ext cx="3931920" cy="301752"/>
          </a:xfrm>
          <a:prstGeom prst="rect">
            <a:avLst/>
          </a:prstGeom>
          <a:noFill/>
        </p:spPr>
        <p:txBody>
          <a:bodyPr wrap="square" lIns="0" tIns="0" rIns="0" bIns="0" rtlCol="0" anchor="ctr"/>
          <a:lstStyle/>
          <a:p>
            <a:pPr marL="0" indent="0" algn="l">
              <a:buNone/>
            </a:pPr>
            <a:r>
              <a:rPr lang="en-US" sz="1100" dirty="0">
                <a:solidFill>
                  <a:srgbClr val="EF4444"/>
                </a:solidFill>
                <a:latin typeface="Calibri" panose="020F0502020204030204" pitchFamily="34" charset="0"/>
                <a:ea typeface="Calibri" panose="020F0502020204030204" pitchFamily="34" charset="-122"/>
                <a:cs typeface="Calibri" panose="020F0502020204030204" pitchFamily="34" charset="-120"/>
              </a:rPr>
              <a:t>✗  Every TMS endpoint is unreachable</a:t>
            </a:r>
            <a:endParaRPr lang="en-US" sz="1100" dirty="0"/>
          </a:p>
        </p:txBody>
      </p:sp>
      <p:sp>
        <p:nvSpPr>
          <p:cNvPr id="21" name="Shape 19"/>
          <p:cNvSpPr/>
          <p:nvPr/>
        </p:nvSpPr>
        <p:spPr>
          <a:xfrm>
            <a:off x="182880" y="4041648"/>
            <a:ext cx="8778240" cy="502920"/>
          </a:xfrm>
          <a:prstGeom prst="rect">
            <a:avLst/>
          </a:prstGeom>
          <a:solidFill>
            <a:srgbClr val="F0FDF4"/>
          </a:solidFill>
          <a:ln w="15240">
            <a:solidFill>
              <a:srgbClr val="10B981"/>
            </a:solidFill>
            <a:prstDash val="solid"/>
          </a:ln>
        </p:spPr>
      </p:sp>
      <p:sp>
        <p:nvSpPr>
          <p:cNvPr id="22" name="Shape 20"/>
          <p:cNvSpPr/>
          <p:nvPr/>
        </p:nvSpPr>
        <p:spPr>
          <a:xfrm>
            <a:off x="182880" y="4041648"/>
            <a:ext cx="54864" cy="502920"/>
          </a:xfrm>
          <a:prstGeom prst="rect">
            <a:avLst/>
          </a:prstGeom>
          <a:solidFill>
            <a:srgbClr val="10B981"/>
          </a:solidFill>
          <a:ln w="12700">
            <a:solidFill>
              <a:srgbClr val="10B981"/>
            </a:solidFill>
            <a:prstDash val="solid"/>
          </a:ln>
        </p:spPr>
      </p:sp>
      <p:sp>
        <p:nvSpPr>
          <p:cNvPr id="23" name="Text 21"/>
          <p:cNvSpPr/>
          <p:nvPr/>
        </p:nvSpPr>
        <p:spPr>
          <a:xfrm>
            <a:off x="365760" y="4041648"/>
            <a:ext cx="8412480" cy="502920"/>
          </a:xfrm>
          <a:prstGeom prst="rect">
            <a:avLst/>
          </a:prstGeom>
          <a:noFill/>
        </p:spPr>
        <p:txBody>
          <a:bodyPr wrap="square" lIns="0" tIns="0" rIns="0" bIns="0" rtlCol="0" anchor="ctr"/>
          <a:lstStyle/>
          <a:p>
            <a:pPr marL="0" indent="0" algn="l">
              <a:buNone/>
            </a:pPr>
            <a:r>
              <a:rPr lang="en-US" sz="1150" b="1" dirty="0">
                <a:solidFill>
                  <a:srgbClr val="065F46"/>
                </a:solidFill>
                <a:latin typeface="Calibri" panose="020F0502020204030204" pitchFamily="34" charset="0"/>
                <a:ea typeface="Calibri" panose="020F0502020204030204" pitchFamily="34" charset="-122"/>
                <a:cs typeface="Calibri" panose="020F0502020204030204" pitchFamily="34" charset="-120"/>
              </a:rPr>
              <a:t>FIX:  Move app.Run() to the very last line. All MapGet(), MapControllers() calls must appear before 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Middleware Order  The Correct Pipeline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41248"/>
            <a:ext cx="8686800" cy="301752"/>
          </a:xfrm>
          <a:prstGeom prst="rect">
            <a:avLst/>
          </a:prstGeom>
          <a:noFill/>
        </p:spPr>
        <p:txBody>
          <a:bodyPr wrap="square" lIns="0" tIns="0" rIns="0" bIns="0" rtlCol="0" anchor="ctr"/>
          <a:lstStyle/>
          <a:p>
            <a:pPr marL="0" indent="0" algn="l">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Each layer depends on work done by the one above it. The rule: ask 'What does this middleware NEED from earlier in the pipeline?'</a:t>
            </a:r>
            <a:endParaRPr lang="en-US" sz="1100" dirty="0"/>
          </a:p>
        </p:txBody>
      </p:sp>
      <p:sp>
        <p:nvSpPr>
          <p:cNvPr id="8" name="Shape 6"/>
          <p:cNvSpPr/>
          <p:nvPr/>
        </p:nvSpPr>
        <p:spPr>
          <a:xfrm>
            <a:off x="182880" y="1280160"/>
            <a:ext cx="329184" cy="329184"/>
          </a:xfrm>
          <a:prstGeom prst="ellipse">
            <a:avLst/>
          </a:prstGeom>
          <a:solidFill>
            <a:srgbClr val="0EA5E9"/>
          </a:solidFill>
          <a:ln w="12700">
            <a:solidFill>
              <a:srgbClr val="0EA5E9"/>
            </a:solidFill>
            <a:prstDash val="solid"/>
          </a:ln>
        </p:spPr>
      </p:sp>
      <p:sp>
        <p:nvSpPr>
          <p:cNvPr id="9" name="Text 7"/>
          <p:cNvSpPr/>
          <p:nvPr/>
        </p:nvSpPr>
        <p:spPr>
          <a:xfrm>
            <a:off x="182880" y="12801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0" name="Text 8"/>
          <p:cNvSpPr/>
          <p:nvPr/>
        </p:nvSpPr>
        <p:spPr>
          <a:xfrm>
            <a:off x="621792" y="12252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Custom Logging Middleware</a:t>
            </a:r>
            <a:endParaRPr lang="en-US" sz="1100" dirty="0"/>
          </a:p>
        </p:txBody>
      </p:sp>
      <p:sp>
        <p:nvSpPr>
          <p:cNvPr id="11" name="Text 9"/>
          <p:cNvSpPr/>
          <p:nvPr/>
        </p:nvSpPr>
        <p:spPr>
          <a:xfrm>
            <a:off x="3566160" y="12252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Wraps everything  measures total time, adds Correlation ID to all logs</a:t>
            </a:r>
            <a:endParaRPr lang="en-US" sz="950" dirty="0"/>
          </a:p>
        </p:txBody>
      </p:sp>
      <p:sp>
        <p:nvSpPr>
          <p:cNvPr id="12" name="Shape 10"/>
          <p:cNvSpPr/>
          <p:nvPr/>
        </p:nvSpPr>
        <p:spPr>
          <a:xfrm>
            <a:off x="347472" y="1609344"/>
            <a:ext cx="0" cy="118872"/>
          </a:xfrm>
          <a:prstGeom prst="line">
            <a:avLst/>
          </a:prstGeom>
          <a:noFill/>
          <a:ln w="12700">
            <a:solidFill>
              <a:srgbClr val="E2E8F0"/>
            </a:solidFill>
            <a:prstDash val="solid"/>
          </a:ln>
        </p:spPr>
      </p:sp>
      <p:sp>
        <p:nvSpPr>
          <p:cNvPr id="13" name="Shape 11"/>
          <p:cNvSpPr/>
          <p:nvPr/>
        </p:nvSpPr>
        <p:spPr>
          <a:xfrm>
            <a:off x="182880" y="1737360"/>
            <a:ext cx="329184" cy="329184"/>
          </a:xfrm>
          <a:prstGeom prst="ellipse">
            <a:avLst/>
          </a:prstGeom>
          <a:solidFill>
            <a:srgbClr val="0D9488"/>
          </a:solidFill>
          <a:ln w="12700">
            <a:solidFill>
              <a:srgbClr val="0D9488"/>
            </a:solidFill>
            <a:prstDash val="solid"/>
          </a:ln>
        </p:spPr>
      </p:sp>
      <p:sp>
        <p:nvSpPr>
          <p:cNvPr id="14" name="Text 12"/>
          <p:cNvSpPr/>
          <p:nvPr/>
        </p:nvSpPr>
        <p:spPr>
          <a:xfrm>
            <a:off x="182880" y="17373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5" name="Text 13"/>
          <p:cNvSpPr/>
          <p:nvPr/>
        </p:nvSpPr>
        <p:spPr>
          <a:xfrm>
            <a:off x="621792" y="16824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UseExceptionHandler()</a:t>
            </a:r>
            <a:endParaRPr lang="en-US" sz="1100" dirty="0"/>
          </a:p>
        </p:txBody>
      </p:sp>
      <p:sp>
        <p:nvSpPr>
          <p:cNvPr id="16" name="Text 14"/>
          <p:cNvSpPr/>
          <p:nvPr/>
        </p:nvSpPr>
        <p:spPr>
          <a:xfrm>
            <a:off x="3566160" y="16824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Catches exceptions from any layer below  must be near the top</a:t>
            </a:r>
            <a:endParaRPr lang="en-US" sz="950" dirty="0"/>
          </a:p>
        </p:txBody>
      </p:sp>
      <p:sp>
        <p:nvSpPr>
          <p:cNvPr id="17" name="Shape 15"/>
          <p:cNvSpPr/>
          <p:nvPr/>
        </p:nvSpPr>
        <p:spPr>
          <a:xfrm>
            <a:off x="347472" y="2066544"/>
            <a:ext cx="0" cy="118872"/>
          </a:xfrm>
          <a:prstGeom prst="line">
            <a:avLst/>
          </a:prstGeom>
          <a:noFill/>
          <a:ln w="12700">
            <a:solidFill>
              <a:srgbClr val="E2E8F0"/>
            </a:solidFill>
            <a:prstDash val="solid"/>
          </a:ln>
        </p:spPr>
      </p:sp>
      <p:sp>
        <p:nvSpPr>
          <p:cNvPr id="18" name="Shape 16"/>
          <p:cNvSpPr/>
          <p:nvPr/>
        </p:nvSpPr>
        <p:spPr>
          <a:xfrm>
            <a:off x="182880" y="2194560"/>
            <a:ext cx="329184" cy="329184"/>
          </a:xfrm>
          <a:prstGeom prst="ellipse">
            <a:avLst/>
          </a:prstGeom>
          <a:solidFill>
            <a:srgbClr val="7C3AED"/>
          </a:solidFill>
          <a:ln w="12700">
            <a:solidFill>
              <a:srgbClr val="7C3AED"/>
            </a:solidFill>
            <a:prstDash val="solid"/>
          </a:ln>
        </p:spPr>
      </p:sp>
      <p:sp>
        <p:nvSpPr>
          <p:cNvPr id="19" name="Text 17"/>
          <p:cNvSpPr/>
          <p:nvPr/>
        </p:nvSpPr>
        <p:spPr>
          <a:xfrm>
            <a:off x="182880" y="21945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0" name="Text 18"/>
          <p:cNvSpPr/>
          <p:nvPr/>
        </p:nvSpPr>
        <p:spPr>
          <a:xfrm>
            <a:off x="621792" y="21396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UseHttpsRedirection()</a:t>
            </a:r>
            <a:endParaRPr lang="en-US" sz="1100" dirty="0"/>
          </a:p>
        </p:txBody>
      </p:sp>
      <p:sp>
        <p:nvSpPr>
          <p:cNvPr id="21" name="Text 19"/>
          <p:cNvSpPr/>
          <p:nvPr/>
        </p:nvSpPr>
        <p:spPr>
          <a:xfrm>
            <a:off x="3566160" y="21396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Forces secure connection before any real work starts</a:t>
            </a:r>
            <a:endParaRPr lang="en-US" sz="950" dirty="0"/>
          </a:p>
        </p:txBody>
      </p:sp>
      <p:sp>
        <p:nvSpPr>
          <p:cNvPr id="22" name="Shape 20"/>
          <p:cNvSpPr/>
          <p:nvPr/>
        </p:nvSpPr>
        <p:spPr>
          <a:xfrm>
            <a:off x="347472" y="2523744"/>
            <a:ext cx="0" cy="118872"/>
          </a:xfrm>
          <a:prstGeom prst="line">
            <a:avLst/>
          </a:prstGeom>
          <a:noFill/>
          <a:ln w="12700">
            <a:solidFill>
              <a:srgbClr val="E2E8F0"/>
            </a:solidFill>
            <a:prstDash val="solid"/>
          </a:ln>
        </p:spPr>
      </p:sp>
      <p:sp>
        <p:nvSpPr>
          <p:cNvPr id="23" name="Shape 21"/>
          <p:cNvSpPr/>
          <p:nvPr/>
        </p:nvSpPr>
        <p:spPr>
          <a:xfrm>
            <a:off x="182880" y="2651760"/>
            <a:ext cx="329184" cy="329184"/>
          </a:xfrm>
          <a:prstGeom prst="ellipse">
            <a:avLst/>
          </a:prstGeom>
          <a:solidFill>
            <a:srgbClr val="6366F1"/>
          </a:solidFill>
          <a:ln w="12700">
            <a:solidFill>
              <a:srgbClr val="6366F1"/>
            </a:solidFill>
            <a:prstDash val="solid"/>
          </a:ln>
        </p:spPr>
      </p:sp>
      <p:sp>
        <p:nvSpPr>
          <p:cNvPr id="24" name="Text 22"/>
          <p:cNvSpPr/>
          <p:nvPr/>
        </p:nvSpPr>
        <p:spPr>
          <a:xfrm>
            <a:off x="182880" y="26517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5" name="Text 23"/>
          <p:cNvSpPr/>
          <p:nvPr/>
        </p:nvSpPr>
        <p:spPr>
          <a:xfrm>
            <a:off x="621792" y="25968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UseRouting()</a:t>
            </a:r>
            <a:endParaRPr lang="en-US" sz="1100" dirty="0"/>
          </a:p>
        </p:txBody>
      </p:sp>
      <p:sp>
        <p:nvSpPr>
          <p:cNvPr id="26" name="Text 24"/>
          <p:cNvSpPr/>
          <p:nvPr/>
        </p:nvSpPr>
        <p:spPr>
          <a:xfrm>
            <a:off x="3566160" y="25968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Determines which endpoint matches  CORS and Auth depend on this</a:t>
            </a:r>
            <a:endParaRPr lang="en-US" sz="950" dirty="0"/>
          </a:p>
        </p:txBody>
      </p:sp>
      <p:sp>
        <p:nvSpPr>
          <p:cNvPr id="27" name="Shape 25"/>
          <p:cNvSpPr/>
          <p:nvPr/>
        </p:nvSpPr>
        <p:spPr>
          <a:xfrm>
            <a:off x="347472" y="2980944"/>
            <a:ext cx="0" cy="118872"/>
          </a:xfrm>
          <a:prstGeom prst="line">
            <a:avLst/>
          </a:prstGeom>
          <a:noFill/>
          <a:ln w="12700">
            <a:solidFill>
              <a:srgbClr val="E2E8F0"/>
            </a:solidFill>
            <a:prstDash val="solid"/>
          </a:ln>
        </p:spPr>
      </p:sp>
      <p:sp>
        <p:nvSpPr>
          <p:cNvPr id="28" name="Shape 26"/>
          <p:cNvSpPr/>
          <p:nvPr/>
        </p:nvSpPr>
        <p:spPr>
          <a:xfrm>
            <a:off x="182880" y="3108960"/>
            <a:ext cx="329184" cy="329184"/>
          </a:xfrm>
          <a:prstGeom prst="ellipse">
            <a:avLst/>
          </a:prstGeom>
          <a:solidFill>
            <a:srgbClr val="F59E0B"/>
          </a:solidFill>
          <a:ln w="12700">
            <a:solidFill>
              <a:srgbClr val="F59E0B"/>
            </a:solidFill>
            <a:prstDash val="solid"/>
          </a:ln>
        </p:spPr>
      </p:sp>
      <p:sp>
        <p:nvSpPr>
          <p:cNvPr id="29" name="Text 27"/>
          <p:cNvSpPr/>
          <p:nvPr/>
        </p:nvSpPr>
        <p:spPr>
          <a:xfrm>
            <a:off x="182880" y="31089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0" name="Text 28"/>
          <p:cNvSpPr/>
          <p:nvPr/>
        </p:nvSpPr>
        <p:spPr>
          <a:xfrm>
            <a:off x="621792" y="30540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UseCors()</a:t>
            </a:r>
            <a:endParaRPr lang="en-US" sz="1100" dirty="0"/>
          </a:p>
        </p:txBody>
      </p:sp>
      <p:sp>
        <p:nvSpPr>
          <p:cNvPr id="31" name="Text 29"/>
          <p:cNvSpPr/>
          <p:nvPr/>
        </p:nvSpPr>
        <p:spPr>
          <a:xfrm>
            <a:off x="3566160" y="30540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After routing so preflight OPTIONS requests get a valid response</a:t>
            </a:r>
            <a:endParaRPr lang="en-US" sz="950" dirty="0"/>
          </a:p>
        </p:txBody>
      </p:sp>
      <p:sp>
        <p:nvSpPr>
          <p:cNvPr id="32" name="Shape 30"/>
          <p:cNvSpPr/>
          <p:nvPr/>
        </p:nvSpPr>
        <p:spPr>
          <a:xfrm>
            <a:off x="347472" y="3438144"/>
            <a:ext cx="0" cy="118872"/>
          </a:xfrm>
          <a:prstGeom prst="line">
            <a:avLst/>
          </a:prstGeom>
          <a:noFill/>
          <a:ln w="12700">
            <a:solidFill>
              <a:srgbClr val="E2E8F0"/>
            </a:solidFill>
            <a:prstDash val="solid"/>
          </a:ln>
        </p:spPr>
      </p:sp>
      <p:sp>
        <p:nvSpPr>
          <p:cNvPr id="33" name="Shape 31"/>
          <p:cNvSpPr/>
          <p:nvPr/>
        </p:nvSpPr>
        <p:spPr>
          <a:xfrm>
            <a:off x="182880" y="3566160"/>
            <a:ext cx="329184" cy="329184"/>
          </a:xfrm>
          <a:prstGeom prst="ellipse">
            <a:avLst/>
          </a:prstGeom>
          <a:solidFill>
            <a:srgbClr val="EF4444"/>
          </a:solidFill>
          <a:ln w="12700">
            <a:solidFill>
              <a:srgbClr val="EF4444"/>
            </a:solidFill>
            <a:prstDash val="solid"/>
          </a:ln>
        </p:spPr>
      </p:sp>
      <p:sp>
        <p:nvSpPr>
          <p:cNvPr id="34" name="Text 32"/>
          <p:cNvSpPr/>
          <p:nvPr/>
        </p:nvSpPr>
        <p:spPr>
          <a:xfrm>
            <a:off x="182880" y="35661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35" name="Text 33"/>
          <p:cNvSpPr/>
          <p:nvPr/>
        </p:nvSpPr>
        <p:spPr>
          <a:xfrm>
            <a:off x="621792" y="35112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UseAuthentication()</a:t>
            </a:r>
            <a:endParaRPr lang="en-US" sz="1100" dirty="0"/>
          </a:p>
        </p:txBody>
      </p:sp>
      <p:sp>
        <p:nvSpPr>
          <p:cNvPr id="36" name="Text 34"/>
          <p:cNvSpPr/>
          <p:nvPr/>
        </p:nvSpPr>
        <p:spPr>
          <a:xfrm>
            <a:off x="3566160" y="35112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Determines WHO the user is  Authorization depends on this</a:t>
            </a:r>
            <a:endParaRPr lang="en-US" sz="950" dirty="0"/>
          </a:p>
        </p:txBody>
      </p:sp>
      <p:sp>
        <p:nvSpPr>
          <p:cNvPr id="37" name="Shape 35"/>
          <p:cNvSpPr/>
          <p:nvPr/>
        </p:nvSpPr>
        <p:spPr>
          <a:xfrm>
            <a:off x="347472" y="3895344"/>
            <a:ext cx="0" cy="118872"/>
          </a:xfrm>
          <a:prstGeom prst="line">
            <a:avLst/>
          </a:prstGeom>
          <a:noFill/>
          <a:ln w="12700">
            <a:solidFill>
              <a:srgbClr val="E2E8F0"/>
            </a:solidFill>
            <a:prstDash val="solid"/>
          </a:ln>
        </p:spPr>
      </p:sp>
      <p:sp>
        <p:nvSpPr>
          <p:cNvPr id="38" name="Shape 36"/>
          <p:cNvSpPr/>
          <p:nvPr/>
        </p:nvSpPr>
        <p:spPr>
          <a:xfrm>
            <a:off x="182880" y="4023360"/>
            <a:ext cx="329184" cy="329184"/>
          </a:xfrm>
          <a:prstGeom prst="ellipse">
            <a:avLst/>
          </a:prstGeom>
          <a:solidFill>
            <a:srgbClr val="EC4899"/>
          </a:solidFill>
          <a:ln w="12700">
            <a:solidFill>
              <a:srgbClr val="EC4899"/>
            </a:solidFill>
            <a:prstDash val="solid"/>
          </a:ln>
        </p:spPr>
      </p:sp>
      <p:sp>
        <p:nvSpPr>
          <p:cNvPr id="39" name="Text 37"/>
          <p:cNvSpPr/>
          <p:nvPr/>
        </p:nvSpPr>
        <p:spPr>
          <a:xfrm>
            <a:off x="182880" y="40233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200" dirty="0"/>
          </a:p>
        </p:txBody>
      </p:sp>
      <p:sp>
        <p:nvSpPr>
          <p:cNvPr id="40" name="Text 38"/>
          <p:cNvSpPr/>
          <p:nvPr/>
        </p:nvSpPr>
        <p:spPr>
          <a:xfrm>
            <a:off x="621792" y="39684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UseAuthorization()</a:t>
            </a:r>
            <a:endParaRPr lang="en-US" sz="1100" dirty="0"/>
          </a:p>
        </p:txBody>
      </p:sp>
      <p:sp>
        <p:nvSpPr>
          <p:cNvPr id="41" name="Text 39"/>
          <p:cNvSpPr/>
          <p:nvPr/>
        </p:nvSpPr>
        <p:spPr>
          <a:xfrm>
            <a:off x="3566160" y="39684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Determines WHAT the user can access  needs Authentication to have run first</a:t>
            </a:r>
            <a:endParaRPr lang="en-US" sz="950" dirty="0"/>
          </a:p>
        </p:txBody>
      </p:sp>
      <p:sp>
        <p:nvSpPr>
          <p:cNvPr id="42" name="Shape 40"/>
          <p:cNvSpPr/>
          <p:nvPr/>
        </p:nvSpPr>
        <p:spPr>
          <a:xfrm>
            <a:off x="347472" y="4352544"/>
            <a:ext cx="0" cy="118872"/>
          </a:xfrm>
          <a:prstGeom prst="line">
            <a:avLst/>
          </a:prstGeom>
          <a:noFill/>
          <a:ln w="12700">
            <a:solidFill>
              <a:srgbClr val="E2E8F0"/>
            </a:solidFill>
            <a:prstDash val="solid"/>
          </a:ln>
        </p:spPr>
      </p:sp>
      <p:sp>
        <p:nvSpPr>
          <p:cNvPr id="43" name="Shape 41"/>
          <p:cNvSpPr/>
          <p:nvPr/>
        </p:nvSpPr>
        <p:spPr>
          <a:xfrm>
            <a:off x="182880" y="4480560"/>
            <a:ext cx="329184" cy="329184"/>
          </a:xfrm>
          <a:prstGeom prst="ellipse">
            <a:avLst/>
          </a:prstGeom>
          <a:solidFill>
            <a:srgbClr val="10B981"/>
          </a:solidFill>
          <a:ln w="12700">
            <a:solidFill>
              <a:srgbClr val="10B981"/>
            </a:solidFill>
            <a:prstDash val="solid"/>
          </a:ln>
        </p:spPr>
      </p:sp>
      <p:sp>
        <p:nvSpPr>
          <p:cNvPr id="44" name="Text 42"/>
          <p:cNvSpPr/>
          <p:nvPr/>
        </p:nvSpPr>
        <p:spPr>
          <a:xfrm>
            <a:off x="182880" y="44805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200" dirty="0"/>
          </a:p>
        </p:txBody>
      </p:sp>
      <p:sp>
        <p:nvSpPr>
          <p:cNvPr id="45" name="Text 43"/>
          <p:cNvSpPr/>
          <p:nvPr/>
        </p:nvSpPr>
        <p:spPr>
          <a:xfrm>
            <a:off x="621792" y="4425696"/>
            <a:ext cx="2834640" cy="41148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MapControllers()  /  app.Run()</a:t>
            </a:r>
            <a:endParaRPr lang="en-US" sz="1100" dirty="0"/>
          </a:p>
        </p:txBody>
      </p:sp>
      <p:sp>
        <p:nvSpPr>
          <p:cNvPr id="46" name="Text 44"/>
          <p:cNvSpPr/>
          <p:nvPr/>
        </p:nvSpPr>
        <p:spPr>
          <a:xfrm>
            <a:off x="3566160" y="4425696"/>
            <a:ext cx="5486400" cy="411480"/>
          </a:xfrm>
          <a:prstGeom prst="rect">
            <a:avLst/>
          </a:prstGeom>
          <a:noFill/>
        </p:spPr>
        <p:txBody>
          <a:bodyPr wrap="square" lIns="0" tIns="0" rIns="0" bIns="0" rtlCol="0" anchor="ctr"/>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Your actual code  runs last, after every security check has passed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F59E0B"/>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F59E0B"/>
          </a:solidFill>
          <a:ln w="12700">
            <a:solidFill>
              <a:srgbClr val="F59E0B"/>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Middleware Order  Real-World Mistakes</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41248"/>
            <a:ext cx="8686800" cy="256032"/>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wrong order has real cost, not style.</a:t>
            </a:r>
            <a:endParaRPr lang="en-US" sz="1050" dirty="0"/>
          </a:p>
        </p:txBody>
      </p:sp>
      <p:sp>
        <p:nvSpPr>
          <p:cNvPr id="8" name="Shape 6"/>
          <p:cNvSpPr/>
          <p:nvPr/>
        </p:nvSpPr>
        <p:spPr>
          <a:xfrm>
            <a:off x="182880" y="1097280"/>
            <a:ext cx="4251960" cy="310896"/>
          </a:xfrm>
          <a:prstGeom prst="rect">
            <a:avLst/>
          </a:prstGeom>
          <a:solidFill>
            <a:srgbClr val="F59E0B"/>
          </a:solidFill>
          <a:ln w="12700">
            <a:solidFill>
              <a:srgbClr val="333333"/>
            </a:solidFill>
            <a:prstDash val="solid"/>
          </a:ln>
        </p:spPr>
      </p:sp>
      <p:sp>
        <p:nvSpPr>
          <p:cNvPr id="9" name="Text 7"/>
          <p:cNvSpPr/>
          <p:nvPr/>
        </p:nvSpPr>
        <p:spPr>
          <a:xfrm>
            <a:off x="256032" y="1097280"/>
            <a:ext cx="4069080" cy="310896"/>
          </a:xfrm>
          <a:prstGeom prst="rect">
            <a:avLst/>
          </a:prstGeom>
          <a:noFill/>
        </p:spPr>
        <p:txBody>
          <a:bodyPr wrap="square" lIns="0" tIns="0" rIns="0" bIns="0" rtlCol="0" anchor="ctr"/>
          <a:lstStyle/>
          <a:p>
            <a:pPr marL="0" indent="0" algn="l">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 1  Authentication before routing</a:t>
            </a:r>
            <a:endParaRPr lang="en-US" sz="1050" dirty="0"/>
          </a:p>
        </p:txBody>
      </p:sp>
      <p:sp>
        <p:nvSpPr>
          <p:cNvPr id="10" name="Shape 8"/>
          <p:cNvSpPr/>
          <p:nvPr/>
        </p:nvSpPr>
        <p:spPr>
          <a:xfrm>
            <a:off x="182880" y="1444752"/>
            <a:ext cx="4251960" cy="1261872"/>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1" name="Shape 9"/>
          <p:cNvSpPr/>
          <p:nvPr/>
        </p:nvSpPr>
        <p:spPr>
          <a:xfrm>
            <a:off x="182880" y="1444752"/>
            <a:ext cx="4251960" cy="292608"/>
          </a:xfrm>
          <a:prstGeom prst="rect">
            <a:avLst/>
          </a:prstGeom>
          <a:solidFill>
            <a:srgbClr val="0F172A"/>
          </a:solidFill>
          <a:ln w="12700">
            <a:solidFill>
              <a:srgbClr val="334155"/>
            </a:solidFill>
            <a:prstDash val="solid"/>
          </a:ln>
        </p:spPr>
      </p:sp>
      <p:sp>
        <p:nvSpPr>
          <p:cNvPr id="12" name="Text 10"/>
          <p:cNvSpPr/>
          <p:nvPr/>
        </p:nvSpPr>
        <p:spPr>
          <a:xfrm>
            <a:off x="292608" y="1444752"/>
            <a:ext cx="40325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a:t>
            </a:r>
            <a:endParaRPr lang="en-US" sz="850" dirty="0"/>
          </a:p>
        </p:txBody>
      </p:sp>
      <p:sp>
        <p:nvSpPr>
          <p:cNvPr id="13" name="Text 11"/>
          <p:cNvSpPr/>
          <p:nvPr/>
        </p:nvSpPr>
        <p:spPr>
          <a:xfrm>
            <a:off x="320040" y="1792224"/>
            <a:ext cx="3977640" cy="804672"/>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.UseAuthentication();  </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runs on EVERY request
</a:t>
            </a:r>
            <a:endParaRPr lang="en-US" sz="850" dirty="0"/>
          </a:p>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.UseRouting();</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including non-existent routes</a:t>
            </a:r>
            <a:endParaRPr lang="en-US" sz="850" dirty="0"/>
          </a:p>
        </p:txBody>
      </p:sp>
      <p:sp>
        <p:nvSpPr>
          <p:cNvPr id="14" name="Text 12"/>
          <p:cNvSpPr/>
          <p:nvPr/>
        </p:nvSpPr>
        <p:spPr>
          <a:xfrm>
            <a:off x="201168" y="2761488"/>
            <a:ext cx="4187952" cy="804672"/>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Result: Auth runs for undefined routes  wasted CPU; callers may see Unauthorized instead of Not Found.</a:t>
            </a:r>
            <a:endParaRPr lang="en-US" sz="950" dirty="0"/>
          </a:p>
        </p:txBody>
      </p:sp>
      <p:sp>
        <p:nvSpPr>
          <p:cNvPr id="15" name="Shape 13"/>
          <p:cNvSpPr/>
          <p:nvPr/>
        </p:nvSpPr>
        <p:spPr>
          <a:xfrm>
            <a:off x="4663440" y="1097280"/>
            <a:ext cx="4297680" cy="310896"/>
          </a:xfrm>
          <a:prstGeom prst="rect">
            <a:avLst/>
          </a:prstGeom>
          <a:solidFill>
            <a:srgbClr val="F59E0B"/>
          </a:solidFill>
          <a:ln w="12700">
            <a:solidFill>
              <a:srgbClr val="333333"/>
            </a:solidFill>
            <a:prstDash val="solid"/>
          </a:ln>
        </p:spPr>
      </p:sp>
      <p:sp>
        <p:nvSpPr>
          <p:cNvPr id="16" name="Text 14"/>
          <p:cNvSpPr/>
          <p:nvPr/>
        </p:nvSpPr>
        <p:spPr>
          <a:xfrm>
            <a:off x="4736592" y="1097280"/>
            <a:ext cx="4114800" cy="310896"/>
          </a:xfrm>
          <a:prstGeom prst="rect">
            <a:avLst/>
          </a:prstGeom>
          <a:noFill/>
        </p:spPr>
        <p:txBody>
          <a:bodyPr wrap="square" lIns="0" tIns="0" rIns="0" bIns="0" rtlCol="0" anchor="ctr"/>
          <a:lstStyle/>
          <a:p>
            <a:pPr marL="0" indent="0" algn="l">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 2  Rate limiting after the handler</a:t>
            </a:r>
            <a:endParaRPr lang="en-US" sz="1050" dirty="0"/>
          </a:p>
        </p:txBody>
      </p:sp>
      <p:sp>
        <p:nvSpPr>
          <p:cNvPr id="17" name="Shape 15"/>
          <p:cNvSpPr/>
          <p:nvPr/>
        </p:nvSpPr>
        <p:spPr>
          <a:xfrm>
            <a:off x="4663440" y="1444752"/>
            <a:ext cx="4297680" cy="1261872"/>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8" name="Shape 16"/>
          <p:cNvSpPr/>
          <p:nvPr/>
        </p:nvSpPr>
        <p:spPr>
          <a:xfrm>
            <a:off x="4663440" y="1444752"/>
            <a:ext cx="4297680" cy="292608"/>
          </a:xfrm>
          <a:prstGeom prst="rect">
            <a:avLst/>
          </a:prstGeom>
          <a:solidFill>
            <a:srgbClr val="0F172A"/>
          </a:solidFill>
          <a:ln w="12700">
            <a:solidFill>
              <a:srgbClr val="334155"/>
            </a:solidFill>
            <a:prstDash val="solid"/>
          </a:ln>
        </p:spPr>
      </p:sp>
      <p:sp>
        <p:nvSpPr>
          <p:cNvPr id="19" name="Text 17"/>
          <p:cNvSpPr/>
          <p:nvPr/>
        </p:nvSpPr>
        <p:spPr>
          <a:xfrm>
            <a:off x="4773168" y="1444752"/>
            <a:ext cx="407822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a:t>
            </a:r>
            <a:endParaRPr lang="en-US" sz="850" dirty="0"/>
          </a:p>
        </p:txBody>
      </p:sp>
      <p:sp>
        <p:nvSpPr>
          <p:cNvPr id="20" name="Text 18"/>
          <p:cNvSpPr/>
          <p:nvPr/>
        </p:nvSpPr>
        <p:spPr>
          <a:xfrm>
            <a:off x="4800600" y="1792224"/>
            <a:ext cx="4023360" cy="804672"/>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.MapGet("/api/grades", () =&gt; </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db.Query(...));  // expensive
</a:t>
            </a:r>
            <a:endParaRPr lang="en-US" sz="850" dirty="0"/>
          </a:p>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.UseRateLimiting();  // too late</a:t>
            </a:r>
            <a:endParaRPr lang="en-US" sz="850" dirty="0"/>
          </a:p>
        </p:txBody>
      </p:sp>
      <p:sp>
        <p:nvSpPr>
          <p:cNvPr id="21" name="Text 19"/>
          <p:cNvSpPr/>
          <p:nvPr/>
        </p:nvSpPr>
        <p:spPr>
          <a:xfrm>
            <a:off x="4681728" y="2761488"/>
            <a:ext cx="4187952" cy="804672"/>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Result: The expensive work already executed  throttling cannot protect capacity.</a:t>
            </a:r>
            <a:endParaRPr lang="en-US" sz="950" dirty="0"/>
          </a:p>
        </p:txBody>
      </p:sp>
      <p:sp>
        <p:nvSpPr>
          <p:cNvPr id="22" name="Shape 20"/>
          <p:cNvSpPr/>
          <p:nvPr/>
        </p:nvSpPr>
        <p:spPr>
          <a:xfrm>
            <a:off x="182880" y="3675888"/>
            <a:ext cx="8778240" cy="868680"/>
          </a:xfrm>
          <a:prstGeom prst="rect">
            <a:avLst/>
          </a:prstGeom>
          <a:solidFill>
            <a:srgbClr val="EFF6FF"/>
          </a:solidFill>
          <a:ln w="12700">
            <a:solidFill>
              <a:srgbClr val="0EA5E9"/>
            </a:solidFill>
            <a:prstDash val="solid"/>
          </a:ln>
        </p:spPr>
      </p:sp>
      <p:sp>
        <p:nvSpPr>
          <p:cNvPr id="23" name="Shape 21"/>
          <p:cNvSpPr/>
          <p:nvPr/>
        </p:nvSpPr>
        <p:spPr>
          <a:xfrm>
            <a:off x="182880" y="3675888"/>
            <a:ext cx="54864" cy="868680"/>
          </a:xfrm>
          <a:prstGeom prst="rect">
            <a:avLst/>
          </a:prstGeom>
          <a:solidFill>
            <a:srgbClr val="0EA5E9"/>
          </a:solidFill>
          <a:ln w="12700">
            <a:solidFill>
              <a:srgbClr val="0EA5E9"/>
            </a:solidFill>
            <a:prstDash val="solid"/>
          </a:ln>
        </p:spPr>
      </p:sp>
      <p:sp>
        <p:nvSpPr>
          <p:cNvPr id="24" name="Text 22"/>
          <p:cNvSpPr/>
          <p:nvPr/>
        </p:nvSpPr>
        <p:spPr>
          <a:xfrm>
            <a:off x="365760" y="3767328"/>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Contrast with previous slide</a:t>
            </a:r>
            <a:endParaRPr lang="en-US" sz="1000" dirty="0"/>
          </a:p>
        </p:txBody>
      </p:sp>
      <p:sp>
        <p:nvSpPr>
          <p:cNvPr id="25" name="Text 23"/>
          <p:cNvSpPr/>
          <p:nvPr/>
        </p:nvSpPr>
        <p:spPr>
          <a:xfrm>
            <a:off x="365760" y="4059936"/>
            <a:ext cx="8503920" cy="36576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Canonical order puts routing before auth so 404s skip auth, and cross-cutting limits before endpoints so work is gated.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EA5E9"/>
          </a:solidFill>
          <a:ln w="12700">
            <a:solidFill>
              <a:srgbClr val="0EA5E9"/>
            </a:solidFill>
            <a:prstDash val="solid"/>
          </a:ln>
        </p:spPr>
      </p:sp>
      <p:sp>
        <p:nvSpPr>
          <p:cNvPr id="3" name="Shape 1"/>
          <p:cNvSpPr/>
          <p:nvPr/>
        </p:nvSpPr>
        <p:spPr>
          <a:xfrm>
            <a:off x="0" y="5052060"/>
            <a:ext cx="9144000" cy="91440"/>
          </a:xfrm>
          <a:prstGeom prst="rect">
            <a:avLst/>
          </a:prstGeom>
          <a:solidFill>
            <a:srgbClr val="0D9488"/>
          </a:solidFill>
          <a:ln w="12700">
            <a:solidFill>
              <a:srgbClr val="0D9488"/>
            </a:solidFill>
            <a:prstDash val="solid"/>
          </a:ln>
        </p:spPr>
      </p:sp>
      <p:sp>
        <p:nvSpPr>
          <p:cNvPr id="4" name="Text 2"/>
          <p:cNvSpPr/>
          <p:nvPr/>
        </p:nvSpPr>
        <p:spPr>
          <a:xfrm>
            <a:off x="457200" y="457200"/>
            <a:ext cx="1828800" cy="411480"/>
          </a:xfrm>
          <a:prstGeom prst="rect">
            <a:avLst/>
          </a:prstGeom>
          <a:noFill/>
        </p:spPr>
        <p:txBody>
          <a:bodyPr wrap="square" lIns="0" tIns="0" rIns="0" bIns="0" rtlCol="0" anchor="ctr"/>
          <a:lstStyle/>
          <a:p>
            <a:pPr marL="0" indent="0" algn="l">
              <a:buNone/>
            </a:pPr>
            <a:r>
              <a:rPr lang="en-US" sz="1300" kern="0" spc="300" dirty="0">
                <a:solidFill>
                  <a:srgbClr val="0EA5E9"/>
                </a:solidFill>
                <a:latin typeface="Calibri" panose="020F0502020204030204" pitchFamily="34" charset="0"/>
                <a:ea typeface="Calibri" panose="020F0502020204030204" pitchFamily="34" charset="-122"/>
                <a:cs typeface="Calibri" panose="020F0502020204030204" pitchFamily="34" charset="-120"/>
              </a:rPr>
              <a:t>Lab 1</a:t>
            </a:r>
            <a:endParaRPr lang="en-US" sz="1300" dirty="0"/>
          </a:p>
        </p:txBody>
      </p:sp>
      <p:sp>
        <p:nvSpPr>
          <p:cNvPr id="5" name="Text 3"/>
          <p:cNvSpPr/>
          <p:nvPr/>
        </p:nvSpPr>
        <p:spPr>
          <a:xfrm>
            <a:off x="457200" y="868680"/>
            <a:ext cx="6400800" cy="841248"/>
          </a:xfrm>
          <a:prstGeom prst="rect">
            <a:avLst/>
          </a:prstGeom>
          <a:noFill/>
        </p:spPr>
        <p:txBody>
          <a:bodyPr wrap="square" lIns="0" tIns="0" rIns="0" bIns="0" rtlCol="0" anchor="ctr"/>
          <a:lstStyle/>
          <a:p>
            <a:pPr marL="0" indent="0" algn="l">
              <a:buNone/>
            </a:pPr>
            <a:r>
              <a:rPr lang="en-US" sz="4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Blind Server</a:t>
            </a:r>
            <a:endParaRPr lang="en-US" sz="4200" dirty="0"/>
          </a:p>
        </p:txBody>
      </p:sp>
      <p:sp>
        <p:nvSpPr>
          <p:cNvPr id="6" name="Text 4"/>
          <p:cNvSpPr/>
          <p:nvPr/>
        </p:nvSpPr>
        <p:spPr>
          <a:xfrm>
            <a:off x="457200" y="1783080"/>
            <a:ext cx="6400800" cy="384048"/>
          </a:xfrm>
          <a:prstGeom prst="rect">
            <a:avLst/>
          </a:prstGeom>
          <a:noFill/>
        </p:spPr>
        <p:txBody>
          <a:bodyPr wrap="square" lIns="0" tIns="0" rIns="0" bIns="0" rtlCol="0" anchor="ctr"/>
          <a:lstStyle/>
          <a:p>
            <a:pPr marL="0" indent="0" algn="l">
              <a:buNone/>
            </a:pPr>
            <a:r>
              <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rPr>
              <a:t>Pipeline Repair  Middleware Ordering</a:t>
            </a:r>
            <a:endParaRPr lang="en-US" sz="1600" dirty="0"/>
          </a:p>
        </p:txBody>
      </p:sp>
      <p:sp>
        <p:nvSpPr>
          <p:cNvPr id="7" name="Shape 5"/>
          <p:cNvSpPr/>
          <p:nvPr/>
        </p:nvSpPr>
        <p:spPr>
          <a:xfrm>
            <a:off x="457200" y="2267712"/>
            <a:ext cx="4114800" cy="0"/>
          </a:xfrm>
          <a:prstGeom prst="line">
            <a:avLst/>
          </a:prstGeom>
          <a:noFill/>
          <a:ln w="12700">
            <a:solidFill>
              <a:srgbClr val="0EA5E9"/>
            </a:solidFill>
            <a:prstDash val="solid"/>
          </a:ln>
        </p:spPr>
      </p:sp>
      <p:sp>
        <p:nvSpPr>
          <p:cNvPr id="8" name="Shape 6"/>
          <p:cNvSpPr/>
          <p:nvPr/>
        </p:nvSpPr>
        <p:spPr>
          <a:xfrm>
            <a:off x="457200" y="2468880"/>
            <a:ext cx="274320" cy="274320"/>
          </a:xfrm>
          <a:prstGeom prst="ellipse">
            <a:avLst/>
          </a:prstGeom>
          <a:solidFill>
            <a:srgbClr val="0EA5E9"/>
          </a:solidFill>
          <a:ln w="12700">
            <a:solidFill>
              <a:srgbClr val="0EA5E9"/>
            </a:solidFill>
            <a:prstDash val="solid"/>
          </a:ln>
        </p:spPr>
      </p:sp>
      <p:sp>
        <p:nvSpPr>
          <p:cNvPr id="9" name="Text 7"/>
          <p:cNvSpPr/>
          <p:nvPr/>
        </p:nvSpPr>
        <p:spPr>
          <a:xfrm>
            <a:off x="457200" y="2468880"/>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10" name="Text 8"/>
          <p:cNvSpPr/>
          <p:nvPr/>
        </p:nvSpPr>
        <p:spPr>
          <a:xfrm>
            <a:off x="868680" y="2468880"/>
            <a:ext cx="7772400" cy="347472"/>
          </a:xfrm>
          <a:prstGeom prst="rect">
            <a:avLst/>
          </a:prstGeom>
          <a:noFill/>
        </p:spPr>
        <p:txBody>
          <a:bodyPr wrap="square" lIns="0" tIns="0" rIns="0" bIns="0" rtlCol="0" anchor="ctr"/>
          <a:lstStyle/>
          <a:p>
            <a:pPr marL="0" indent="0" algn="l">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An endpoint returns sensitive GPA data to anonymous users  find out why</a:t>
            </a:r>
            <a:endParaRPr lang="en-US" sz="1200" dirty="0"/>
          </a:p>
        </p:txBody>
      </p:sp>
      <p:sp>
        <p:nvSpPr>
          <p:cNvPr id="11" name="Shape 9"/>
          <p:cNvSpPr/>
          <p:nvPr/>
        </p:nvSpPr>
        <p:spPr>
          <a:xfrm>
            <a:off x="457200" y="2944368"/>
            <a:ext cx="274320" cy="274320"/>
          </a:xfrm>
          <a:prstGeom prst="ellipse">
            <a:avLst/>
          </a:prstGeom>
          <a:solidFill>
            <a:srgbClr val="0EA5E9"/>
          </a:solidFill>
          <a:ln w="12700">
            <a:solidFill>
              <a:srgbClr val="0EA5E9"/>
            </a:solidFill>
            <a:prstDash val="solid"/>
          </a:ln>
        </p:spPr>
      </p:sp>
      <p:sp>
        <p:nvSpPr>
          <p:cNvPr id="12" name="Text 10"/>
          <p:cNvSpPr/>
          <p:nvPr/>
        </p:nvSpPr>
        <p:spPr>
          <a:xfrm>
            <a:off x="457200" y="2944368"/>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13" name="Text 11"/>
          <p:cNvSpPr/>
          <p:nvPr/>
        </p:nvSpPr>
        <p:spPr>
          <a:xfrm>
            <a:off x="868680" y="2944368"/>
            <a:ext cx="7772400" cy="347472"/>
          </a:xfrm>
          <a:prstGeom prst="rect">
            <a:avLst/>
          </a:prstGeom>
          <a:noFill/>
        </p:spPr>
        <p:txBody>
          <a:bodyPr wrap="square" lIns="0" tIns="0" rIns="0" bIns="0" rtlCol="0" anchor="ctr"/>
          <a:lstStyle/>
          <a:p>
            <a:pPr marL="0" indent="0" algn="l">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Read the legacy Program.cs and identify the ordering mistake</a:t>
            </a:r>
            <a:endParaRPr lang="en-US" sz="1200" dirty="0"/>
          </a:p>
        </p:txBody>
      </p:sp>
      <p:sp>
        <p:nvSpPr>
          <p:cNvPr id="14" name="Shape 12"/>
          <p:cNvSpPr/>
          <p:nvPr/>
        </p:nvSpPr>
        <p:spPr>
          <a:xfrm>
            <a:off x="457200" y="3419856"/>
            <a:ext cx="274320" cy="274320"/>
          </a:xfrm>
          <a:prstGeom prst="ellipse">
            <a:avLst/>
          </a:prstGeom>
          <a:solidFill>
            <a:srgbClr val="0EA5E9"/>
          </a:solidFill>
          <a:ln w="12700">
            <a:solidFill>
              <a:srgbClr val="0EA5E9"/>
            </a:solidFill>
            <a:prstDash val="solid"/>
          </a:ln>
        </p:spPr>
      </p:sp>
      <p:sp>
        <p:nvSpPr>
          <p:cNvPr id="15" name="Text 13"/>
          <p:cNvSpPr/>
          <p:nvPr/>
        </p:nvSpPr>
        <p:spPr>
          <a:xfrm>
            <a:off x="457200" y="3419856"/>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
        <p:nvSpPr>
          <p:cNvPr id="16" name="Text 14"/>
          <p:cNvSpPr/>
          <p:nvPr/>
        </p:nvSpPr>
        <p:spPr>
          <a:xfrm>
            <a:off x="868680" y="3419856"/>
            <a:ext cx="7772400" cy="347472"/>
          </a:xfrm>
          <a:prstGeom prst="rect">
            <a:avLst/>
          </a:prstGeom>
          <a:noFill/>
        </p:spPr>
        <p:txBody>
          <a:bodyPr wrap="square" lIns="0" tIns="0" rIns="0" bIns="0" rtlCol="0" anchor="ctr"/>
          <a:lstStyle/>
          <a:p>
            <a:pPr marL="0" indent="0" algn="l">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Rewrite the pipeline in the correct sequence</a:t>
            </a:r>
            <a:endParaRPr lang="en-US" sz="1200" dirty="0"/>
          </a:p>
        </p:txBody>
      </p:sp>
      <p:sp>
        <p:nvSpPr>
          <p:cNvPr id="17" name="Shape 15"/>
          <p:cNvSpPr/>
          <p:nvPr/>
        </p:nvSpPr>
        <p:spPr>
          <a:xfrm>
            <a:off x="457200" y="3895344"/>
            <a:ext cx="274320" cy="274320"/>
          </a:xfrm>
          <a:prstGeom prst="ellipse">
            <a:avLst/>
          </a:prstGeom>
          <a:solidFill>
            <a:srgbClr val="0EA5E9"/>
          </a:solidFill>
          <a:ln w="12700">
            <a:solidFill>
              <a:srgbClr val="0EA5E9"/>
            </a:solidFill>
            <a:prstDash val="solid"/>
          </a:ln>
        </p:spPr>
      </p:sp>
      <p:sp>
        <p:nvSpPr>
          <p:cNvPr id="18" name="Text 16"/>
          <p:cNvSpPr/>
          <p:nvPr/>
        </p:nvSpPr>
        <p:spPr>
          <a:xfrm>
            <a:off x="457200" y="3895344"/>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
        <p:nvSpPr>
          <p:cNvPr id="19" name="Text 17"/>
          <p:cNvSpPr/>
          <p:nvPr/>
        </p:nvSpPr>
        <p:spPr>
          <a:xfrm>
            <a:off x="868680" y="3895344"/>
            <a:ext cx="7772400" cy="347472"/>
          </a:xfrm>
          <a:prstGeom prst="rect">
            <a:avLst/>
          </a:prstGeom>
          <a:noFill/>
        </p:spPr>
        <p:txBody>
          <a:bodyPr wrap="square" lIns="0" tIns="0" rIns="0" bIns="0" rtlCol="0" anchor="ctr"/>
          <a:lstStyle/>
          <a:p>
            <a:pPr marL="0" indent="0" algn="l">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Verify the endpoint now correctly rejects unauthenticated requests</a:t>
            </a:r>
            <a:endParaRPr lang="en-US" sz="1200" dirty="0"/>
          </a:p>
        </p:txBody>
      </p:sp>
      <p:sp>
        <p:nvSpPr>
          <p:cNvPr id="20" name="Shape 18"/>
          <p:cNvSpPr/>
          <p:nvPr/>
        </p:nvSpPr>
        <p:spPr>
          <a:xfrm>
            <a:off x="457200" y="4462272"/>
            <a:ext cx="5029200" cy="384048"/>
          </a:xfrm>
          <a:prstGeom prst="rect">
            <a:avLst/>
          </a:prstGeom>
          <a:solidFill>
            <a:srgbClr val="0D1B36"/>
          </a:solidFill>
          <a:ln w="12700">
            <a:solidFill>
              <a:srgbClr val="0EA5E9"/>
            </a:solidFill>
            <a:prstDash val="solid"/>
          </a:ln>
        </p:spPr>
      </p:sp>
      <p:sp>
        <p:nvSpPr>
          <p:cNvPr id="21" name="Text 19"/>
          <p:cNvSpPr/>
          <p:nvPr/>
        </p:nvSpPr>
        <p:spPr>
          <a:xfrm>
            <a:off x="457200" y="4462272"/>
            <a:ext cx="5029200" cy="384048"/>
          </a:xfrm>
          <a:prstGeom prst="rect">
            <a:avLst/>
          </a:prstGeom>
          <a:noFill/>
        </p:spPr>
        <p:txBody>
          <a:bodyPr wrap="square" lIns="0" tIns="0" rIns="0" bIns="0" rtlCol="0" anchor="ctr"/>
          <a:lstStyle/>
          <a:p>
            <a:pPr marL="0" indent="0" algn="ctr">
              <a:buNone/>
            </a:pPr>
            <a:r>
              <a:rPr lang="en-US" sz="1100" dirty="0">
                <a:solidFill>
                  <a:srgbClr val="0EA5E9"/>
                </a:solidFill>
                <a:latin typeface="Calibri" panose="020F0502020204030204" pitchFamily="34" charset="0"/>
                <a:ea typeface="Calibri" panose="020F0502020204030204" pitchFamily="34" charset="-122"/>
                <a:cs typeface="Calibri" panose="020F0502020204030204" pitchFamily="34" charset="-120"/>
              </a:rPr>
              <a:t>Full steps in  M4-Lab-Session-1.·  Exercise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Session 1 Summary  What You Learned</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914400"/>
            <a:ext cx="8778240" cy="603504"/>
          </a:xfrm>
          <a:prstGeom prst="rect">
            <a:avLst/>
          </a:prstGeom>
          <a:solidFill>
            <a:srgbClr val="F8FAFC"/>
          </a:solidFill>
          <a:ln w="6350">
            <a:solidFill>
              <a:srgbClr val="E2E8F0"/>
            </a:solidFill>
            <a:prstDash val="solid"/>
          </a:ln>
        </p:spPr>
      </p:sp>
      <p:sp>
        <p:nvSpPr>
          <p:cNvPr id="8" name="Shape 6"/>
          <p:cNvSpPr/>
          <p:nvPr/>
        </p:nvSpPr>
        <p:spPr>
          <a:xfrm>
            <a:off x="182880" y="914400"/>
            <a:ext cx="54864" cy="603504"/>
          </a:xfrm>
          <a:prstGeom prst="rect">
            <a:avLst/>
          </a:prstGeom>
          <a:solidFill>
            <a:srgbClr val="0EA5E9"/>
          </a:solidFill>
          <a:ln w="12700">
            <a:solidFill>
              <a:srgbClr val="0EA5E9"/>
            </a:solidFill>
            <a:prstDash val="solid"/>
          </a:ln>
        </p:spPr>
      </p:sp>
      <p:sp>
        <p:nvSpPr>
          <p:cNvPr id="9" name="Text 7"/>
          <p:cNvSpPr/>
          <p:nvPr/>
        </p:nvSpPr>
        <p:spPr>
          <a:xfrm>
            <a:off x="347472" y="987552"/>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JIT Compilation</a:t>
            </a:r>
            <a:endParaRPr lang="en-US" sz="1150" dirty="0"/>
          </a:p>
        </p:txBody>
      </p:sp>
      <p:sp>
        <p:nvSpPr>
          <p:cNvPr id="10" name="Text 8"/>
          <p:cNvSpPr/>
          <p:nvPr/>
        </p:nvSpPr>
        <p:spPr>
          <a:xfrm>
            <a:off x="2651760" y="987552"/>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C# → IL → machine code at runtime. Compiles once per method, then cached. Debug mode slows it deliberately.</a:t>
            </a:r>
            <a:endParaRPr lang="en-US" sz="1050" dirty="0"/>
          </a:p>
        </p:txBody>
      </p:sp>
      <p:sp>
        <p:nvSpPr>
          <p:cNvPr id="11" name="Shape 9"/>
          <p:cNvSpPr/>
          <p:nvPr/>
        </p:nvSpPr>
        <p:spPr>
          <a:xfrm>
            <a:off x="182880" y="1591056"/>
            <a:ext cx="8778240" cy="603504"/>
          </a:xfrm>
          <a:prstGeom prst="rect">
            <a:avLst/>
          </a:prstGeom>
          <a:solidFill>
            <a:srgbClr val="F8FAFC"/>
          </a:solidFill>
          <a:ln w="6350">
            <a:solidFill>
              <a:srgbClr val="E2E8F0"/>
            </a:solidFill>
            <a:prstDash val="solid"/>
          </a:ln>
        </p:spPr>
      </p:sp>
      <p:sp>
        <p:nvSpPr>
          <p:cNvPr id="12" name="Shape 10"/>
          <p:cNvSpPr/>
          <p:nvPr/>
        </p:nvSpPr>
        <p:spPr>
          <a:xfrm>
            <a:off x="182880" y="1591056"/>
            <a:ext cx="54864" cy="603504"/>
          </a:xfrm>
          <a:prstGeom prst="rect">
            <a:avLst/>
          </a:prstGeom>
          <a:solidFill>
            <a:srgbClr val="0D9488"/>
          </a:solidFill>
          <a:ln w="12700">
            <a:solidFill>
              <a:srgbClr val="0D9488"/>
            </a:solidFill>
            <a:prstDash val="solid"/>
          </a:ln>
        </p:spPr>
      </p:sp>
      <p:sp>
        <p:nvSpPr>
          <p:cNvPr id="13" name="Text 11"/>
          <p:cNvSpPr/>
          <p:nvPr/>
        </p:nvSpPr>
        <p:spPr>
          <a:xfrm>
            <a:off x="347472" y="1664208"/>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Debug vs Release</a:t>
            </a:r>
            <a:endParaRPr lang="en-US" sz="1150" dirty="0"/>
          </a:p>
        </p:txBody>
      </p:sp>
      <p:sp>
        <p:nvSpPr>
          <p:cNvPr id="14" name="Text 12"/>
          <p:cNvSpPr/>
          <p:nvPr/>
        </p:nvSpPr>
        <p:spPr>
          <a:xfrm>
            <a:off x="2651760" y="1664208"/>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Always benchmark in Release. Debug preserves debuggability; Release applies aggressive JIT optimization.</a:t>
            </a:r>
            <a:endParaRPr lang="en-US" sz="1050" dirty="0"/>
          </a:p>
        </p:txBody>
      </p:sp>
      <p:sp>
        <p:nvSpPr>
          <p:cNvPr id="15" name="Shape 13"/>
          <p:cNvSpPr/>
          <p:nvPr/>
        </p:nvSpPr>
        <p:spPr>
          <a:xfrm>
            <a:off x="182880" y="2267712"/>
            <a:ext cx="8778240" cy="603504"/>
          </a:xfrm>
          <a:prstGeom prst="rect">
            <a:avLst/>
          </a:prstGeom>
          <a:solidFill>
            <a:srgbClr val="F8FAFC"/>
          </a:solidFill>
          <a:ln w="6350">
            <a:solidFill>
              <a:srgbClr val="E2E8F0"/>
            </a:solidFill>
            <a:prstDash val="solid"/>
          </a:ln>
        </p:spPr>
      </p:sp>
      <p:sp>
        <p:nvSpPr>
          <p:cNvPr id="16" name="Shape 14"/>
          <p:cNvSpPr/>
          <p:nvPr/>
        </p:nvSpPr>
        <p:spPr>
          <a:xfrm>
            <a:off x="182880" y="2267712"/>
            <a:ext cx="54864" cy="603504"/>
          </a:xfrm>
          <a:prstGeom prst="rect">
            <a:avLst/>
          </a:prstGeom>
          <a:solidFill>
            <a:srgbClr val="7C3AED"/>
          </a:solidFill>
          <a:ln w="12700">
            <a:solidFill>
              <a:srgbClr val="7C3AED"/>
            </a:solidFill>
            <a:prstDash val="solid"/>
          </a:ln>
        </p:spPr>
      </p:sp>
      <p:sp>
        <p:nvSpPr>
          <p:cNvPr id="17" name="Text 15"/>
          <p:cNvSpPr/>
          <p:nvPr/>
        </p:nvSpPr>
        <p:spPr>
          <a:xfrm>
            <a:off x="347472" y="2340864"/>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Request Pipeline</a:t>
            </a:r>
            <a:endParaRPr lang="en-US" sz="1150" dirty="0"/>
          </a:p>
        </p:txBody>
      </p:sp>
      <p:sp>
        <p:nvSpPr>
          <p:cNvPr id="18" name="Text 16"/>
          <p:cNvSpPr/>
          <p:nvPr/>
        </p:nvSpPr>
        <p:spPr>
          <a:xfrm>
            <a:off x="2651760" y="2340864"/>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Every request flows through middleware in order  down on the way in, back up on the way out.</a:t>
            </a:r>
            <a:endParaRPr lang="en-US" sz="1050" dirty="0"/>
          </a:p>
        </p:txBody>
      </p:sp>
      <p:sp>
        <p:nvSpPr>
          <p:cNvPr id="19" name="Shape 17"/>
          <p:cNvSpPr/>
          <p:nvPr/>
        </p:nvSpPr>
        <p:spPr>
          <a:xfrm>
            <a:off x="182880" y="2944368"/>
            <a:ext cx="8778240" cy="603504"/>
          </a:xfrm>
          <a:prstGeom prst="rect">
            <a:avLst/>
          </a:prstGeom>
          <a:solidFill>
            <a:srgbClr val="F8FAFC"/>
          </a:solidFill>
          <a:ln w="6350">
            <a:solidFill>
              <a:srgbClr val="E2E8F0"/>
            </a:solidFill>
            <a:prstDash val="solid"/>
          </a:ln>
        </p:spPr>
      </p:sp>
      <p:sp>
        <p:nvSpPr>
          <p:cNvPr id="20" name="Shape 18"/>
          <p:cNvSpPr/>
          <p:nvPr/>
        </p:nvSpPr>
        <p:spPr>
          <a:xfrm>
            <a:off x="182880" y="2944368"/>
            <a:ext cx="54864" cy="603504"/>
          </a:xfrm>
          <a:prstGeom prst="rect">
            <a:avLst/>
          </a:prstGeom>
          <a:solidFill>
            <a:srgbClr val="F59E0B"/>
          </a:solidFill>
          <a:ln w="12700">
            <a:solidFill>
              <a:srgbClr val="F59E0B"/>
            </a:solidFill>
            <a:prstDash val="solid"/>
          </a:ln>
        </p:spPr>
      </p:sp>
      <p:sp>
        <p:nvSpPr>
          <p:cNvPr id="21" name="Text 19"/>
          <p:cNvSpPr/>
          <p:nvPr/>
        </p:nvSpPr>
        <p:spPr>
          <a:xfrm>
            <a:off x="347472" y="3017520"/>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Use() vs Run()</a:t>
            </a:r>
            <a:endParaRPr lang="en-US" sz="1150" dirty="0"/>
          </a:p>
        </p:txBody>
      </p:sp>
      <p:sp>
        <p:nvSpPr>
          <p:cNvPr id="22" name="Text 20"/>
          <p:cNvSpPr/>
          <p:nvPr/>
        </p:nvSpPr>
        <p:spPr>
          <a:xfrm>
            <a:off x="2651760" y="3017520"/>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Use() calls next.Invoke() to continue. Run() terminates. Forgetting next silently kills everything after it.</a:t>
            </a:r>
            <a:endParaRPr lang="en-US" sz="1050" dirty="0"/>
          </a:p>
        </p:txBody>
      </p:sp>
      <p:sp>
        <p:nvSpPr>
          <p:cNvPr id="23" name="Shape 21"/>
          <p:cNvSpPr/>
          <p:nvPr/>
        </p:nvSpPr>
        <p:spPr>
          <a:xfrm>
            <a:off x="182880" y="3621024"/>
            <a:ext cx="8778240" cy="603504"/>
          </a:xfrm>
          <a:prstGeom prst="rect">
            <a:avLst/>
          </a:prstGeom>
          <a:solidFill>
            <a:srgbClr val="F8FAFC"/>
          </a:solidFill>
          <a:ln w="6350">
            <a:solidFill>
              <a:srgbClr val="E2E8F0"/>
            </a:solidFill>
            <a:prstDash val="solid"/>
          </a:ln>
        </p:spPr>
      </p:sp>
      <p:sp>
        <p:nvSpPr>
          <p:cNvPr id="24" name="Shape 22"/>
          <p:cNvSpPr/>
          <p:nvPr/>
        </p:nvSpPr>
        <p:spPr>
          <a:xfrm>
            <a:off x="182880" y="3621024"/>
            <a:ext cx="54864" cy="603504"/>
          </a:xfrm>
          <a:prstGeom prst="rect">
            <a:avLst/>
          </a:prstGeom>
          <a:solidFill>
            <a:srgbClr val="EF4444"/>
          </a:solidFill>
          <a:ln w="12700">
            <a:solidFill>
              <a:srgbClr val="EF4444"/>
            </a:solidFill>
            <a:prstDash val="solid"/>
          </a:ln>
        </p:spPr>
      </p:sp>
      <p:sp>
        <p:nvSpPr>
          <p:cNvPr id="25" name="Text 23"/>
          <p:cNvSpPr/>
          <p:nvPr/>
        </p:nvSpPr>
        <p:spPr>
          <a:xfrm>
            <a:off x="347472" y="3694176"/>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The Run() Trap</a:t>
            </a:r>
            <a:endParaRPr lang="en-US" sz="1150" dirty="0"/>
          </a:p>
        </p:txBody>
      </p:sp>
      <p:sp>
        <p:nvSpPr>
          <p:cNvPr id="26" name="Text 24"/>
          <p:cNvSpPr/>
          <p:nvPr/>
        </p:nvSpPr>
        <p:spPr>
          <a:xfrm>
            <a:off x="2651760" y="3694176"/>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app.Run() before endpoint mapping = dead endpoints. No error, no warning. Always put it last.</a:t>
            </a:r>
            <a:endParaRPr lang="en-US" sz="1050" dirty="0"/>
          </a:p>
        </p:txBody>
      </p:sp>
      <p:sp>
        <p:nvSpPr>
          <p:cNvPr id="27" name="Shape 25"/>
          <p:cNvSpPr/>
          <p:nvPr/>
        </p:nvSpPr>
        <p:spPr>
          <a:xfrm>
            <a:off x="182880" y="4297680"/>
            <a:ext cx="8778240" cy="603504"/>
          </a:xfrm>
          <a:prstGeom prst="rect">
            <a:avLst/>
          </a:prstGeom>
          <a:solidFill>
            <a:srgbClr val="F8FAFC"/>
          </a:solidFill>
          <a:ln w="6350">
            <a:solidFill>
              <a:srgbClr val="E2E8F0"/>
            </a:solidFill>
            <a:prstDash val="solid"/>
          </a:ln>
        </p:spPr>
      </p:sp>
      <p:sp>
        <p:nvSpPr>
          <p:cNvPr id="28" name="Shape 26"/>
          <p:cNvSpPr/>
          <p:nvPr/>
        </p:nvSpPr>
        <p:spPr>
          <a:xfrm>
            <a:off x="182880" y="4297680"/>
            <a:ext cx="54864" cy="603504"/>
          </a:xfrm>
          <a:prstGeom prst="rect">
            <a:avLst/>
          </a:prstGeom>
          <a:solidFill>
            <a:srgbClr val="10B981"/>
          </a:solidFill>
          <a:ln w="12700">
            <a:solidFill>
              <a:srgbClr val="10B981"/>
            </a:solidFill>
            <a:prstDash val="solid"/>
          </a:ln>
        </p:spPr>
      </p:sp>
      <p:sp>
        <p:nvSpPr>
          <p:cNvPr id="29" name="Text 27"/>
          <p:cNvSpPr/>
          <p:nvPr/>
        </p:nvSpPr>
        <p:spPr>
          <a:xfrm>
            <a:off x="347472" y="4370832"/>
            <a:ext cx="219456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Middleware Order</a:t>
            </a:r>
            <a:endParaRPr lang="en-US" sz="1150" dirty="0"/>
          </a:p>
        </p:txBody>
      </p:sp>
      <p:sp>
        <p:nvSpPr>
          <p:cNvPr id="30" name="Text 28"/>
          <p:cNvSpPr/>
          <p:nvPr/>
        </p:nvSpPr>
        <p:spPr>
          <a:xfrm>
            <a:off x="2651760" y="4370832"/>
            <a:ext cx="617220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Logging → Exception → Routing → CORS → Auth → Authz → Endpoints. Each layer needs the one before 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D9488"/>
          </a:solidFill>
          <a:ln w="12700">
            <a:solidFill>
              <a:srgbClr val="0D9488"/>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What This Looks Like in an Interview</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8778240" cy="3429000"/>
          </a:xfrm>
          <a:prstGeom prst="rect">
            <a:avLst/>
          </a:prstGeom>
          <a:solidFill>
            <a:srgbClr val="0F1A2E"/>
          </a:solidFill>
          <a:ln w="12700">
            <a:solidFill>
              <a:srgbClr val="0EA5E9"/>
            </a:solidFill>
            <a:prstDash val="solid"/>
          </a:ln>
          <a:effectLst>
            <a:outerShdw blurRad="177800" dist="63500" dir="8100000" algn="bl" rotWithShape="0">
              <a:srgbClr val="000000">
                <a:alpha val="18000"/>
              </a:srgbClr>
            </a:outerShdw>
          </a:effectLst>
        </p:spPr>
      </p:sp>
      <p:sp>
        <p:nvSpPr>
          <p:cNvPr id="8" name="Shape 6"/>
          <p:cNvSpPr/>
          <p:nvPr/>
        </p:nvSpPr>
        <p:spPr>
          <a:xfrm>
            <a:off x="182880" y="868680"/>
            <a:ext cx="91440" cy="3429000"/>
          </a:xfrm>
          <a:prstGeom prst="rect">
            <a:avLst/>
          </a:prstGeom>
          <a:solidFill>
            <a:srgbClr val="0D9488"/>
          </a:solidFill>
          <a:ln w="12700">
            <a:solidFill>
              <a:srgbClr val="333333"/>
            </a:solidFill>
            <a:prstDash val="solid"/>
          </a:ln>
        </p:spPr>
      </p:sp>
      <p:sp>
        <p:nvSpPr>
          <p:cNvPr id="9" name="Text 7"/>
          <p:cNvSpPr/>
          <p:nvPr/>
        </p:nvSpPr>
        <p:spPr>
          <a:xfrm>
            <a:off x="438912" y="1188720"/>
            <a:ext cx="8366760" cy="2926080"/>
          </a:xfrm>
          <a:prstGeom prst="rect">
            <a:avLst/>
          </a:prstGeom>
          <a:noFill/>
        </p:spPr>
        <p:txBody>
          <a:bodyPr wrap="square" lIns="0" tIns="0" rIns="0" bIns="0" rtlCol="0" anchor="ctr"/>
          <a:lstStyle/>
          <a:p>
            <a:pPr marL="0" indent="0">
              <a:lnSpc>
                <a:spcPct val="120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Companies want people who understand the runtime model, not just syntax. Senior engineers review middleware order. If you can explain why authentication must come before authorization, you demonstrate architectural thinking  not just tutorial-following.</a:t>
            </a:r>
            <a:endParaRPr lang="en-US" sz="1250" dirty="0"/>
          </a:p>
        </p:txBody>
      </p:sp>
      <p:sp>
        <p:nvSpPr>
          <p:cNvPr id="10" name="Text 8"/>
          <p:cNvSpPr/>
          <p:nvPr/>
        </p:nvSpPr>
        <p:spPr>
          <a:xfrm>
            <a:off x="228600" y="4434840"/>
            <a:ext cx="8686800" cy="502920"/>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Add routing: why auth runs after UseRouting() in the canonical chain  tie both sentences together in one answer.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EA5E9"/>
          </a:solidFill>
          <a:ln w="12700">
            <a:solidFill>
              <a:srgbClr val="0EA5E9"/>
            </a:solidFill>
            <a:prstDash val="solid"/>
          </a:ln>
        </p:spPr>
      </p:sp>
      <p:sp>
        <p:nvSpPr>
          <p:cNvPr id="3" name="Shape 1"/>
          <p:cNvSpPr/>
          <p:nvPr/>
        </p:nvSpPr>
        <p:spPr>
          <a:xfrm>
            <a:off x="0" y="5052060"/>
            <a:ext cx="9144000" cy="91440"/>
          </a:xfrm>
          <a:prstGeom prst="rect">
            <a:avLst/>
          </a:prstGeom>
          <a:solidFill>
            <a:srgbClr val="0D9488"/>
          </a:solidFill>
          <a:ln w="12700">
            <a:solidFill>
              <a:srgbClr val="0D9488"/>
            </a:solidFill>
            <a:prstDash val="solid"/>
          </a:ln>
        </p:spPr>
      </p:sp>
      <p:sp>
        <p:nvSpPr>
          <p:cNvPr id="4" name="Text 2"/>
          <p:cNvSpPr/>
          <p:nvPr/>
        </p:nvSpPr>
        <p:spPr>
          <a:xfrm>
            <a:off x="457200" y="457200"/>
            <a:ext cx="5486400" cy="384048"/>
          </a:xfrm>
          <a:prstGeom prst="rect">
            <a:avLst/>
          </a:prstGeom>
          <a:noFill/>
        </p:spPr>
        <p:txBody>
          <a:bodyPr wrap="square" lIns="0" tIns="0" rIns="0" bIns="0" rtlCol="0" anchor="ctr"/>
          <a:lstStyle/>
          <a:p>
            <a:pPr marL="0" indent="0" algn="l">
              <a:buNone/>
            </a:pPr>
            <a:r>
              <a:rPr lang="en-US" sz="1300" kern="0" spc="200" dirty="0">
                <a:solidFill>
                  <a:srgbClr val="0EA5E9"/>
                </a:solidFill>
                <a:latin typeface="Calibri" panose="020F0502020204030204" pitchFamily="34" charset="0"/>
                <a:ea typeface="Calibri" panose="020F0502020204030204" pitchFamily="34" charset="-122"/>
                <a:cs typeface="Calibri" panose="020F0502020204030204" pitchFamily="34" charset="-120"/>
              </a:rPr>
              <a:t>Coming Up in Session 2</a:t>
            </a:r>
            <a:endParaRPr lang="en-US" sz="1300" dirty="0"/>
          </a:p>
        </p:txBody>
      </p:sp>
      <p:sp>
        <p:nvSpPr>
          <p:cNvPr id="5" name="Text 3"/>
          <p:cNvSpPr/>
          <p:nvPr/>
        </p:nvSpPr>
        <p:spPr>
          <a:xfrm>
            <a:off x="457200" y="868680"/>
            <a:ext cx="6400800" cy="1737360"/>
          </a:xfrm>
          <a:prstGeom prst="rect">
            <a:avLst/>
          </a:prstGeom>
          <a:noFill/>
        </p:spPr>
        <p:txBody>
          <a:bodyPr wrap="square" lIns="0" tIns="0" rIns="0" bIns="0" rtlCol="0" anchor="t"/>
          <a:lstStyle/>
          <a:p>
            <a:pPr marL="0" indent="0" algn="l">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Dependency Injection</a:t>
            </a:r>
            <a:endParaRPr lang="en-US" sz="3800" dirty="0"/>
          </a:p>
          <a:p>
            <a:pPr marL="0" indent="0" algn="l">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&amp; Service Lifetimes</a:t>
            </a:r>
            <a:endParaRPr lang="en-US" sz="3800" dirty="0"/>
          </a:p>
        </p:txBody>
      </p:sp>
      <p:sp>
        <p:nvSpPr>
          <p:cNvPr id="6" name="Shape 4"/>
          <p:cNvSpPr/>
          <p:nvPr/>
        </p:nvSpPr>
        <p:spPr>
          <a:xfrm>
            <a:off x="457200" y="2697480"/>
            <a:ext cx="4114800" cy="0"/>
          </a:xfrm>
          <a:prstGeom prst="line">
            <a:avLst/>
          </a:prstGeom>
          <a:noFill/>
          <a:ln w="12700">
            <a:solidFill>
              <a:srgbClr val="0EA5E9"/>
            </a:solidFill>
            <a:prstDash val="solid"/>
          </a:ln>
        </p:spPr>
      </p:sp>
      <p:sp>
        <p:nvSpPr>
          <p:cNvPr id="7" name="Text 5"/>
          <p:cNvSpPr/>
          <p:nvPr/>
        </p:nvSpPr>
        <p:spPr>
          <a:xfrm>
            <a:off x="457200" y="2834640"/>
            <a:ext cx="6583680" cy="868680"/>
          </a:xfrm>
          <a:prstGeom prst="rect">
            <a:avLst/>
          </a:prstGeom>
          <a:noFill/>
        </p:spPr>
        <p:txBody>
          <a:bodyPr wrap="square" lIns="0" tIns="0" rIns="0" bIns="0" rtlCol="0" anchor="t"/>
          <a:lstStyle/>
          <a:p>
            <a:pPr marL="0" indent="0" algn="l">
              <a:buNone/>
            </a:pPr>
            <a:r>
              <a:rPr lang="en-US" sz="1300" dirty="0">
                <a:solidFill>
                  <a:srgbClr val="93C5FD"/>
                </a:solidFill>
                <a:latin typeface="Calibri" panose="020F0502020204030204" pitchFamily="34" charset="0"/>
                <a:ea typeface="Calibri" panose="020F0502020204030204" pitchFamily="34" charset="-122"/>
                <a:cs typeface="Calibri" panose="020F0502020204030204" pitchFamily="34" charset="-120"/>
              </a:rPr>
              <a:t>You'll learn why every service needs a lifetime, how the DI container wires your app together, and the captive dependency bug  the most famous silent data-corruption bug in ASP.NET Core.</a:t>
            </a:r>
            <a:endParaRPr lang="en-US" sz="1300" dirty="0"/>
          </a:p>
        </p:txBody>
      </p:sp>
      <p:sp>
        <p:nvSpPr>
          <p:cNvPr id="8" name="Shape 6"/>
          <p:cNvSpPr/>
          <p:nvPr/>
        </p:nvSpPr>
        <p:spPr>
          <a:xfrm>
            <a:off x="457200" y="3931920"/>
            <a:ext cx="4114800" cy="475488"/>
          </a:xfrm>
          <a:prstGeom prst="rect">
            <a:avLst/>
          </a:prstGeom>
          <a:solidFill>
            <a:srgbClr val="0EA5E9"/>
          </a:solidFill>
          <a:ln w="12700">
            <a:solidFill>
              <a:srgbClr val="0EA5E9"/>
            </a:solidFill>
            <a:prstDash val="solid"/>
          </a:ln>
        </p:spPr>
      </p:sp>
      <p:sp>
        <p:nvSpPr>
          <p:cNvPr id="9" name="Text 7"/>
          <p:cNvSpPr/>
          <p:nvPr/>
        </p:nvSpPr>
        <p:spPr>
          <a:xfrm>
            <a:off x="457200" y="3931920"/>
            <a:ext cx="4114800" cy="475488"/>
          </a:xfrm>
          <a:prstGeom prst="rect">
            <a:avLst/>
          </a:prstGeom>
          <a:noFill/>
        </p:spPr>
        <p:txBody>
          <a:bodyPr wrap="square" lIns="0" tIns="0" rIns="0" bIns="0"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most critical topic in M4</a:t>
            </a:r>
            <a:endParaRPr lang="en-US" sz="1350" dirty="0"/>
          </a:p>
        </p:txBody>
      </p:sp>
      <p:sp>
        <p:nvSpPr>
          <p:cNvPr id="10" name="Shape 8"/>
          <p:cNvSpPr/>
          <p:nvPr/>
        </p:nvSpPr>
        <p:spPr>
          <a:xfrm>
            <a:off x="7178040" y="914400"/>
            <a:ext cx="1737360" cy="3383280"/>
          </a:xfrm>
          <a:prstGeom prst="rect">
            <a:avLst/>
          </a:prstGeom>
          <a:solidFill>
            <a:srgbClr val="0D1B36"/>
          </a:solidFill>
          <a:ln w="12700">
            <a:solidFill>
              <a:srgbClr val="0D9488"/>
            </a:solidFill>
            <a:prstDash val="solid"/>
          </a:ln>
        </p:spPr>
      </p:sp>
      <p:sp>
        <p:nvSpPr>
          <p:cNvPr id="11" name="Text 9"/>
          <p:cNvSpPr/>
          <p:nvPr/>
        </p:nvSpPr>
        <p:spPr>
          <a:xfrm>
            <a:off x="7223760" y="1051560"/>
            <a:ext cx="1645920" cy="402336"/>
          </a:xfrm>
          <a:prstGeom prst="rect">
            <a:avLst/>
          </a:prstGeom>
          <a:noFill/>
        </p:spPr>
        <p:txBody>
          <a:bodyPr wrap="square" lIns="0" tIns="0" rIns="0" bIns="0" rtlCol="0" anchor="ctr"/>
          <a:lstStyle/>
          <a:p>
            <a:pPr marL="0" indent="0" algn="ctr">
              <a:buNone/>
            </a:pPr>
            <a:r>
              <a:rPr lang="en-US" sz="950" dirty="0">
                <a:solidFill>
                  <a:srgbClr val="2D4263"/>
                </a:solidFill>
                <a:latin typeface="Consolas" panose="020B0609020204030204" pitchFamily="34" charset="0"/>
                <a:ea typeface="Consolas" panose="020B0609020204030204" pitchFamily="34" charset="-122"/>
                <a:cs typeface="Consolas" panose="020B0609020204030204" pitchFamily="34" charset="-120"/>
              </a:rPr>
              <a:t>Transient</a:t>
            </a:r>
            <a:endParaRPr lang="en-US" sz="950" dirty="0"/>
          </a:p>
        </p:txBody>
      </p:sp>
      <p:sp>
        <p:nvSpPr>
          <p:cNvPr id="12" name="Text 10"/>
          <p:cNvSpPr/>
          <p:nvPr/>
        </p:nvSpPr>
        <p:spPr>
          <a:xfrm>
            <a:off x="7223760" y="1563624"/>
            <a:ext cx="1645920" cy="402336"/>
          </a:xfrm>
          <a:prstGeom prst="rect">
            <a:avLst/>
          </a:prstGeom>
          <a:noFill/>
        </p:spPr>
        <p:txBody>
          <a:bodyPr wrap="square" lIns="0" tIns="0" rIns="0" bIns="0" rtlCol="0" anchor="ctr"/>
          <a:lstStyle/>
          <a:p>
            <a:pPr marL="0" indent="0" algn="ctr">
              <a:buNone/>
            </a:pPr>
            <a:r>
              <a:rPr lang="en-US" sz="950" dirty="0">
                <a:solidFill>
                  <a:srgbClr val="0EA5E9"/>
                </a:solidFill>
                <a:latin typeface="Consolas" panose="020B0609020204030204" pitchFamily="34" charset="0"/>
                <a:ea typeface="Consolas" panose="020B0609020204030204" pitchFamily="34" charset="-122"/>
                <a:cs typeface="Consolas" panose="020B0609020204030204" pitchFamily="34" charset="-120"/>
              </a:rPr>
              <a:t>Scoped</a:t>
            </a:r>
            <a:endParaRPr lang="en-US" sz="950" dirty="0"/>
          </a:p>
        </p:txBody>
      </p:sp>
      <p:sp>
        <p:nvSpPr>
          <p:cNvPr id="13" name="Text 11"/>
          <p:cNvSpPr/>
          <p:nvPr/>
        </p:nvSpPr>
        <p:spPr>
          <a:xfrm>
            <a:off x="7223760" y="2075688"/>
            <a:ext cx="1645920" cy="402336"/>
          </a:xfrm>
          <a:prstGeom prst="rect">
            <a:avLst/>
          </a:prstGeom>
          <a:noFill/>
        </p:spPr>
        <p:txBody>
          <a:bodyPr wrap="square" lIns="0" tIns="0" rIns="0" bIns="0" rtlCol="0" anchor="ctr"/>
          <a:lstStyle/>
          <a:p>
            <a:pPr marL="0" indent="0" algn="ctr">
              <a:buNone/>
            </a:pPr>
            <a:r>
              <a:rPr lang="en-US" sz="950" dirty="0">
                <a:solidFill>
                  <a:srgbClr val="2D4263"/>
                </a:solidFill>
                <a:latin typeface="Consolas" panose="020B0609020204030204" pitchFamily="34" charset="0"/>
                <a:ea typeface="Consolas" panose="020B0609020204030204" pitchFamily="34" charset="-122"/>
                <a:cs typeface="Consolas" panose="020B0609020204030204" pitchFamily="34" charset="-120"/>
              </a:rPr>
              <a:t>Singleton</a:t>
            </a:r>
            <a:endParaRPr lang="en-US" sz="950" dirty="0"/>
          </a:p>
        </p:txBody>
      </p:sp>
      <p:sp>
        <p:nvSpPr>
          <p:cNvPr id="14" name="Text 12"/>
          <p:cNvSpPr/>
          <p:nvPr/>
        </p:nvSpPr>
        <p:spPr>
          <a:xfrm>
            <a:off x="7223760" y="2587752"/>
            <a:ext cx="1645920" cy="402336"/>
          </a:xfrm>
          <a:prstGeom prst="rect">
            <a:avLst/>
          </a:prstGeom>
          <a:noFill/>
        </p:spPr>
        <p:txBody>
          <a:bodyPr wrap="square" lIns="0" tIns="0" rIns="0" bIns="0" rtlCol="0" anchor="ctr"/>
          <a:lstStyle/>
          <a:p>
            <a:pPr marL="0" indent="0" algn="ctr">
              <a:buNone/>
            </a:pPr>
            <a:r>
              <a:rPr lang="en-US" sz="950" dirty="0">
                <a:solidFill>
                  <a:srgbClr val="2D4263"/>
                </a:solidFill>
                <a:latin typeface="Consolas" panose="020B0609020204030204" pitchFamily="34" charset="0"/>
                <a:ea typeface="Consolas" panose="020B0609020204030204" pitchFamily="34" charset="-122"/>
                <a:cs typeface="Consolas" panose="020B0609020204030204" pitchFamily="34" charset="-120"/>
              </a:rPr>
              <a:t>IOptions&lt;T&gt;</a:t>
            </a:r>
            <a:endParaRPr lang="en-US" sz="950" dirty="0"/>
          </a:p>
        </p:txBody>
      </p:sp>
      <p:sp>
        <p:nvSpPr>
          <p:cNvPr id="15" name="Text 13"/>
          <p:cNvSpPr/>
          <p:nvPr/>
        </p:nvSpPr>
        <p:spPr>
          <a:xfrm>
            <a:off x="7223760" y="3099816"/>
            <a:ext cx="1645920" cy="402336"/>
          </a:xfrm>
          <a:prstGeom prst="rect">
            <a:avLst/>
          </a:prstGeom>
          <a:noFill/>
        </p:spPr>
        <p:txBody>
          <a:bodyPr wrap="square" lIns="0" tIns="0" rIns="0" bIns="0" rtlCol="0" anchor="ctr"/>
          <a:lstStyle/>
          <a:p>
            <a:pPr marL="0" indent="0" algn="ctr">
              <a:buNone/>
            </a:pPr>
            <a:r>
              <a:rPr lang="en-US" sz="950" dirty="0">
                <a:solidFill>
                  <a:srgbClr val="2D4263"/>
                </a:solidFill>
                <a:latin typeface="Consolas" panose="020B0609020204030204" pitchFamily="34" charset="0"/>
                <a:ea typeface="Consolas" panose="020B0609020204030204" pitchFamily="34" charset="-122"/>
                <a:cs typeface="Consolas" panose="020B0609020204030204" pitchFamily="34" charset="-120"/>
              </a:rPr>
              <a:t>IServiceScope</a:t>
            </a:r>
            <a:endParaRPr lang="en-US" sz="950" dirty="0"/>
          </a:p>
        </p:txBody>
      </p:sp>
      <p:sp>
        <p:nvSpPr>
          <p:cNvPr id="16" name="Text 14"/>
          <p:cNvSpPr/>
          <p:nvPr/>
        </p:nvSpPr>
        <p:spPr>
          <a:xfrm>
            <a:off x="7223760" y="3611880"/>
            <a:ext cx="1645920" cy="402336"/>
          </a:xfrm>
          <a:prstGeom prst="rect">
            <a:avLst/>
          </a:prstGeom>
          <a:noFill/>
        </p:spPr>
        <p:txBody>
          <a:bodyPr wrap="square" lIns="0" tIns="0" rIns="0" bIns="0" rtlCol="0" anchor="ctr"/>
          <a:lstStyle/>
          <a:p>
            <a:pPr marL="0" indent="0" algn="ctr">
              <a:buNone/>
            </a:pPr>
            <a:r>
              <a:rPr lang="en-US" sz="950" dirty="0">
                <a:solidFill>
                  <a:srgbClr val="2D4263"/>
                </a:solidFill>
                <a:latin typeface="Consolas" panose="020B0609020204030204" pitchFamily="34" charset="0"/>
                <a:ea typeface="Consolas" panose="020B0609020204030204" pitchFamily="34" charset="-122"/>
                <a:cs typeface="Consolas" panose="020B0609020204030204" pitchFamily="34" charset="-120"/>
              </a:rPr>
              <a:t>InjectionToken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8315</Words>
  <Application>WPS Presentation</Application>
  <PresentationFormat>On-screen Show (16:9)</PresentationFormat>
  <Paragraphs>435</Paragraphs>
  <Slides>14</Slides>
  <Notes>14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M4 Session 1  ASP.NET Core Fundamentals</dc:title>
  <dc:creator>CoTBE Advanced Digital Skills Programme</dc:creator>
  <dc:subject>PptxGenJS Presentation</dc:subject>
  <cp:lastModifiedBy>user</cp:lastModifiedBy>
  <cp:revision>5</cp:revision>
  <dcterms:created xsi:type="dcterms:W3CDTF">2026-05-11T12:09:00Z</dcterms:created>
  <dcterms:modified xsi:type="dcterms:W3CDTF">2026-06-04T05:01:36Z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DD95916759E44AF7997C9154EA720561_12</vt:lpwstr>
  </property>
</Properties>
</file>