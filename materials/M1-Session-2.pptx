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Prerequisites: Session 2 (Student, IGradable, EnrollmentRecord). Move from modeling data to extracting decisions from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LINQ gives a consistent way to filter, sort, group, and aggregate  same thinking as EF Core in later modules.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now move from modeling data to extracting decisions from data. Same mental model carries into database queries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Readability + typed intent; C# 12+ syntax in C# 14.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collection expressions as readability improvement  shorter syntax, typed intent stays clear.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Performance: dictionary vs list at scale  tie to TMS registry.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 search is linear; dictionary lookup by key is near-constant time for practical use  why key-based access matters as volume grows.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Transferability to EF Core in M5.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LINQ skills on in-memory collections transfer directly to EF 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lambdas aloud  reduces cognitive load.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lambda expressions aloud while teaching.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Mindset: describe what; pipeline handles how.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target result (`what`) and let the query pipeline handle iteration (`how`).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slowly: definition cheap, execution on enumerate/materialize.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Deferred execution is frequently misunderstood  demo it slowly.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Expression produces a value; `_` guarantees fallback.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branch visible at once; no return/break boilerplate; `_` catches remaining cases; expression produces a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Order: specific patterns first  avoid shadowing.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Put specific patterns first; broader patterns later so rules do not shadow each 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Happy path short; preconditions checked early.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Guard clauses protect preconditions early so the main business path stays short and easy to inspect.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Grouped output maps to reporting and dashboards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Pipeline produces grouped output that maps cleanly to reporting and dashboard views in later modules.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Verbal check: collections, LINQ, deferred execution, switch, guards,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1440"/>
            <a:ext cx="411480" cy="4960620"/>
          </a:xfrm>
          <a:prstGeom prst="rect">
            <a:avLst/>
          </a:prstGeom>
          <a:solidFill>
            <a:srgbClr val="243556"/>
          </a:solidFill>
          <a:ln w="12700">
            <a:solidFill>
              <a:srgbClr val="2435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594360"/>
            <a:ext cx="1325880" cy="2926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594360"/>
            <a:ext cx="1325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MODULE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960120"/>
            <a:ext cx="5669280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Collections,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LINQ &amp;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pattern matching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85800" y="2880360"/>
            <a:ext cx="5852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3C5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C# 14 Essentials  TMS logic engine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" y="3520440"/>
            <a:ext cx="3840480" cy="0"/>
          </a:xfrm>
          <a:prstGeom prst="line">
            <a:avLst/>
          </a:prstGeom>
          <a:noFill/>
          <a:ln w="15875">
            <a:solidFill>
              <a:srgbClr val="0EA5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868680"/>
            <a:ext cx="2468880" cy="3154680"/>
          </a:xfrm>
          <a:prstGeom prst="rect">
            <a:avLst/>
          </a:prstGeom>
          <a:solidFill>
            <a:srgbClr val="0F1A2E"/>
          </a:solidFill>
          <a:ln w="12700">
            <a:solidFill>
              <a:srgbClr val="0EA5E9"/>
            </a:solidFill>
            <a:prstDash val="solid"/>
          </a:ln>
          <a:effectLst>
            <a:outerShdw blurRad="177800" dist="635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56832" y="960120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TMS / LINQ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656832" y="1207008"/>
            <a:ext cx="2240280" cy="2697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var </a:t>
            </a:r>
            <a:r>
              <a:rPr lang="en-US" sz="750" dirty="0">
                <a:solidFill>
                  <a:srgbClr val="38BD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honors</a:t>
            </a:r>
            <a:r>
              <a:rPr lang="en-US" sz="7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= students
</a:t>
            </a:r>
            <a:r>
              <a:rPr lang="en-US" sz="75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.Where(s =&gt; s.GPA &gt;= 3.0m)
</a:t>
            </a:r>
            <a:r>
              <a:rPr lang="en-US" sz="75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.OrderByDescending(s =&gt; s.GPA);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M1 · SESSION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1325880"/>
            <a:ext cx="8046720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Querying and classifying data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2880360"/>
            <a:ext cx="20116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749808"/>
            <a:ext cx="9070848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7132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Outcomes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28600" y="822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By the end of this session, you will: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" y="1024128"/>
            <a:ext cx="8778240" cy="34015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1024128"/>
            <a:ext cx="82296" cy="3401568"/>
          </a:xfrm>
          <a:prstGeom prst="rect">
            <a:avLst/>
          </a:prstGeom>
          <a:solidFill>
            <a:srgbClr val="0EA5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152144"/>
            <a:ext cx="8485632" cy="31455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collection expressions and the spread operator to build typed collections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Filter, sort, and aggregate data with LINQ method syntax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Replace nested `if/else` with switch expressions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Apply the guard clause pattern for clean, flat code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a complete enrollment pipeline for the TMS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M1 · SESSION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1325880"/>
            <a:ext cx="8046720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Collection expressions  modern syntax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2880360"/>
            <a:ext cx="20116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749808"/>
            <a:ext cx="9070848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7132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Building collections in C# 14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82880" y="841248"/>
            <a:ext cx="8778240" cy="39776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841248"/>
            <a:ext cx="877824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841248"/>
            <a:ext cx="855878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C#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0040" y="1188720"/>
            <a:ext cx="8503920" cy="3520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Collection expressions (C# 12+, available in C# 14)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List&lt;string&gt; courseNames = ["C# Essentials", "TypeScript", "ASP.NET Core", "Angular 21"];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Dictionary for fast lookup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Dictionary&lt;string, Student&gt; studentRegistry = new()
{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["STU-001"] = new Student { Id = "STU-001", Name = "Abeba", Age = 22 },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["STU-002"] = new Student { Id = "STU-002", Name = "Kidane", Age = 25 },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};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Access by key  O(1) constant time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var abeba = studentRegistry["STU-001"];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749808"/>
            <a:ext cx="9070848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7132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Old way vs. new way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82880" y="841248"/>
            <a:ext cx="8778240" cy="20116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841248"/>
            <a:ext cx="877824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841248"/>
            <a:ext cx="855878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C#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0040" y="1188720"/>
            <a:ext cx="850392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Old  verbose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var courses = new List&lt;string&gt; { "C#", "TypeScript", "Angular" };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New  clean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List&lt;string&gt; courses = ["C#", "TypeScript", "Angular"];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M1 · SESSION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1325880"/>
            <a:ext cx="8046720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spread operator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2880360"/>
            <a:ext cx="20116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749808"/>
            <a:ext cx="9070848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7132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Merging collections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82880" y="841248"/>
            <a:ext cx="8778240" cy="18745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841248"/>
            <a:ext cx="877824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841248"/>
            <a:ext cx="855878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C#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0040" y="1188720"/>
            <a:ext cx="8503920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string[] backendCourses = ["C# Essentials", "ASP.NET Core", "EF Core"];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string[] frontendCourses = ["TypeScript", "Angular 21"];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string[] allCourses = [..backendCourses, ..frontendCourses, "Capstone"];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Result: C# Essentials … Capstone (6 items)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Console.WriteLine($"Total courses: {allCourses.Length}");  // 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82880" y="2788920"/>
            <a:ext cx="8778240" cy="10241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2788920"/>
            <a:ext cx="82296" cy="1024128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916936"/>
            <a:ext cx="8485632" cy="7680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`...` spread operator expands all elements of a collection inline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Works inside collection expressions; can mix spreads with individual elements</a:t>
            </a:r>
            <a:endParaRPr lang="en-US" sz="10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Creates a new collection  does not modify the originals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M1 · SESSION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1325880"/>
            <a:ext cx="8046720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LINQ  your data query language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2880360"/>
            <a:ext cx="20116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749808"/>
            <a:ext cx="9070848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7132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LINQ does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82880" y="846963"/>
            <a:ext cx="8778240" cy="26060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841248"/>
            <a:ext cx="877824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841248"/>
            <a:ext cx="855878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C#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0040" y="1188720"/>
            <a:ext cx="8503920" cy="2148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List&lt;Student&gt; students =
[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new() { Id = "S1", Name = "Abeba", Age = 22, GPA = 3.8m },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new() { Id = "S2", Name = "Kidane", Age = 25, GPA = 2.9m },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new() { Id = "S3", Name = "Dawit", Age = 20, GPA = 3.5m },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new() { Id = "S4", Name = "Sara",  Age = 23, GPA = 1.8m },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new() { Id = "S5", Name = "Kidus", Age = 21, GPA = 3.2m },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];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82880" y="3547745"/>
            <a:ext cx="8778240" cy="574675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2880" y="3547872"/>
            <a:ext cx="54864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639312"/>
            <a:ext cx="8503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76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LINQ in one sentence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3931920"/>
            <a:ext cx="8503920" cy="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algn="l"/>
          </a:lstStyle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LINQ (Language Integrated Query) lets you query collections using a declarative style.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82880" y="4114800"/>
            <a:ext cx="8778240" cy="877824"/>
          </a:xfrm>
          <a:prstGeom prst="rect">
            <a:avLst/>
          </a:prstGeom>
          <a:solidFill>
            <a:srgbClr val="F8FAFC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2880" y="4114800"/>
            <a:ext cx="54864" cy="87782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206240"/>
            <a:ext cx="8503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4498848"/>
            <a:ext cx="8503920" cy="3749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is 5 students. Imagine 10,000. You cannot loop through them manually to answer every question. LINQ does it for you.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M1 · SESSION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1325880"/>
            <a:ext cx="8046720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LINQ  filter, sort, project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2880360"/>
            <a:ext cx="20116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749808"/>
            <a:ext cx="9070848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7132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three core operations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37160" y="804545"/>
            <a:ext cx="8869680" cy="4214495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" y="804672"/>
            <a:ext cx="886968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" y="804672"/>
            <a:ext cx="865022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C#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74320" y="1151890"/>
            <a:ext cx="8595360" cy="36747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FILTER: students with GPA above 3.0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var honorsStudents = students.Where(s =&gt; s.GPA &gt;= 3.0m);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Console.WriteLine($"Honors students: {honorsStudents.Count()}");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Output: 3 (Abeba, Dawit, Kidus)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SORT: by GPA descending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var ranked = students.OrderByDescending(s =&gt; s.GPA);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PROJECT: select only names and GPAs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var leaderboard = students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.OrderByDescending(s =&gt; s.GPA)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.Select(s =&gt; new { s.Name, s.GPA });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foreach (var entry in leaderboard)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Console.WriteLine($"  {entry.Name}: {entry.GPA}");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51045" y="2301240"/>
            <a:ext cx="3950335" cy="1490345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51045" y="2301240"/>
            <a:ext cx="94615" cy="1511935"/>
          </a:xfrm>
          <a:prstGeom prst="rect">
            <a:avLst/>
          </a:prstGeom>
          <a:solidFill>
            <a:srgbClr val="0EA5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33925" y="2429510"/>
            <a:ext cx="3602355" cy="5067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`Where` = only the students where GPA is 3.0 or above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`OrderByDescending` = sort from highest to lowest</a:t>
            </a:r>
            <a:endParaRPr lang="en-US" sz="9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`Select` = for each student, just name and GPA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M1 · SESSION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1325880"/>
            <a:ext cx="8046720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LINQ  aggregate and find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2880360"/>
            <a:ext cx="20116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749808"/>
            <a:ext cx="9070848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7132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Answering questions about your data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37160" y="804672"/>
            <a:ext cx="8869680" cy="39776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" y="804672"/>
            <a:ext cx="886968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" y="804672"/>
            <a:ext cx="865022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C#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74320" y="1152144"/>
            <a:ext cx="8595360" cy="3520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Average GPA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decimal averageGpa = students.Average(s =&gt; s.GPA);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Console.WriteLine($"Class average GPA: {averageGpa:F2}");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Count of students below 2.0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atRisk = students.Count(s =&gt; s.GPA &lt; 2.0m);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Console.WriteLine($"At-risk students: {atRisk}");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Find the top student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Student? topStudent = students.MaxBy(s =&gt; s.GPA);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Console.WriteLine($"Top student: {topStudent?.Name ?? "None"}");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Check if ANY student is on probation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bool hasProbation = students.Any(s =&gt; s.GPA &lt; 2.5m);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Console.WriteLine($"Has probation cases: {hasProbation}");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749808"/>
            <a:ext cx="9070848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7132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LINQ method cheat sheet</a:t>
            </a:r>
            <a:endParaRPr lang="en-US" sz="2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/>
        </p:nvGraphicFramePr>
        <p:xfrm>
          <a:off x="91440" y="822960"/>
          <a:ext cx="896112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3063240"/>
                <a:gridCol w="4206240"/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A2B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Method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E6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A2B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Purpose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E6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A2B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Returns</a:t>
                      </a:r>
                      <a:endParaRPr lang="en-US" sz="7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E6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`Where`</a:t>
                      </a:r>
                      <a:endParaRPr lang="en-US" sz="6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Filter elements</a:t>
                      </a:r>
                      <a:endParaRPr lang="en-US" sz="6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`IEnumerable&lt;T&gt;`</a:t>
                      </a:r>
                      <a:endParaRPr lang="en-US" sz="6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`Select`</a:t>
                      </a:r>
                      <a:endParaRPr lang="en-US" sz="6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Transform each element</a:t>
                      </a:r>
                      <a:endParaRPr lang="en-US" sz="6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`IEnumerable&lt;TResult&gt;`</a:t>
                      </a:r>
                      <a:endParaRPr lang="en-US" sz="6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`OrderBy` / `OrderByDescending`</a:t>
                      </a:r>
                      <a:endParaRPr lang="en-US" sz="6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Sort</a:t>
                      </a:r>
                      <a:endParaRPr lang="en-US" sz="6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`IOrderedEnumerable&lt;T&gt;`</a:t>
                      </a:r>
                      <a:endParaRPr lang="en-US" sz="6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`First` / `FirstOrDefault`</a:t>
                      </a:r>
                      <a:endParaRPr lang="en-US" sz="6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Single element</a:t>
                      </a:r>
                      <a:endParaRPr lang="en-US" sz="6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`T` or `T?`</a:t>
                      </a:r>
                      <a:endParaRPr lang="en-US" sz="6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`Any` / `All`</a:t>
                      </a:r>
                      <a:endParaRPr lang="en-US" sz="6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Boolean check</a:t>
                      </a:r>
                      <a:endParaRPr lang="en-US" sz="6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`bool`</a:t>
                      </a:r>
                      <a:endParaRPr lang="en-US" sz="6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`Count`</a:t>
                      </a:r>
                      <a:endParaRPr lang="en-US" sz="6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Count matching</a:t>
                      </a:r>
                      <a:endParaRPr lang="en-US" sz="6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`int`</a:t>
                      </a:r>
                      <a:endParaRPr lang="en-US" sz="6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`Average` / `Sum`</a:t>
                      </a:r>
                      <a:endParaRPr lang="en-US" sz="6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Aggregate</a:t>
                      </a:r>
                      <a:endParaRPr lang="en-US" sz="6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numeric</a:t>
                      </a:r>
                      <a:endParaRPr lang="en-US" sz="6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`GroupBy`</a:t>
                      </a:r>
                      <a:endParaRPr lang="en-US" sz="6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Categorize</a:t>
                      </a:r>
                      <a:endParaRPr lang="en-US" sz="6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`IGrouping&lt;K,V&gt;`</a:t>
                      </a:r>
                      <a:endParaRPr lang="en-US" sz="6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`MaxBy` / `MinBy`</a:t>
                      </a:r>
                      <a:endParaRPr lang="en-US" sz="6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Element with extreme value</a:t>
                      </a:r>
                      <a:endParaRPr lang="en-US" sz="6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`T?`</a:t>
                      </a:r>
                      <a:endParaRPr lang="en-US" sz="6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M1 · SESSION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1325880"/>
            <a:ext cx="8046720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LINQ  deferred execution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2880360"/>
            <a:ext cx="20116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749808"/>
            <a:ext cx="9070848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7132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When does LINQ actually run?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82880" y="841248"/>
            <a:ext cx="8778240" cy="24231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841248"/>
            <a:ext cx="877824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841248"/>
            <a:ext cx="855878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C#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0040" y="1188720"/>
            <a:ext cx="8503920" cy="1965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This does NOT scan the list yet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var honors = students.Where(s =&gt; s.GPA &gt;= 3.5m);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The query runs HERE, when you iterate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foreach (var s in honors)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Console.WriteLine(s.Name);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Or HERE, when you materialize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var honorsList = honors.ToList();  // Now it runs and stores results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82880" y="3913632"/>
            <a:ext cx="8778240" cy="8412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82880" y="3913632"/>
            <a:ext cx="82296" cy="841248"/>
          </a:xfrm>
          <a:prstGeom prst="rect">
            <a:avLst/>
          </a:prstGeom>
          <a:solidFill>
            <a:srgbClr val="0EA5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041648"/>
            <a:ext cx="8485632" cy="5852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Chaining `Where().OrderBy().Select()` builds one efficient pipeline</a:t>
            </a:r>
            <a:endParaRPr lang="en-US" sz="9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data is only scanned once, not three times</a:t>
            </a:r>
            <a:endParaRPr lang="en-US" sz="9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 M5, EF Core can build a single SQL query from your chain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749808"/>
            <a:ext cx="9070848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7132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Deferred execution  discussion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82880" y="841248"/>
            <a:ext cx="8778240" cy="123444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841248"/>
            <a:ext cx="54864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32688"/>
            <a:ext cx="8503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B21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Discussion prompt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225296"/>
            <a:ext cx="850392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"If `Where()` does not scan the list immediately, when does the work actually happen? What if I add another `Where()` after it  does it scan twice?"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M1 · SESSION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1325880"/>
            <a:ext cx="8046720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Pattern matching  switch expressions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2880360"/>
            <a:ext cx="20116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749808"/>
            <a:ext cx="9070848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7132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Replacing the if/else pyramid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09855" y="804545"/>
            <a:ext cx="8924290" cy="4224655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0490" y="876935"/>
            <a:ext cx="8786495" cy="36582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THE OLD WAY  nested if/else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string GetStatus(decimal gpa)
{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if (gpa &gt;= 3.5m) return "Honors";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else if (gpa &gt;= 2.5m) return "Good Standing";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else if (gpa &gt;= 2.0m) return "Probation";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else return "Academic Warning";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THE NEW WAY  switch expression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string GetStatus(decimal gpa) =&gt; gpa switch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{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&gt;= 3.5m =&gt; "Honors",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&gt;= 2.5m =&gt; "Good Standing",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&gt;= 2.0m =&gt; "Probation",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_       =&gt; "Academic Warning"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};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M1 · SESSION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1325880"/>
            <a:ext cx="8046720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Pattern matching  type and property patterns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2880360"/>
            <a:ext cx="20116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17145"/>
            <a:ext cx="9070848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749808"/>
            <a:ext cx="9070848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7132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Matching on shape, not just value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3025" y="786130"/>
            <a:ext cx="9039860" cy="43434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10185" y="821055"/>
            <a:ext cx="8723630" cy="3257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Type pattern  different behavior per type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string DescribeAssessment(IGradable assessment) =&gt; assessment switch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{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Quiz q when q.TotalQuestions &gt; 50    =&gt; $"Major exam: {q.Title}",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Quiz q                               =&gt; $"Quiz: {q.Title} ({q.TotalQuestions} questions)",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LabAssignment lab                    =&gt; $"Lab: {lab.Title}",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_                                    =&gt; "Unknown assessment type"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};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Property pattern  nested values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string ClassifyStudent(Student student) =&gt; student switch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{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{ GPA: &gt;= 3.5m, Age: &lt; 22 }  =&gt; "Young high achiever  scholarship candidate",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{ GPA: &gt;= 3.5m }              =&gt; "Honors student",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{ GPA: &lt; 2.0m }               =&gt; "At risk  assign mentor",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_                              =&gt; "Standard track"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};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695825" y="2314575"/>
            <a:ext cx="3058160" cy="831215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95825" y="2314575"/>
            <a:ext cx="76200" cy="878205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78705" y="2442210"/>
            <a:ext cx="3182620" cy="2470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Relational: `&gt;= 3.5m`, `&lt; 22`</a:t>
            </a:r>
            <a:endParaRPr lang="en-US" sz="8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Type: `Quiz q` (casts and assigns in one step)</a:t>
            </a:r>
            <a:endParaRPr lang="en-US" sz="8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Property: `{ GPA: &gt;= 3.5m }`</a:t>
            </a:r>
            <a:endParaRPr lang="en-US" sz="8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Combined: `{ GPA: &gt;= 3.5m, Age: &lt; 22 }` (AND logic)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M1 · SESSION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1325880"/>
            <a:ext cx="8046720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Guard clauses  fail fast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2880360"/>
            <a:ext cx="20116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749808"/>
            <a:ext cx="9070848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7132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problem: the pyramid of doom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82880" y="841375"/>
            <a:ext cx="8776970" cy="38303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841248"/>
            <a:ext cx="877824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841248"/>
            <a:ext cx="855878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C#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0040" y="1188720"/>
            <a:ext cx="8503920" cy="2423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DEEPLY NESTED  hard to read, hard to debug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public void ProcessEnrollmentBad(Student? student, Course? course)
{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if (student != null)
    {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if (course != null)
        {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if (course.Capacity &gt; 0)
            {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8717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   // Finally, the actual logic  buried 3 levels deep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   Console.WriteLine($"Enrolling {student.Name} in {course.Title}");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}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}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}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749808"/>
            <a:ext cx="9070848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7132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solution: guard clauses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82880" y="841375"/>
            <a:ext cx="8921115" cy="395351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841248"/>
            <a:ext cx="877824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841248"/>
            <a:ext cx="855878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C#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0040" y="1188720"/>
            <a:ext cx="8503920" cy="2697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FLAT  fail fast, happy path clean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public void ProcessEnrollment(Student? student, Course? course)
{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if (student is null)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8717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throw new ArgumentNullException(nameof(student));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if (course is null)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8717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throw new ArgumentNullException(nameof(course));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if (course.Capacity &lt;= 0)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8717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throw new InvalidOperationException($"Course '{course.Title}' is at full capacity.");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// Happy path  clean and flat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Console.WriteLine($"Enrolling {student.Name} in {course.Title}");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222750" y="1446530"/>
            <a:ext cx="4601845" cy="658495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22750" y="1483995"/>
            <a:ext cx="54864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26585" y="1830705"/>
            <a:ext cx="4093845" cy="76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Which version would you rather debug at 2am when production is down?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M1 · SESSION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1325880"/>
            <a:ext cx="8046720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Combining LINQ + pattern matching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2880360"/>
            <a:ext cx="20116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749808"/>
            <a:ext cx="9070848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7132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 TMS pipeline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37160" y="810260"/>
            <a:ext cx="8870315" cy="41630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" y="804672"/>
            <a:ext cx="886968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" y="804672"/>
            <a:ext cx="865022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C#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74320" y="1152144"/>
            <a:ext cx="8595360" cy="2331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var grouped = students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.GroupBy(s =&gt; s.GPA switch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{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&gt;= 3.5m =&gt; "Honors",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&gt;= 2.5m =&gt; "Good Standing",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&gt;= 2.0m =&gt; "Probation",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_       =&gt; "Academic Warning"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});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foreach (var group in grouped)
{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Console.WriteLine($"\n{group.Key}: ({group.Count()} students)");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foreach (var student in group.OrderByDescending(s =&gt; s.GPA))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Console.WriteLine($"  {student.Name}: {student.GPA}");
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606165" y="1381760"/>
            <a:ext cx="4831080" cy="1051560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18230" y="1381633"/>
            <a:ext cx="54864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38575" y="1416050"/>
            <a:ext cx="411099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76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Sample output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38575" y="1633220"/>
            <a:ext cx="3173095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Honors: (2 students)  Abeba 3.8, Dawit 3.5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Good Standing: (2 students)  Kidus 3.2, Kidane 2.9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Academic Warning: (1 students)  Sara 1.8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WRAP-UP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1325880"/>
            <a:ext cx="8046720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Session 3 summary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2880360"/>
            <a:ext cx="20116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749808"/>
            <a:ext cx="9070848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7132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you learned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01168" y="850392"/>
            <a:ext cx="201168" cy="20116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2064" y="850392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850392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33856" y="850392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44752" y="850392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55648" y="850392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40280" y="804672"/>
            <a:ext cx="67208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End-of-session recap: one row per main idea  tie each to your M1 lab checkpoints.</a:t>
            </a:r>
            <a:endParaRPr lang="en-US" sz="95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/>
        </p:nvGraphicFramePr>
        <p:xfrm>
          <a:off x="182880" y="1115568"/>
          <a:ext cx="8778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6492240"/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2B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Concept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E6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2B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Key takeaway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E6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Collection expressions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`["a", "b", "c"]`  the modern way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Spread operator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`[..arr1, ..arr2]`  merge without loops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LINQ `Where` / `OrderBy` / `Select`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Filter, sort, project  your data pipeline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LINQ aggregates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`Average`, `Count`, `Any`, `GroupBy`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Deferred execution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LINQ builds a query; execution happens on iteration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Switch expressions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Clean branching that replaces `if/else` pyramids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Guard clauses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Fail fast, keep the happy path flat</a:t>
                      </a:r>
                      <a:endParaRPr lang="en-US" sz="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749808"/>
            <a:ext cx="9070848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7132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Hiring signal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82880" y="841248"/>
            <a:ext cx="8778240" cy="3611880"/>
          </a:xfrm>
          <a:prstGeom prst="rect">
            <a:avLst/>
          </a:prstGeom>
          <a:solidFill>
            <a:srgbClr val="0F1A2E"/>
          </a:solidFill>
          <a:ln w="12700">
            <a:solidFill>
              <a:srgbClr val="0EA5E9"/>
            </a:solidFill>
            <a:prstDash val="solid"/>
          </a:ln>
          <a:effectLst>
            <a:outerShdw blurRad="177800" dist="635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841248"/>
            <a:ext cx="91440" cy="361188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161288"/>
            <a:ext cx="8366760" cy="3108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LINQ questions appear in most .NET interviews: "Filter a list, sort it, project it into a new shape." If you can chain `.Where().OrderBy().Select()` fluently, you pass.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8945</Words>
  <Application>WPS Presentation</Application>
  <PresentationFormat>On-screen Show (16:9)</PresentationFormat>
  <Paragraphs>389</Paragraphs>
  <Slides>30</Slides>
  <Notes>31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2" baseType="lpstr">
      <vt:lpstr>Arial</vt:lpstr>
      <vt:lpstr>SimSun</vt:lpstr>
      <vt:lpstr>Wingdings</vt:lpstr>
      <vt:lpstr>Calibri</vt:lpstr>
      <vt:lpstr>Calibri</vt:lpstr>
      <vt:lpstr>Calibri</vt:lpstr>
      <vt:lpstr>Consolas</vt:lpstr>
      <vt:lpstr>Consolas</vt:lpstr>
      <vt:lpstr>Consolas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M1 Session 3: Collections, LINQ and Pattern Matching</dc:title>
  <dc:creator>CoTBE Advanced Digital Skills Programme</dc:creator>
  <dc:subject>C# 14 Essentials  TMS enrollment pipeline</dc:subject>
  <cp:lastModifiedBy>user</cp:lastModifiedBy>
  <cp:revision>5</cp:revision>
  <dcterms:created xsi:type="dcterms:W3CDTF">2026-05-11T12:09:00Z</dcterms:created>
  <dcterms:modified xsi:type="dcterms:W3CDTF">2026-05-20T20:58:51Z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06DAD2351E234C2381FB29A191B6A5F7_12</vt:lpwstr>
  </property>
</Properties>
</file>