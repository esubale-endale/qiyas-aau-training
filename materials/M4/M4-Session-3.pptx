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M4-Session-3-Presentation.md  The app runs; this session is what separates “on my machine” from production: configure without redeploying, find the one failed enrollment in a million lines, trace a request end-to-end.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can you change TMS for staging vs production without editing and redeploying code? Can support find why enrollment 12345 failed without grep roulette?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M4-Session-3-Presentation.md  Ask the room where passwords go first. PR policy: password in appsettings.json → immediate reject. Production passwords in env or Azure Key Vault; dev use dotnet user-secrets.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M4-Session-3-Presentation.md  Three benefits: typed, validated, early failure. Contrast with discovering bad config hours after deploy when the first user hits POST /enrollments.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M4-Session-3-Presentation.md  ValidateOnStart: deployment catches the mistake. Tie to TMS: first enrollment should not be the canary for missing database config.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M4-Session-3-Presentation.md  Primary constructor DI: parameters available throughout the class. Bridge to next slides: same method should use template logging, not string concat or interpolation-as-string.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M4-Session-3-Presentation.md  Stress: template + arguments, not interpolated string. Demo one query in Seq or Application Insights if you have a sandbox.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M4-Session-3-Presentation.md  Production default Information; Debug/Trace flood. Per-namespace override: bump Microsoft.EntityFrameworkCore to Debug to see SQL, then turn it back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M4-Session-3-Presentation.md  In live code resolve ILogger via ILoggerFactory or inject into middleware factory pattern; this slide shows the spine snippet. Error pages should surface the ID to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with hierarchy slide: non-secret defaults in JSON; rotateable secrets outside Git. Pair with structured logging slide: show one correct template line side-by-side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M4-Session-3-Presentation.md  Lab Brief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mirrors M4-Session-3-Presentation.md Session 3 Summary  quick verbal playback before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prompts aligned to outcomes; demo hook optional if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Verbatim theme from M4-Session-3-Presentation.md  Why This Sets You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M4-Session-3-Presentation.md  closing speaker note before Session 4: capstone is rehearsal for real-world pressure, not perfection 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7C3AED"/>
          </a:solidFill>
          <a:ln w="12700">
            <a:solidFill>
              <a:srgbClr val="7C3AED"/>
            </a:solidFill>
            <a:prstDash val="solid"/>
          </a:ln>
        </p:spPr>
      </p:sp>
      <p:sp>
        <p:nvSpPr>
          <p:cNvPr id="3" name="Shape 1"/>
          <p:cNvSpPr/>
          <p:nvPr/>
        </p:nvSpPr>
        <p:spPr>
          <a:xfrm>
            <a:off x="0" y="5052060"/>
            <a:ext cx="9144000" cy="91440"/>
          </a:xfrm>
          <a:prstGeom prst="rect">
            <a:avLst/>
          </a:prstGeom>
          <a:solidFill>
            <a:srgbClr val="0EA5E9"/>
          </a:solidFill>
          <a:ln w="12700">
            <a:solidFill>
              <a:srgbClr val="0EA5E9"/>
            </a:solidFill>
            <a:prstDash val="solid"/>
          </a:ln>
        </p:spPr>
      </p:sp>
      <p:sp>
        <p:nvSpPr>
          <p:cNvPr id="4" name="Shape 2"/>
          <p:cNvSpPr/>
          <p:nvPr/>
        </p:nvSpPr>
        <p:spPr>
          <a:xfrm>
            <a:off x="0" y="91440"/>
            <a:ext cx="411480" cy="4960620"/>
          </a:xfrm>
          <a:prstGeom prst="rect">
            <a:avLst/>
          </a:prstGeom>
          <a:solidFill>
            <a:srgbClr val="243556"/>
          </a:solidFill>
          <a:ln w="12700">
            <a:solidFill>
              <a:srgbClr val="243556"/>
            </a:solidFill>
            <a:prstDash val="solid"/>
          </a:ln>
        </p:spPr>
      </p:sp>
      <p:sp>
        <p:nvSpPr>
          <p:cNvPr id="5" name="Shape 3"/>
          <p:cNvSpPr/>
          <p:nvPr/>
        </p:nvSpPr>
        <p:spPr>
          <a:xfrm>
            <a:off x="685800" y="685800"/>
            <a:ext cx="1234440" cy="320040"/>
          </a:xfrm>
          <a:prstGeom prst="rect">
            <a:avLst/>
          </a:prstGeom>
          <a:solidFill>
            <a:srgbClr val="7C3AED"/>
          </a:solidFill>
          <a:ln w="12700">
            <a:solidFill>
              <a:srgbClr val="7C3AED"/>
            </a:solidFill>
            <a:prstDash val="solid"/>
          </a:ln>
        </p:spPr>
      </p:sp>
      <p:sp>
        <p:nvSpPr>
          <p:cNvPr id="6" name="Text 4"/>
          <p:cNvSpPr/>
          <p:nvPr/>
        </p:nvSpPr>
        <p:spPr>
          <a:xfrm>
            <a:off x="685800" y="685800"/>
            <a:ext cx="1234440" cy="320040"/>
          </a:xfrm>
          <a:prstGeom prst="rect">
            <a:avLst/>
          </a:prstGeom>
          <a:noFill/>
        </p:spPr>
        <p:txBody>
          <a:bodyPr wrap="square" lIns="0" tIns="0" rIns="0" bIns="0" rtlCol="0" anchor="ctr"/>
          <a:lstStyle/>
          <a:p>
            <a:pPr marL="0" indent="0" algn="ctr">
              <a:buNone/>
            </a:pPr>
            <a:r>
              <a:rPr lang="en-US" sz="900" b="1" kern="0" spc="300" dirty="0">
                <a:solidFill>
                  <a:srgbClr val="FFFFFF"/>
                </a:solidFill>
                <a:latin typeface="Calibri" panose="020F0502020204030204" pitchFamily="34" charset="0"/>
                <a:ea typeface="Calibri" panose="020F0502020204030204" pitchFamily="34" charset="-122"/>
                <a:cs typeface="Calibri" panose="020F0502020204030204" pitchFamily="34" charset="-120"/>
              </a:rPr>
              <a:t>MODULE 4</a:t>
            </a:r>
            <a:endParaRPr lang="en-US" sz="900" dirty="0"/>
          </a:p>
        </p:txBody>
      </p:sp>
      <p:sp>
        <p:nvSpPr>
          <p:cNvPr id="7" name="Text 5"/>
          <p:cNvSpPr/>
          <p:nvPr/>
        </p:nvSpPr>
        <p:spPr>
          <a:xfrm>
            <a:off x="685800" y="1097280"/>
            <a:ext cx="4572000" cy="347472"/>
          </a:xfrm>
          <a:prstGeom prst="rect">
            <a:avLst/>
          </a:prstGeom>
          <a:noFill/>
        </p:spPr>
        <p:txBody>
          <a:bodyPr wrap="square" lIns="0" tIns="0" rIns="0" bIns="0" rtlCol="0" anchor="ctr"/>
          <a:lstStyle/>
          <a:p>
            <a:pPr marL="0" indent="0" algn="l">
              <a:buNone/>
            </a:pPr>
            <a:r>
              <a:rPr lang="en-US" sz="1300" dirty="0">
                <a:solidFill>
                  <a:srgbClr val="C4B5FD"/>
                </a:solidFill>
                <a:latin typeface="Calibri" panose="020F0502020204030204" pitchFamily="34" charset="0"/>
                <a:ea typeface="Calibri" panose="020F0502020204030204" pitchFamily="34" charset="-122"/>
                <a:cs typeface="Calibri" panose="020F0502020204030204" pitchFamily="34" charset="-120"/>
              </a:rPr>
              <a:t>Session 3 of 4</a:t>
            </a:r>
            <a:endParaRPr lang="en-US" sz="1300" dirty="0"/>
          </a:p>
        </p:txBody>
      </p:sp>
      <p:sp>
        <p:nvSpPr>
          <p:cNvPr id="8" name="Text 6"/>
          <p:cNvSpPr/>
          <p:nvPr/>
        </p:nvSpPr>
        <p:spPr>
          <a:xfrm>
            <a:off x="685800" y="1444752"/>
            <a:ext cx="6309360" cy="1737360"/>
          </a:xfrm>
          <a:prstGeom prst="rect">
            <a:avLst/>
          </a:prstGeom>
          <a:noFill/>
        </p:spPr>
        <p:txBody>
          <a:bodyPr wrap="square" lIns="0" tIns="0" rIns="0" bIns="0" rtlCol="0" anchor="t"/>
          <a:lstStyle/>
          <a:p>
            <a:pPr marL="0" indent="0" algn="l">
              <a:buNone/>
            </a:pPr>
            <a:r>
              <a:rPr lang="en-US" sz="38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Configuration, Options</a:t>
            </a:r>
            <a:endParaRPr lang="en-US" sz="3800" dirty="0"/>
          </a:p>
          <a:p>
            <a:pPr marL="0" indent="0" algn="l">
              <a:buNone/>
            </a:pPr>
            <a:r>
              <a:rPr lang="en-US" sz="3800" b="1" dirty="0">
                <a:solidFill>
                  <a:srgbClr val="FFFFFF"/>
                </a:solidFill>
                <a:latin typeface="Calibri" panose="020F0502020204030204" pitchFamily="34" charset="0"/>
                <a:ea typeface="Calibri" panose="020F0502020204030204" pitchFamily="34" charset="-122"/>
                <a:cs typeface="Calibri" panose="020F0502020204030204" pitchFamily="34" charset="-120"/>
              </a:rPr>
              <a:t>&amp; Structured Logging</a:t>
            </a:r>
            <a:endParaRPr lang="en-US" sz="3800" dirty="0"/>
          </a:p>
        </p:txBody>
      </p:sp>
      <p:sp>
        <p:nvSpPr>
          <p:cNvPr id="9" name="Text 7"/>
          <p:cNvSpPr/>
          <p:nvPr/>
        </p:nvSpPr>
        <p:spPr>
          <a:xfrm>
            <a:off x="685800" y="3246120"/>
            <a:ext cx="6583680" cy="502920"/>
          </a:xfrm>
          <a:prstGeom prst="rect">
            <a:avLst/>
          </a:prstGeom>
          <a:noFill/>
        </p:spPr>
        <p:txBody>
          <a:bodyPr wrap="square" lIns="0" tIns="0" rIns="0" bIns="0" rtlCol="0" anchor="ctr"/>
          <a:lstStyle/>
          <a:p>
            <a:pPr marL="0" indent="0" algn="l">
              <a:buNone/>
            </a:pPr>
            <a:r>
              <a:rPr lang="en-US" sz="1600" dirty="0">
                <a:solidFill>
                  <a:srgbClr val="93C5FD"/>
                </a:solidFill>
                <a:latin typeface="Calibri" panose="020F0502020204030204" pitchFamily="34" charset="0"/>
                <a:ea typeface="Calibri" panose="020F0502020204030204" pitchFamily="34" charset="-122"/>
                <a:cs typeface="Calibri" panose="020F0502020204030204" pitchFamily="34" charset="-120"/>
              </a:rPr>
              <a:t>TMS secrets, typed settings, searchable logs, correlation IDs</a:t>
            </a:r>
            <a:endParaRPr lang="en-US" sz="1600" dirty="0"/>
          </a:p>
        </p:txBody>
      </p:sp>
      <p:sp>
        <p:nvSpPr>
          <p:cNvPr id="10" name="Shape 8"/>
          <p:cNvSpPr/>
          <p:nvPr/>
        </p:nvSpPr>
        <p:spPr>
          <a:xfrm>
            <a:off x="685800" y="3840480"/>
            <a:ext cx="4114800" cy="0"/>
          </a:xfrm>
          <a:prstGeom prst="line">
            <a:avLst/>
          </a:prstGeom>
          <a:noFill/>
          <a:ln w="19050">
            <a:solidFill>
              <a:srgbClr val="0EA5E9"/>
            </a:solidFill>
            <a:prstDash val="solid"/>
          </a:ln>
        </p:spPr>
      </p:sp>
      <p:sp>
        <p:nvSpPr>
          <p:cNvPr id="12" name="Shape 10"/>
          <p:cNvSpPr/>
          <p:nvPr/>
        </p:nvSpPr>
        <p:spPr>
          <a:xfrm>
            <a:off x="6446520" y="914400"/>
            <a:ext cx="2514600" cy="3200400"/>
          </a:xfrm>
          <a:prstGeom prst="rect">
            <a:avLst/>
          </a:prstGeom>
          <a:solidFill>
            <a:srgbClr val="0F1A2E"/>
          </a:solidFill>
          <a:ln w="12700">
            <a:solidFill>
              <a:srgbClr val="7C3AED"/>
            </a:solidFill>
            <a:prstDash val="solid"/>
          </a:ln>
          <a:effectLst>
            <a:outerShdw blurRad="177800" dist="63500" dir="8100000" algn="bl" rotWithShape="0">
              <a:srgbClr val="000000">
                <a:alpha val="18000"/>
              </a:srgbClr>
            </a:outerShdw>
          </a:effectLst>
        </p:spPr>
      </p:sp>
      <p:sp>
        <p:nvSpPr>
          <p:cNvPr id="13" name="Text 11"/>
          <p:cNvSpPr/>
          <p:nvPr/>
        </p:nvSpPr>
        <p:spPr>
          <a:xfrm>
            <a:off x="6565392" y="1005840"/>
            <a:ext cx="2286000" cy="237744"/>
          </a:xfrm>
          <a:prstGeom prst="rect">
            <a:avLst/>
          </a:prstGeom>
          <a:noFill/>
        </p:spPr>
        <p:txBody>
          <a:bodyPr wrap="square" lIns="0" tIns="0" rIns="0" bIns="0" rtlCol="0" anchor="ctr"/>
          <a:lstStyle/>
          <a:p>
            <a:pPr marL="0" indent="0" algn="l">
              <a:buNone/>
            </a:pPr>
            <a:r>
              <a:rPr lang="en-US" sz="800" dirty="0">
                <a:solidFill>
                  <a:srgbClr val="94A3B8"/>
                </a:solidFill>
                <a:latin typeface="Calibri" panose="020F0502020204030204" pitchFamily="34" charset="0"/>
                <a:ea typeface="Calibri" panose="020F0502020204030204" pitchFamily="34" charset="-122"/>
                <a:cs typeface="Calibri" panose="020F0502020204030204" pitchFamily="34" charset="-120"/>
              </a:rPr>
              <a:t>appsettings.json</a:t>
            </a:r>
            <a:endParaRPr lang="en-US" sz="800" dirty="0"/>
          </a:p>
        </p:txBody>
      </p:sp>
      <p:sp>
        <p:nvSpPr>
          <p:cNvPr id="14" name="Text 12"/>
          <p:cNvSpPr/>
          <p:nvPr/>
        </p:nvSpPr>
        <p:spPr>
          <a:xfrm>
            <a:off x="6565392" y="1298448"/>
            <a:ext cx="2286000" cy="2651760"/>
          </a:xfrm>
          <a:prstGeom prst="rect">
            <a:avLst/>
          </a:prstGeom>
          <a:noFill/>
        </p:spPr>
        <p:txBody>
          <a:bodyPr wrap="square" lIns="0" tIns="0" rIns="0" bIns="0" rtlCol="0" anchor="t"/>
          <a:lstStyle/>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"Database": {</a:t>
            </a:r>
            <a:endParaRPr lang="en-US" sz="850" dirty="0"/>
          </a:p>
          <a:p>
            <a:pPr marL="0" indent="0" algn="l">
              <a:buNone/>
            </a:pPr>
            <a:r>
              <a:rPr lang="en-US" sz="850" dirty="0">
                <a:solidFill>
                  <a:srgbClr val="86EFAC"/>
                </a:solidFill>
                <a:latin typeface="Consolas" panose="020B0609020204030204" pitchFamily="34" charset="0"/>
                <a:ea typeface="Consolas" panose="020B0609020204030204" pitchFamily="34" charset="-122"/>
                <a:cs typeface="Consolas" panose="020B0609020204030204" pitchFamily="34" charset="-120"/>
              </a:rPr>
              <a:t>    "Timeout": 30</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a:t>
            </a:r>
            <a:endParaRPr lang="en-US" sz="850" dirty="0"/>
          </a:p>
          <a:p>
            <a:pPr marL="0" indent="0" algn="l">
              <a:buNone/>
            </a:pPr>
            <a:r>
              <a:rPr lang="en-US" sz="850" dirty="0">
                <a:solidFill>
                  <a:srgbClr val="94A3B8"/>
                </a:solidFill>
                <a:latin typeface="Consolas" panose="020B0609020204030204" pitchFamily="34" charset="0"/>
                <a:ea typeface="Consolas" panose="020B0609020204030204" pitchFamily="34" charset="-122"/>
                <a:cs typeface="Consolas" panose="020B0609020204030204" pitchFamily="34" charset="-120"/>
              </a:rPr>
              <a:t>  "Logging": { ... }</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C3AED"/>
          </a:solidFill>
          <a:ln w="12700">
            <a:solidFill>
              <a:srgbClr val="7C3AED"/>
            </a:solidFill>
            <a:prstDash val="solid"/>
          </a:ln>
        </p:spPr>
      </p:sp>
      <p:sp>
        <p:nvSpPr>
          <p:cNvPr id="3" name="Shape 1"/>
          <p:cNvSpPr/>
          <p:nvPr/>
        </p:nvSpPr>
        <p:spPr>
          <a:xfrm>
            <a:off x="73152" y="0"/>
            <a:ext cx="9070848" cy="749808"/>
          </a:xfrm>
          <a:prstGeom prst="rect">
            <a:avLst/>
          </a:prstGeom>
          <a:solidFill>
            <a:srgbClr val="F8FAFC"/>
          </a:solidFill>
          <a:ln w="6350">
            <a:solidFill>
              <a:srgbClr val="E2E8F0"/>
            </a:solidFill>
            <a:prstDash val="solid"/>
          </a:ln>
        </p:spPr>
      </p:sp>
      <p:sp>
        <p:nvSpPr>
          <p:cNvPr id="4" name="Shape 2"/>
          <p:cNvSpPr/>
          <p:nvPr/>
        </p:nvSpPr>
        <p:spPr>
          <a:xfrm>
            <a:off x="73152" y="749808"/>
            <a:ext cx="9070848" cy="36576"/>
          </a:xfrm>
          <a:prstGeom prst="rect">
            <a:avLst/>
          </a:prstGeom>
          <a:solidFill>
            <a:srgbClr val="7C3AED"/>
          </a:solidFill>
          <a:ln w="12700">
            <a:solidFill>
              <a:srgbClr val="7C3AED"/>
            </a:solidFill>
            <a:prstDash val="solid"/>
          </a:ln>
        </p:spPr>
      </p:sp>
      <p:sp>
        <p:nvSpPr>
          <p:cNvPr id="5" name="Text 3"/>
          <p:cNvSpPr/>
          <p:nvPr/>
        </p:nvSpPr>
        <p:spPr>
          <a:xfrm>
            <a:off x="228600" y="91440"/>
            <a:ext cx="7132320" cy="566928"/>
          </a:xfrm>
          <a:prstGeom prst="rect">
            <a:avLst/>
          </a:prstGeom>
          <a:noFill/>
        </p:spPr>
        <p:txBody>
          <a:bodyPr wrap="square" lIns="0" tIns="0" rIns="0" bIns="0" rtlCol="0" anchor="ctr"/>
          <a:lstStyle/>
          <a:p>
            <a:pPr marL="0" indent="0" algn="l">
              <a:buNone/>
            </a:pPr>
            <a:r>
              <a:rPr lang="en-US" sz="2100" b="1" dirty="0">
                <a:solidFill>
                  <a:srgbClr val="1E293B"/>
                </a:solidFill>
                <a:latin typeface="Calibri" panose="020F0502020204030204" pitchFamily="34" charset="0"/>
                <a:ea typeface="Calibri" panose="020F0502020204030204" pitchFamily="34" charset="-122"/>
                <a:cs typeface="Calibri" panose="020F0502020204030204" pitchFamily="34" charset="-120"/>
              </a:rPr>
              <a:t>Session 3  Production-Ready Configuration &amp; Logs</a:t>
            </a:r>
            <a:endParaRPr lang="en-US" sz="2100" dirty="0"/>
          </a:p>
        </p:txBody>
      </p:sp>
      <p:sp>
        <p:nvSpPr>
          <p:cNvPr id="6" name="Text 4"/>
          <p:cNvSpPr/>
          <p:nvPr/>
        </p:nvSpPr>
        <p:spPr>
          <a:xfrm>
            <a:off x="228600" y="841248"/>
            <a:ext cx="8686800" cy="292608"/>
          </a:xfrm>
          <a:prstGeom prst="rect">
            <a:avLst/>
          </a:prstGeom>
          <a:noFill/>
        </p:spPr>
        <p:txBody>
          <a:bodyPr wrap="square" lIns="0" tIns="0" rIns="0" bIns="0" rtlCol="0" anchor="ctr"/>
          <a:lstStyle/>
          <a:p>
            <a:pPr marL="0" indent="0" algn="l">
              <a:buNone/>
            </a:pPr>
            <a:r>
              <a:rPr lang="en-US" sz="1200" dirty="0">
                <a:solidFill>
                  <a:srgbClr val="64748B"/>
                </a:solidFill>
                <a:latin typeface="Calibri" panose="020F0502020204030204" pitchFamily="34" charset="0"/>
                <a:ea typeface="Calibri" panose="020F0502020204030204" pitchFamily="34" charset="-122"/>
                <a:cs typeface="Calibri" panose="020F0502020204030204" pitchFamily="34" charset="-120"/>
              </a:rPr>
              <a:t>By the end of this session, you will:</a:t>
            </a:r>
            <a:endParaRPr lang="en-US" sz="1200" dirty="0"/>
          </a:p>
        </p:txBody>
      </p:sp>
      <p:sp>
        <p:nvSpPr>
          <p:cNvPr id="7" name="Shape 5"/>
          <p:cNvSpPr/>
          <p:nvPr/>
        </p:nvSpPr>
        <p:spPr>
          <a:xfrm>
            <a:off x="256032" y="1234440"/>
            <a:ext cx="2743200" cy="1389888"/>
          </a:xfrm>
          <a:prstGeom prst="rect">
            <a:avLst/>
          </a:prstGeom>
          <a:solidFill>
            <a:srgbClr val="F8FAFC"/>
          </a:solidFill>
          <a:ln w="6350">
            <a:solidFill>
              <a:srgbClr val="E2E8F0"/>
            </a:solidFill>
            <a:prstDash val="solid"/>
          </a:ln>
          <a:effectLst>
            <a:outerShdw blurRad="101600" dist="38100" dir="8100000" algn="bl" rotWithShape="0">
              <a:srgbClr val="000000">
                <a:alpha val="12000"/>
              </a:srgbClr>
            </a:outerShdw>
          </a:effectLst>
        </p:spPr>
      </p:sp>
      <p:sp>
        <p:nvSpPr>
          <p:cNvPr id="8" name="Shape 6"/>
          <p:cNvSpPr/>
          <p:nvPr/>
        </p:nvSpPr>
        <p:spPr>
          <a:xfrm>
            <a:off x="256032" y="1234440"/>
            <a:ext cx="54864" cy="1389888"/>
          </a:xfrm>
          <a:prstGeom prst="rect">
            <a:avLst/>
          </a:prstGeom>
          <a:solidFill>
            <a:srgbClr val="7C3AED"/>
          </a:solidFill>
          <a:ln w="12700">
            <a:solidFill>
              <a:srgbClr val="7C3AED"/>
            </a:solidFill>
            <a:prstDash val="solid"/>
          </a:ln>
        </p:spPr>
      </p:sp>
      <p:sp>
        <p:nvSpPr>
          <p:cNvPr id="9" name="Shape 7"/>
          <p:cNvSpPr/>
          <p:nvPr/>
        </p:nvSpPr>
        <p:spPr>
          <a:xfrm>
            <a:off x="420624" y="1380744"/>
            <a:ext cx="365760" cy="365760"/>
          </a:xfrm>
          <a:prstGeom prst="ellipse">
            <a:avLst/>
          </a:prstGeom>
          <a:solidFill>
            <a:srgbClr val="7C3AED"/>
          </a:solidFill>
          <a:ln w="12700">
            <a:solidFill>
              <a:srgbClr val="7C3AED"/>
            </a:solidFill>
            <a:prstDash val="solid"/>
          </a:ln>
        </p:spPr>
      </p:sp>
      <p:sp>
        <p:nvSpPr>
          <p:cNvPr id="10" name="Text 8"/>
          <p:cNvSpPr/>
          <p:nvPr/>
        </p:nvSpPr>
        <p:spPr>
          <a:xfrm>
            <a:off x="420624" y="1380744"/>
            <a:ext cx="365760" cy="36576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01</a:t>
            </a:r>
            <a:endParaRPr lang="en-US" sz="1100" dirty="0"/>
          </a:p>
        </p:txBody>
      </p:sp>
      <p:sp>
        <p:nvSpPr>
          <p:cNvPr id="11" name="Text 9"/>
          <p:cNvSpPr/>
          <p:nvPr/>
        </p:nvSpPr>
        <p:spPr>
          <a:xfrm>
            <a:off x="914400" y="1362456"/>
            <a:ext cx="2011680" cy="320040"/>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Protect secrets</a:t>
            </a:r>
            <a:endParaRPr lang="en-US" sz="1150" dirty="0"/>
          </a:p>
        </p:txBody>
      </p:sp>
      <p:sp>
        <p:nvSpPr>
          <p:cNvPr id="12" name="Text 10"/>
          <p:cNvSpPr/>
          <p:nvPr/>
        </p:nvSpPr>
        <p:spPr>
          <a:xfrm>
            <a:off x="438912" y="1746504"/>
            <a:ext cx="2487168" cy="804672"/>
          </a:xfrm>
          <a:prstGeom prst="rect">
            <a:avLst/>
          </a:prstGeom>
          <a:noFill/>
        </p:spPr>
        <p:txBody>
          <a:bodyPr wrap="square" lIns="0" tIns="0" rIns="0" bIns="0" rtlCol="0" anchor="t"/>
          <a:lstStyle/>
          <a:p>
            <a:pPr marL="0" indent="0" algn="l">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No passwords in source or committed JSON  env vars / vault / user-secrets</a:t>
            </a:r>
            <a:endParaRPr lang="en-US" sz="950" dirty="0"/>
          </a:p>
        </p:txBody>
      </p:sp>
      <p:sp>
        <p:nvSpPr>
          <p:cNvPr id="13" name="Shape 11"/>
          <p:cNvSpPr/>
          <p:nvPr/>
        </p:nvSpPr>
        <p:spPr>
          <a:xfrm>
            <a:off x="3227832" y="1234440"/>
            <a:ext cx="2743200" cy="1389888"/>
          </a:xfrm>
          <a:prstGeom prst="rect">
            <a:avLst/>
          </a:prstGeom>
          <a:solidFill>
            <a:srgbClr val="F8FAFC"/>
          </a:solidFill>
          <a:ln w="6350">
            <a:solidFill>
              <a:srgbClr val="E2E8F0"/>
            </a:solidFill>
            <a:prstDash val="solid"/>
          </a:ln>
          <a:effectLst>
            <a:outerShdw blurRad="101600" dist="38100" dir="8100000" algn="bl" rotWithShape="0">
              <a:srgbClr val="000000">
                <a:alpha val="12000"/>
              </a:srgbClr>
            </a:outerShdw>
          </a:effectLst>
        </p:spPr>
      </p:sp>
      <p:sp>
        <p:nvSpPr>
          <p:cNvPr id="14" name="Shape 12"/>
          <p:cNvSpPr/>
          <p:nvPr/>
        </p:nvSpPr>
        <p:spPr>
          <a:xfrm>
            <a:off x="3227832" y="1234440"/>
            <a:ext cx="54864" cy="1389888"/>
          </a:xfrm>
          <a:prstGeom prst="rect">
            <a:avLst/>
          </a:prstGeom>
          <a:solidFill>
            <a:srgbClr val="0EA5E9"/>
          </a:solidFill>
          <a:ln w="12700">
            <a:solidFill>
              <a:srgbClr val="0EA5E9"/>
            </a:solidFill>
            <a:prstDash val="solid"/>
          </a:ln>
        </p:spPr>
      </p:sp>
      <p:sp>
        <p:nvSpPr>
          <p:cNvPr id="15" name="Shape 13"/>
          <p:cNvSpPr/>
          <p:nvPr/>
        </p:nvSpPr>
        <p:spPr>
          <a:xfrm>
            <a:off x="3392424" y="1380744"/>
            <a:ext cx="365760" cy="365760"/>
          </a:xfrm>
          <a:prstGeom prst="ellipse">
            <a:avLst/>
          </a:prstGeom>
          <a:solidFill>
            <a:srgbClr val="0EA5E9"/>
          </a:solidFill>
          <a:ln w="12700">
            <a:solidFill>
              <a:srgbClr val="0EA5E9"/>
            </a:solidFill>
            <a:prstDash val="solid"/>
          </a:ln>
        </p:spPr>
      </p:sp>
      <p:sp>
        <p:nvSpPr>
          <p:cNvPr id="16" name="Text 14"/>
          <p:cNvSpPr/>
          <p:nvPr/>
        </p:nvSpPr>
        <p:spPr>
          <a:xfrm>
            <a:off x="3392424" y="1380744"/>
            <a:ext cx="365760" cy="36576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a:t>
            </a:r>
            <a:endParaRPr lang="en-US" sz="1100" dirty="0"/>
          </a:p>
        </p:txBody>
      </p:sp>
      <p:sp>
        <p:nvSpPr>
          <p:cNvPr id="17" name="Text 15"/>
          <p:cNvSpPr/>
          <p:nvPr/>
        </p:nvSpPr>
        <p:spPr>
          <a:xfrm>
            <a:off x="3886200" y="1362456"/>
            <a:ext cx="2011680" cy="320040"/>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Options pattern</a:t>
            </a:r>
            <a:endParaRPr lang="en-US" sz="1150" dirty="0"/>
          </a:p>
        </p:txBody>
      </p:sp>
      <p:sp>
        <p:nvSpPr>
          <p:cNvPr id="18" name="Text 16"/>
          <p:cNvSpPr/>
          <p:nvPr/>
        </p:nvSpPr>
        <p:spPr>
          <a:xfrm>
            <a:off x="3410712" y="1746504"/>
            <a:ext cx="2487168" cy="804672"/>
          </a:xfrm>
          <a:prstGeom prst="rect">
            <a:avLst/>
          </a:prstGeom>
          <a:noFill/>
        </p:spPr>
        <p:txBody>
          <a:bodyPr wrap="square" lIns="0" tIns="0" rIns="0" bIns="0" rtlCol="0" anchor="t"/>
          <a:lstStyle/>
          <a:p>
            <a:pPr marL="0" indent="0" algn="l">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Typed, bound configuration  not stringly-typed IConfiguration lookups</a:t>
            </a:r>
            <a:endParaRPr lang="en-US" sz="950" dirty="0"/>
          </a:p>
        </p:txBody>
      </p:sp>
      <p:sp>
        <p:nvSpPr>
          <p:cNvPr id="19" name="Shape 17"/>
          <p:cNvSpPr/>
          <p:nvPr/>
        </p:nvSpPr>
        <p:spPr>
          <a:xfrm>
            <a:off x="6199632" y="1234440"/>
            <a:ext cx="2743200" cy="1389888"/>
          </a:xfrm>
          <a:prstGeom prst="rect">
            <a:avLst/>
          </a:prstGeom>
          <a:solidFill>
            <a:srgbClr val="F8FAFC"/>
          </a:solidFill>
          <a:ln w="6350">
            <a:solidFill>
              <a:srgbClr val="E2E8F0"/>
            </a:solidFill>
            <a:prstDash val="solid"/>
          </a:ln>
          <a:effectLst>
            <a:outerShdw blurRad="101600" dist="38100" dir="8100000" algn="bl" rotWithShape="0">
              <a:srgbClr val="000000">
                <a:alpha val="12000"/>
              </a:srgbClr>
            </a:outerShdw>
          </a:effectLst>
        </p:spPr>
      </p:sp>
      <p:sp>
        <p:nvSpPr>
          <p:cNvPr id="20" name="Shape 18"/>
          <p:cNvSpPr/>
          <p:nvPr/>
        </p:nvSpPr>
        <p:spPr>
          <a:xfrm>
            <a:off x="6199632" y="1234440"/>
            <a:ext cx="54864" cy="1389888"/>
          </a:xfrm>
          <a:prstGeom prst="rect">
            <a:avLst/>
          </a:prstGeom>
          <a:solidFill>
            <a:srgbClr val="0D9488"/>
          </a:solidFill>
          <a:ln w="12700">
            <a:solidFill>
              <a:srgbClr val="0D9488"/>
            </a:solidFill>
            <a:prstDash val="solid"/>
          </a:ln>
        </p:spPr>
      </p:sp>
      <p:sp>
        <p:nvSpPr>
          <p:cNvPr id="21" name="Shape 19"/>
          <p:cNvSpPr/>
          <p:nvPr/>
        </p:nvSpPr>
        <p:spPr>
          <a:xfrm>
            <a:off x="6364224" y="1380744"/>
            <a:ext cx="365760" cy="365760"/>
          </a:xfrm>
          <a:prstGeom prst="ellipse">
            <a:avLst/>
          </a:prstGeom>
          <a:solidFill>
            <a:srgbClr val="0D9488"/>
          </a:solidFill>
          <a:ln w="12700">
            <a:solidFill>
              <a:srgbClr val="0D9488"/>
            </a:solidFill>
            <a:prstDash val="solid"/>
          </a:ln>
        </p:spPr>
      </p:sp>
      <p:sp>
        <p:nvSpPr>
          <p:cNvPr id="22" name="Text 20"/>
          <p:cNvSpPr/>
          <p:nvPr/>
        </p:nvSpPr>
        <p:spPr>
          <a:xfrm>
            <a:off x="6364224" y="1380744"/>
            <a:ext cx="365760" cy="36576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a:t>
            </a:r>
            <a:endParaRPr lang="en-US" sz="1100" dirty="0"/>
          </a:p>
        </p:txBody>
      </p:sp>
      <p:sp>
        <p:nvSpPr>
          <p:cNvPr id="23" name="Text 21"/>
          <p:cNvSpPr/>
          <p:nvPr/>
        </p:nvSpPr>
        <p:spPr>
          <a:xfrm>
            <a:off x="6858000" y="1362456"/>
            <a:ext cx="2011680" cy="320040"/>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Fail at startup</a:t>
            </a:r>
            <a:endParaRPr lang="en-US" sz="1150" dirty="0"/>
          </a:p>
        </p:txBody>
      </p:sp>
      <p:sp>
        <p:nvSpPr>
          <p:cNvPr id="24" name="Text 22"/>
          <p:cNvSpPr/>
          <p:nvPr/>
        </p:nvSpPr>
        <p:spPr>
          <a:xfrm>
            <a:off x="6382512" y="1746504"/>
            <a:ext cx="2487168" cy="804672"/>
          </a:xfrm>
          <a:prstGeom prst="rect">
            <a:avLst/>
          </a:prstGeom>
          <a:noFill/>
        </p:spPr>
        <p:txBody>
          <a:bodyPr wrap="square" lIns="0" tIns="0" rIns="0" bIns="0" rtlCol="0" anchor="t"/>
          <a:lstStyle/>
          <a:p>
            <a:pPr marL="0" indent="0" algn="l">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ValidateOnStart  missing config before users, not hours after deploy</a:t>
            </a:r>
            <a:endParaRPr lang="en-US" sz="950" dirty="0"/>
          </a:p>
        </p:txBody>
      </p:sp>
      <p:sp>
        <p:nvSpPr>
          <p:cNvPr id="25" name="Shape 23"/>
          <p:cNvSpPr/>
          <p:nvPr/>
        </p:nvSpPr>
        <p:spPr>
          <a:xfrm>
            <a:off x="256032" y="2761488"/>
            <a:ext cx="2743200" cy="1389888"/>
          </a:xfrm>
          <a:prstGeom prst="rect">
            <a:avLst/>
          </a:prstGeom>
          <a:solidFill>
            <a:srgbClr val="F8FAFC"/>
          </a:solidFill>
          <a:ln w="6350">
            <a:solidFill>
              <a:srgbClr val="E2E8F0"/>
            </a:solidFill>
            <a:prstDash val="solid"/>
          </a:ln>
          <a:effectLst>
            <a:outerShdw blurRad="101600" dist="38100" dir="8100000" algn="bl" rotWithShape="0">
              <a:srgbClr val="000000">
                <a:alpha val="12000"/>
              </a:srgbClr>
            </a:outerShdw>
          </a:effectLst>
        </p:spPr>
      </p:sp>
      <p:sp>
        <p:nvSpPr>
          <p:cNvPr id="26" name="Shape 24"/>
          <p:cNvSpPr/>
          <p:nvPr/>
        </p:nvSpPr>
        <p:spPr>
          <a:xfrm>
            <a:off x="256032" y="2761488"/>
            <a:ext cx="54864" cy="1389888"/>
          </a:xfrm>
          <a:prstGeom prst="rect">
            <a:avLst/>
          </a:prstGeom>
          <a:solidFill>
            <a:srgbClr val="F59E0B"/>
          </a:solidFill>
          <a:ln w="12700">
            <a:solidFill>
              <a:srgbClr val="F59E0B"/>
            </a:solidFill>
            <a:prstDash val="solid"/>
          </a:ln>
        </p:spPr>
      </p:sp>
      <p:sp>
        <p:nvSpPr>
          <p:cNvPr id="27" name="Shape 25"/>
          <p:cNvSpPr/>
          <p:nvPr/>
        </p:nvSpPr>
        <p:spPr>
          <a:xfrm>
            <a:off x="420624" y="2907792"/>
            <a:ext cx="365760" cy="365760"/>
          </a:xfrm>
          <a:prstGeom prst="ellipse">
            <a:avLst/>
          </a:prstGeom>
          <a:solidFill>
            <a:srgbClr val="F59E0B"/>
          </a:solidFill>
          <a:ln w="12700">
            <a:solidFill>
              <a:srgbClr val="F59E0B"/>
            </a:solidFill>
            <a:prstDash val="solid"/>
          </a:ln>
        </p:spPr>
      </p:sp>
      <p:sp>
        <p:nvSpPr>
          <p:cNvPr id="28" name="Text 26"/>
          <p:cNvSpPr/>
          <p:nvPr/>
        </p:nvSpPr>
        <p:spPr>
          <a:xfrm>
            <a:off x="420624" y="2907792"/>
            <a:ext cx="365760" cy="36576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04</a:t>
            </a:r>
            <a:endParaRPr lang="en-US" sz="1100" dirty="0"/>
          </a:p>
        </p:txBody>
      </p:sp>
      <p:sp>
        <p:nvSpPr>
          <p:cNvPr id="29" name="Text 27"/>
          <p:cNvSpPr/>
          <p:nvPr/>
        </p:nvSpPr>
        <p:spPr>
          <a:xfrm>
            <a:off x="914400" y="2889504"/>
            <a:ext cx="2011680" cy="320040"/>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Structured logging</a:t>
            </a:r>
            <a:endParaRPr lang="en-US" sz="1150" dirty="0"/>
          </a:p>
        </p:txBody>
      </p:sp>
      <p:sp>
        <p:nvSpPr>
          <p:cNvPr id="30" name="Text 28"/>
          <p:cNvSpPr/>
          <p:nvPr/>
        </p:nvSpPr>
        <p:spPr>
          <a:xfrm>
            <a:off x="438912" y="3273552"/>
            <a:ext cx="2487168" cy="804672"/>
          </a:xfrm>
          <a:prstGeom prst="rect">
            <a:avLst/>
          </a:prstGeom>
          <a:noFill/>
        </p:spPr>
        <p:txBody>
          <a:bodyPr wrap="square" lIns="0" tIns="0" rIns="0" bIns="0" rtlCol="0" anchor="t"/>
          <a:lstStyle/>
          <a:p>
            <a:pPr marL="0" indent="0" algn="l">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Named properties aggregators can index  not concatenated prose</a:t>
            </a:r>
            <a:endParaRPr lang="en-US" sz="950" dirty="0"/>
          </a:p>
        </p:txBody>
      </p:sp>
      <p:sp>
        <p:nvSpPr>
          <p:cNvPr id="31" name="Shape 29"/>
          <p:cNvSpPr/>
          <p:nvPr/>
        </p:nvSpPr>
        <p:spPr>
          <a:xfrm>
            <a:off x="3227832" y="2761488"/>
            <a:ext cx="2743200" cy="1389888"/>
          </a:xfrm>
          <a:prstGeom prst="rect">
            <a:avLst/>
          </a:prstGeom>
          <a:solidFill>
            <a:srgbClr val="F8FAFC"/>
          </a:solidFill>
          <a:ln w="6350">
            <a:solidFill>
              <a:srgbClr val="E2E8F0"/>
            </a:solidFill>
            <a:prstDash val="solid"/>
          </a:ln>
          <a:effectLst>
            <a:outerShdw blurRad="101600" dist="38100" dir="8100000" algn="bl" rotWithShape="0">
              <a:srgbClr val="000000">
                <a:alpha val="12000"/>
              </a:srgbClr>
            </a:outerShdw>
          </a:effectLst>
        </p:spPr>
      </p:sp>
      <p:sp>
        <p:nvSpPr>
          <p:cNvPr id="32" name="Shape 30"/>
          <p:cNvSpPr/>
          <p:nvPr/>
        </p:nvSpPr>
        <p:spPr>
          <a:xfrm>
            <a:off x="3227832" y="2761488"/>
            <a:ext cx="54864" cy="1389888"/>
          </a:xfrm>
          <a:prstGeom prst="rect">
            <a:avLst/>
          </a:prstGeom>
          <a:solidFill>
            <a:srgbClr val="EF4444"/>
          </a:solidFill>
          <a:ln w="12700">
            <a:solidFill>
              <a:srgbClr val="EF4444"/>
            </a:solidFill>
            <a:prstDash val="solid"/>
          </a:ln>
        </p:spPr>
      </p:sp>
      <p:sp>
        <p:nvSpPr>
          <p:cNvPr id="33" name="Shape 31"/>
          <p:cNvSpPr/>
          <p:nvPr/>
        </p:nvSpPr>
        <p:spPr>
          <a:xfrm>
            <a:off x="3392424" y="2907792"/>
            <a:ext cx="365760" cy="365760"/>
          </a:xfrm>
          <a:prstGeom prst="ellipse">
            <a:avLst/>
          </a:prstGeom>
          <a:solidFill>
            <a:srgbClr val="EF4444"/>
          </a:solidFill>
          <a:ln w="12700">
            <a:solidFill>
              <a:srgbClr val="EF4444"/>
            </a:solidFill>
            <a:prstDash val="solid"/>
          </a:ln>
        </p:spPr>
      </p:sp>
      <p:sp>
        <p:nvSpPr>
          <p:cNvPr id="34" name="Text 32"/>
          <p:cNvSpPr/>
          <p:nvPr/>
        </p:nvSpPr>
        <p:spPr>
          <a:xfrm>
            <a:off x="3392424" y="2907792"/>
            <a:ext cx="365760" cy="36576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05</a:t>
            </a:r>
            <a:endParaRPr lang="en-US" sz="1100" dirty="0"/>
          </a:p>
        </p:txBody>
      </p:sp>
      <p:sp>
        <p:nvSpPr>
          <p:cNvPr id="35" name="Text 33"/>
          <p:cNvSpPr/>
          <p:nvPr/>
        </p:nvSpPr>
        <p:spPr>
          <a:xfrm>
            <a:off x="3886200" y="2889504"/>
            <a:ext cx="2011680" cy="320040"/>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Log levels</a:t>
            </a:r>
            <a:endParaRPr lang="en-US" sz="1150" dirty="0"/>
          </a:p>
        </p:txBody>
      </p:sp>
      <p:sp>
        <p:nvSpPr>
          <p:cNvPr id="36" name="Text 34"/>
          <p:cNvSpPr/>
          <p:nvPr/>
        </p:nvSpPr>
        <p:spPr>
          <a:xfrm>
            <a:off x="3410712" y="3273552"/>
            <a:ext cx="2487168" cy="804672"/>
          </a:xfrm>
          <a:prstGeom prst="rect">
            <a:avLst/>
          </a:prstGeom>
          <a:noFill/>
        </p:spPr>
        <p:txBody>
          <a:bodyPr wrap="square" lIns="0" tIns="0" rIns="0" bIns="0" rtlCol="0" anchor="t"/>
          <a:lstStyle/>
          <a:p>
            <a:pPr marL="0" indent="0" algn="l">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Critical → Trace  pick the right noise level for TMS in prod vs debug</a:t>
            </a:r>
            <a:endParaRPr lang="en-US" sz="950" dirty="0"/>
          </a:p>
        </p:txBody>
      </p:sp>
      <p:sp>
        <p:nvSpPr>
          <p:cNvPr id="37" name="Shape 35"/>
          <p:cNvSpPr/>
          <p:nvPr/>
        </p:nvSpPr>
        <p:spPr>
          <a:xfrm>
            <a:off x="6199632" y="2761488"/>
            <a:ext cx="2743200" cy="1389888"/>
          </a:xfrm>
          <a:prstGeom prst="rect">
            <a:avLst/>
          </a:prstGeom>
          <a:solidFill>
            <a:srgbClr val="F8FAFC"/>
          </a:solidFill>
          <a:ln w="6350">
            <a:solidFill>
              <a:srgbClr val="E2E8F0"/>
            </a:solidFill>
            <a:prstDash val="solid"/>
          </a:ln>
          <a:effectLst>
            <a:outerShdw blurRad="101600" dist="38100" dir="8100000" algn="bl" rotWithShape="0">
              <a:srgbClr val="000000">
                <a:alpha val="12000"/>
              </a:srgbClr>
            </a:outerShdw>
          </a:effectLst>
        </p:spPr>
      </p:sp>
      <p:sp>
        <p:nvSpPr>
          <p:cNvPr id="38" name="Shape 36"/>
          <p:cNvSpPr/>
          <p:nvPr/>
        </p:nvSpPr>
        <p:spPr>
          <a:xfrm>
            <a:off x="6199632" y="2761488"/>
            <a:ext cx="54864" cy="1389888"/>
          </a:xfrm>
          <a:prstGeom prst="rect">
            <a:avLst/>
          </a:prstGeom>
          <a:solidFill>
            <a:srgbClr val="10B981"/>
          </a:solidFill>
          <a:ln w="12700">
            <a:solidFill>
              <a:srgbClr val="10B981"/>
            </a:solidFill>
            <a:prstDash val="solid"/>
          </a:ln>
        </p:spPr>
      </p:sp>
      <p:sp>
        <p:nvSpPr>
          <p:cNvPr id="39" name="Shape 37"/>
          <p:cNvSpPr/>
          <p:nvPr/>
        </p:nvSpPr>
        <p:spPr>
          <a:xfrm>
            <a:off x="6364224" y="2907792"/>
            <a:ext cx="365760" cy="365760"/>
          </a:xfrm>
          <a:prstGeom prst="ellipse">
            <a:avLst/>
          </a:prstGeom>
          <a:solidFill>
            <a:srgbClr val="10B981"/>
          </a:solidFill>
          <a:ln w="12700">
            <a:solidFill>
              <a:srgbClr val="10B981"/>
            </a:solidFill>
            <a:prstDash val="solid"/>
          </a:ln>
        </p:spPr>
      </p:sp>
      <p:sp>
        <p:nvSpPr>
          <p:cNvPr id="40" name="Text 38"/>
          <p:cNvSpPr/>
          <p:nvPr/>
        </p:nvSpPr>
        <p:spPr>
          <a:xfrm>
            <a:off x="6364224" y="2907792"/>
            <a:ext cx="365760" cy="365760"/>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06</a:t>
            </a:r>
            <a:endParaRPr lang="en-US" sz="1100" dirty="0"/>
          </a:p>
        </p:txBody>
      </p:sp>
      <p:sp>
        <p:nvSpPr>
          <p:cNvPr id="41" name="Text 39"/>
          <p:cNvSpPr/>
          <p:nvPr/>
        </p:nvSpPr>
        <p:spPr>
          <a:xfrm>
            <a:off x="6858000" y="2889504"/>
            <a:ext cx="2011680" cy="320040"/>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Correlation IDs</a:t>
            </a:r>
            <a:endParaRPr lang="en-US" sz="1150" dirty="0"/>
          </a:p>
        </p:txBody>
      </p:sp>
      <p:sp>
        <p:nvSpPr>
          <p:cNvPr id="42" name="Text 40"/>
          <p:cNvSpPr/>
          <p:nvPr/>
        </p:nvSpPr>
        <p:spPr>
          <a:xfrm>
            <a:off x="6382512" y="3273552"/>
            <a:ext cx="2487168" cy="804672"/>
          </a:xfrm>
          <a:prstGeom prst="rect">
            <a:avLst/>
          </a:prstGeom>
          <a:noFill/>
        </p:spPr>
        <p:txBody>
          <a:bodyPr wrap="square" lIns="0" tIns="0" rIns="0" bIns="0" rtlCol="0" anchor="t"/>
          <a:lstStyle/>
          <a:p>
            <a:pPr marL="0" indent="0" algn="l">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One ID per request  follow an enrollment through every log line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F4444"/>
          </a:solidFill>
          <a:ln w="12700">
            <a:solidFill>
              <a:srgbClr val="EF4444"/>
            </a:solidFill>
            <a:prstDash val="solid"/>
          </a:ln>
        </p:spPr>
      </p:sp>
      <p:sp>
        <p:nvSpPr>
          <p:cNvPr id="3" name="Shape 1"/>
          <p:cNvSpPr/>
          <p:nvPr/>
        </p:nvSpPr>
        <p:spPr>
          <a:xfrm>
            <a:off x="73152" y="0"/>
            <a:ext cx="9070848" cy="749808"/>
          </a:xfrm>
          <a:prstGeom prst="rect">
            <a:avLst/>
          </a:prstGeom>
          <a:solidFill>
            <a:srgbClr val="F8FAFC"/>
          </a:solidFill>
          <a:ln w="6350">
            <a:solidFill>
              <a:srgbClr val="E2E8F0"/>
            </a:solidFill>
            <a:prstDash val="solid"/>
          </a:ln>
        </p:spPr>
      </p:sp>
      <p:sp>
        <p:nvSpPr>
          <p:cNvPr id="4" name="Shape 2"/>
          <p:cNvSpPr/>
          <p:nvPr/>
        </p:nvSpPr>
        <p:spPr>
          <a:xfrm>
            <a:off x="73152" y="749808"/>
            <a:ext cx="9070848" cy="36576"/>
          </a:xfrm>
          <a:prstGeom prst="rect">
            <a:avLst/>
          </a:prstGeom>
          <a:solidFill>
            <a:srgbClr val="EF4444"/>
          </a:solidFill>
          <a:ln w="12700">
            <a:solidFill>
              <a:srgbClr val="EF4444"/>
            </a:solidFill>
            <a:prstDash val="solid"/>
          </a:ln>
        </p:spPr>
      </p:sp>
      <p:sp>
        <p:nvSpPr>
          <p:cNvPr id="5" name="Text 3"/>
          <p:cNvSpPr/>
          <p:nvPr/>
        </p:nvSpPr>
        <p:spPr>
          <a:xfrm>
            <a:off x="228600" y="91440"/>
            <a:ext cx="7132320" cy="566928"/>
          </a:xfrm>
          <a:prstGeom prst="rect">
            <a:avLst/>
          </a:prstGeom>
          <a:noFill/>
        </p:spPr>
        <p:txBody>
          <a:bodyPr wrap="square" lIns="0" tIns="0" rIns="0" bIns="0" rtlCol="0" anchor="ctr"/>
          <a:lstStyle/>
          <a:p>
            <a:pPr marL="0" indent="0" algn="l">
              <a:buNone/>
            </a:pPr>
            <a:r>
              <a:rPr lang="en-US" sz="2100" b="1" dirty="0">
                <a:solidFill>
                  <a:srgbClr val="1E293B"/>
                </a:solidFill>
                <a:latin typeface="Calibri" panose="020F0502020204030204" pitchFamily="34" charset="0"/>
                <a:ea typeface="Calibri" panose="020F0502020204030204" pitchFamily="34" charset="-122"/>
                <a:cs typeface="Calibri" panose="020F0502020204030204" pitchFamily="34" charset="-120"/>
              </a:rPr>
              <a:t>Where Do Database Passwords Live?</a:t>
            </a:r>
            <a:endParaRPr lang="en-US" sz="2100" dirty="0"/>
          </a:p>
        </p:txBody>
      </p:sp>
      <p:sp>
        <p:nvSpPr>
          <p:cNvPr id="6" name="Shape 4"/>
          <p:cNvSpPr/>
          <p:nvPr/>
        </p:nvSpPr>
        <p:spPr>
          <a:xfrm>
            <a:off x="137160" y="786384"/>
            <a:ext cx="8869680" cy="0"/>
          </a:xfrm>
          <a:prstGeom prst="line">
            <a:avLst/>
          </a:prstGeom>
          <a:noFill/>
          <a:ln w="6350">
            <a:solidFill>
              <a:srgbClr val="E2E8F0"/>
            </a:solidFill>
            <a:prstDash val="solid"/>
          </a:ln>
        </p:spPr>
      </p:sp>
      <p:sp>
        <p:nvSpPr>
          <p:cNvPr id="7" name="Shape 5"/>
          <p:cNvSpPr/>
          <p:nvPr/>
        </p:nvSpPr>
        <p:spPr>
          <a:xfrm>
            <a:off x="182880" y="868680"/>
            <a:ext cx="4160520" cy="1234440"/>
          </a:xfrm>
          <a:prstGeom prst="rect">
            <a:avLst/>
          </a:prstGeom>
          <a:solidFill>
            <a:srgbClr val="1E293B"/>
          </a:solidFill>
          <a:ln w="6350">
            <a:solidFill>
              <a:srgbClr val="334155"/>
            </a:solidFill>
            <a:prstDash val="solid"/>
          </a:ln>
          <a:effectLst>
            <a:outerShdw blurRad="101600" dist="38100" dir="8100000" algn="bl" rotWithShape="0">
              <a:srgbClr val="000000">
                <a:alpha val="12000"/>
              </a:srgbClr>
            </a:outerShdw>
          </a:effectLst>
        </p:spPr>
      </p:sp>
      <p:sp>
        <p:nvSpPr>
          <p:cNvPr id="8" name="Shape 6"/>
          <p:cNvSpPr/>
          <p:nvPr/>
        </p:nvSpPr>
        <p:spPr>
          <a:xfrm>
            <a:off x="182880" y="868680"/>
            <a:ext cx="4160520" cy="292608"/>
          </a:xfrm>
          <a:prstGeom prst="rect">
            <a:avLst/>
          </a:prstGeom>
          <a:solidFill>
            <a:srgbClr val="0F172A"/>
          </a:solidFill>
          <a:ln w="12700">
            <a:solidFill>
              <a:srgbClr val="334155"/>
            </a:solidFill>
            <a:prstDash val="solid"/>
          </a:ln>
        </p:spPr>
      </p:sp>
      <p:sp>
        <p:nvSpPr>
          <p:cNvPr id="9" name="Text 7"/>
          <p:cNvSpPr/>
          <p:nvPr/>
        </p:nvSpPr>
        <p:spPr>
          <a:xfrm>
            <a:off x="292608" y="868680"/>
            <a:ext cx="3941064" cy="292608"/>
          </a:xfrm>
          <a:prstGeom prst="rect">
            <a:avLst/>
          </a:prstGeom>
          <a:noFill/>
        </p:spPr>
        <p:txBody>
          <a:bodyPr wrap="square" lIns="0" tIns="0" rIns="0" bIns="0" rtlCol="0" anchor="ctr"/>
          <a:lstStyle/>
          <a:p>
            <a:pPr marL="0" indent="0" algn="l">
              <a:buNone/>
            </a:pPr>
            <a:r>
              <a:rPr lang="en-US" sz="850" dirty="0">
                <a:solidFill>
                  <a:srgbClr val="94A3B8"/>
                </a:solidFill>
                <a:latin typeface="Calibri" panose="020F0502020204030204" pitchFamily="34" charset="0"/>
                <a:ea typeface="Calibri" panose="020F0502020204030204" pitchFamily="34" charset="-122"/>
                <a:cs typeface="Calibri" panose="020F0502020204030204" pitchFamily="34" charset="-120"/>
              </a:rPr>
              <a:t>Reject in code review</a:t>
            </a:r>
            <a:endParaRPr lang="en-US" sz="850" dirty="0"/>
          </a:p>
        </p:txBody>
      </p:sp>
      <p:sp>
        <p:nvSpPr>
          <p:cNvPr id="10" name="Text 8"/>
          <p:cNvSpPr/>
          <p:nvPr/>
        </p:nvSpPr>
        <p:spPr>
          <a:xfrm>
            <a:off x="320040" y="1216152"/>
            <a:ext cx="3886200" cy="777240"/>
          </a:xfrm>
          <a:prstGeom prst="rect">
            <a:avLst/>
          </a:prstGeom>
          <a:noFill/>
        </p:spPr>
        <p:txBody>
          <a:bodyPr wrap="square" lIns="0" tIns="0" rIns="0" bIns="0" rtlCol="0" anchor="t"/>
          <a:lstStyle/>
          <a:p>
            <a:pPr marL="0" indent="0" algn="l">
              <a:buNone/>
            </a:pPr>
            <a:r>
              <a:rPr lang="en-US" sz="850" dirty="0">
                <a:solidFill>
                  <a:srgbClr val="F87171"/>
                </a:solidFill>
                <a:latin typeface="Consolas" panose="020B0609020204030204" pitchFamily="34" charset="0"/>
                <a:ea typeface="Consolas" panose="020B0609020204030204" pitchFamily="34" charset="-122"/>
                <a:cs typeface="Consolas" panose="020B0609020204030204" pitchFamily="34" charset="-120"/>
              </a:rPr>
              <a:t>// NEVER  hardcoded
</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var </a:t>
            </a:r>
            <a:r>
              <a:rPr lang="en-US" sz="850" dirty="0">
                <a:solidFill>
                  <a:srgbClr val="38BDF8"/>
                </a:solidFill>
                <a:latin typeface="Consolas" panose="020B0609020204030204" pitchFamily="34" charset="0"/>
                <a:ea typeface="Consolas" panose="020B0609020204030204" pitchFamily="34" charset="-122"/>
                <a:cs typeface="Consolas" panose="020B0609020204030204" pitchFamily="34" charset="-120"/>
              </a:rPr>
              <a:t>conn</a:t>
            </a: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 "Server=prod;Password=...";</a:t>
            </a:r>
            <a:endParaRPr lang="en-US" sz="850" dirty="0"/>
          </a:p>
          <a:p>
            <a:pPr marL="0" indent="0" algn="l">
              <a:buNone/>
            </a:pPr>
            <a:r>
              <a:rPr lang="en-US" sz="850" dirty="0">
                <a:solidFill>
                  <a:srgbClr val="F87171"/>
                </a:solidFill>
                <a:latin typeface="Consolas" panose="020B0609020204030204" pitchFamily="34" charset="0"/>
                <a:ea typeface="Consolas" panose="020B0609020204030204" pitchFamily="34" charset="-122"/>
                <a:cs typeface="Consolas" panose="020B0609020204030204" pitchFamily="34" charset="-120"/>
              </a:rPr>
              <a:t>// NEVER  secrets in Git
</a:t>
            </a:r>
            <a:endParaRPr lang="en-US" sz="850" dirty="0"/>
          </a:p>
          <a:p>
            <a:pPr marL="0" indent="0" algn="l">
              <a:buNone/>
            </a:pPr>
            <a:r>
              <a:rPr lang="en-US" sz="850" dirty="0">
                <a:solidFill>
                  <a:srgbClr val="94A3B8"/>
                </a:solidFill>
                <a:latin typeface="Consolas" panose="020B0609020204030204" pitchFamily="34" charset="0"/>
                <a:ea typeface="Consolas" panose="020B0609020204030204" pitchFamily="34" charset="-122"/>
                <a:cs typeface="Consolas" panose="020B0609020204030204" pitchFamily="34" charset="-120"/>
              </a:rPr>
              <a:t>// appsettings.json with real password</a:t>
            </a:r>
            <a:endParaRPr lang="en-US" sz="850" dirty="0"/>
          </a:p>
        </p:txBody>
      </p:sp>
      <p:sp>
        <p:nvSpPr>
          <p:cNvPr id="11" name="Text 9"/>
          <p:cNvSpPr/>
          <p:nvPr/>
        </p:nvSpPr>
        <p:spPr>
          <a:xfrm>
            <a:off x="201168" y="2176272"/>
            <a:ext cx="4096512" cy="502920"/>
          </a:xfrm>
          <a:prstGeom prst="rect">
            <a:avLst/>
          </a:prstGeom>
          <a:noFill/>
        </p:spPr>
        <p:txBody>
          <a:bodyPr wrap="square" lIns="0" tIns="0" rIns="0" bIns="0" rtlCol="0" anchor="t"/>
          <a:lstStyle/>
          <a:p>
            <a:pPr marL="0" indent="0" algn="l">
              <a:buNone/>
            </a:pPr>
            <a:r>
              <a:rPr lang="en-US" sz="1000" b="1" dirty="0">
                <a:solidFill>
                  <a:srgbClr val="065F46"/>
                </a:solidFill>
                <a:latin typeface="Calibri" panose="020F0502020204030204" pitchFamily="34" charset="0"/>
                <a:ea typeface="Calibri" panose="020F0502020204030204" pitchFamily="34" charset="-122"/>
                <a:cs typeface="Calibri" panose="020F0502020204030204" pitchFamily="34" charset="-120"/>
              </a:rPr>
              <a:t>Correct: environment variables, Key Vault, or (dev only) dotnet user-secrets  not version control.</a:t>
            </a:r>
            <a:endParaRPr lang="en-US" sz="1000" dirty="0"/>
          </a:p>
        </p:txBody>
      </p:sp>
      <p:sp>
        <p:nvSpPr>
          <p:cNvPr id="12" name="Shape 10"/>
          <p:cNvSpPr/>
          <p:nvPr/>
        </p:nvSpPr>
        <p:spPr>
          <a:xfrm>
            <a:off x="4526280" y="868680"/>
            <a:ext cx="4434840" cy="1828800"/>
          </a:xfrm>
          <a:prstGeom prst="rect">
            <a:avLst/>
          </a:prstGeom>
          <a:solidFill>
            <a:srgbClr val="F5F3FF"/>
          </a:solidFill>
          <a:ln w="12700">
            <a:solidFill>
              <a:srgbClr val="7C3AED"/>
            </a:solidFill>
            <a:prstDash val="solid"/>
          </a:ln>
        </p:spPr>
      </p:sp>
      <p:sp>
        <p:nvSpPr>
          <p:cNvPr id="13" name="Text 11"/>
          <p:cNvSpPr/>
          <p:nvPr/>
        </p:nvSpPr>
        <p:spPr>
          <a:xfrm>
            <a:off x="4663440" y="932688"/>
            <a:ext cx="4160520" cy="292608"/>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Configuration hierarchy (last wins)</a:t>
            </a:r>
            <a:endParaRPr lang="en-US" sz="1150" dirty="0"/>
          </a:p>
        </p:txBody>
      </p:sp>
      <p:sp>
        <p:nvSpPr>
          <p:cNvPr id="14" name="Text 12"/>
          <p:cNvSpPr/>
          <p:nvPr/>
        </p:nvSpPr>
        <p:spPr>
          <a:xfrm>
            <a:off x="4663440" y="1261872"/>
            <a:ext cx="4206240" cy="256032"/>
          </a:xfrm>
          <a:prstGeom prst="rect">
            <a:avLst/>
          </a:prstGeom>
          <a:noFill/>
        </p:spPr>
        <p:txBody>
          <a:bodyPr wrap="square" lIns="0" tIns="0" rIns="0" bIns="0" rtlCol="0" anchor="ctr"/>
          <a:lstStyle/>
          <a:p>
            <a:pPr marL="0" indent="0" algn="l">
              <a:buNone/>
            </a:pPr>
            <a:r>
              <a:rPr lang="en-US" sz="950" dirty="0">
                <a:solidFill>
                  <a:srgbClr val="64748B"/>
                </a:solidFill>
                <a:latin typeface="Consolas" panose="020B0609020204030204" pitchFamily="34" charset="0"/>
                <a:ea typeface="Consolas" panose="020B0609020204030204" pitchFamily="34" charset="-122"/>
                <a:cs typeface="Consolas" panose="020B0609020204030204" pitchFamily="34" charset="-120"/>
              </a:rPr>
              <a:t>1  appsettings.json  defaults (committed)</a:t>
            </a:r>
            <a:endParaRPr lang="en-US" sz="950" dirty="0"/>
          </a:p>
        </p:txBody>
      </p:sp>
      <p:sp>
        <p:nvSpPr>
          <p:cNvPr id="15" name="Text 13"/>
          <p:cNvSpPr/>
          <p:nvPr/>
        </p:nvSpPr>
        <p:spPr>
          <a:xfrm>
            <a:off x="4663440" y="1536192"/>
            <a:ext cx="4206240" cy="256032"/>
          </a:xfrm>
          <a:prstGeom prst="rect">
            <a:avLst/>
          </a:prstGeom>
          <a:noFill/>
        </p:spPr>
        <p:txBody>
          <a:bodyPr wrap="square" lIns="0" tIns="0" rIns="0" bIns="0" rtlCol="0" anchor="ctr"/>
          <a:lstStyle/>
          <a:p>
            <a:pPr marL="0" indent="0" algn="l">
              <a:buNone/>
            </a:pPr>
            <a:r>
              <a:rPr lang="en-US" sz="950" dirty="0">
                <a:solidFill>
                  <a:srgbClr val="64748B"/>
                </a:solidFill>
                <a:latin typeface="Consolas" panose="020B0609020204030204" pitchFamily="34" charset="0"/>
                <a:ea typeface="Consolas" panose="020B0609020204030204" pitchFamily="34" charset="-122"/>
                <a:cs typeface="Consolas" panose="020B0609020204030204" pitchFamily="34" charset="-120"/>
              </a:rPr>
              <a:t>2  appsettings.{Environment}.json</a:t>
            </a:r>
            <a:endParaRPr lang="en-US" sz="950" dirty="0"/>
          </a:p>
        </p:txBody>
      </p:sp>
      <p:sp>
        <p:nvSpPr>
          <p:cNvPr id="16" name="Text 14"/>
          <p:cNvSpPr/>
          <p:nvPr/>
        </p:nvSpPr>
        <p:spPr>
          <a:xfrm>
            <a:off x="4663440" y="1810512"/>
            <a:ext cx="4206240" cy="256032"/>
          </a:xfrm>
          <a:prstGeom prst="rect">
            <a:avLst/>
          </a:prstGeom>
          <a:noFill/>
        </p:spPr>
        <p:txBody>
          <a:bodyPr wrap="square" lIns="0" tIns="0" rIns="0" bIns="0" rtlCol="0" anchor="ctr"/>
          <a:lstStyle/>
          <a:p>
            <a:pPr marL="0" indent="0" algn="l">
              <a:buNone/>
            </a:pPr>
            <a:r>
              <a:rPr lang="en-US" sz="950" dirty="0">
                <a:solidFill>
                  <a:srgbClr val="64748B"/>
                </a:solidFill>
                <a:latin typeface="Consolas" panose="020B0609020204030204" pitchFamily="34" charset="0"/>
                <a:ea typeface="Consolas" panose="020B0609020204030204" pitchFamily="34" charset="-122"/>
                <a:cs typeface="Consolas" panose="020B0609020204030204" pitchFamily="34" charset="-120"/>
              </a:rPr>
              <a:t>3  User Secrets  dev machine only</a:t>
            </a:r>
            <a:endParaRPr lang="en-US" sz="950" dirty="0"/>
          </a:p>
        </p:txBody>
      </p:sp>
      <p:sp>
        <p:nvSpPr>
          <p:cNvPr id="17" name="Text 15"/>
          <p:cNvSpPr/>
          <p:nvPr/>
        </p:nvSpPr>
        <p:spPr>
          <a:xfrm>
            <a:off x="4663440" y="2084832"/>
            <a:ext cx="4206240" cy="256032"/>
          </a:xfrm>
          <a:prstGeom prst="rect">
            <a:avLst/>
          </a:prstGeom>
          <a:noFill/>
        </p:spPr>
        <p:txBody>
          <a:bodyPr wrap="square" lIns="0" tIns="0" rIns="0" bIns="0" rtlCol="0" anchor="ctr"/>
          <a:lstStyle/>
          <a:p>
            <a:pPr marL="0" indent="0" algn="l">
              <a:buNone/>
            </a:pPr>
            <a:r>
              <a:rPr lang="en-US" sz="950" dirty="0">
                <a:solidFill>
                  <a:srgbClr val="64748B"/>
                </a:solidFill>
                <a:latin typeface="Consolas" panose="020B0609020204030204" pitchFamily="34" charset="0"/>
                <a:ea typeface="Consolas" panose="020B0609020204030204" pitchFamily="34" charset="-122"/>
                <a:cs typeface="Consolas" panose="020B0609020204030204" pitchFamily="34" charset="-120"/>
              </a:rPr>
              <a:t>4  Environment variables  deploy-time</a:t>
            </a:r>
            <a:endParaRPr lang="en-US" sz="950" dirty="0"/>
          </a:p>
        </p:txBody>
      </p:sp>
      <p:sp>
        <p:nvSpPr>
          <p:cNvPr id="18" name="Text 16"/>
          <p:cNvSpPr/>
          <p:nvPr/>
        </p:nvSpPr>
        <p:spPr>
          <a:xfrm>
            <a:off x="4663440" y="2359152"/>
            <a:ext cx="4206240" cy="256032"/>
          </a:xfrm>
          <a:prstGeom prst="rect">
            <a:avLst/>
          </a:prstGeom>
          <a:noFill/>
        </p:spPr>
        <p:txBody>
          <a:bodyPr wrap="square" lIns="0" tIns="0" rIns="0" bIns="0" rtlCol="0" anchor="ctr"/>
          <a:lstStyle/>
          <a:p>
            <a:pPr marL="0" indent="0" algn="l">
              <a:buNone/>
            </a:pPr>
            <a:r>
              <a:rPr lang="en-US" sz="950" dirty="0">
                <a:solidFill>
                  <a:srgbClr val="7C3AED"/>
                </a:solidFill>
                <a:latin typeface="Consolas" panose="020B0609020204030204" pitchFamily="34" charset="0"/>
                <a:ea typeface="Consolas" panose="020B0609020204030204" pitchFamily="34" charset="-122"/>
                <a:cs typeface="Consolas" panose="020B0609020204030204" pitchFamily="34" charset="-120"/>
              </a:rPr>
              <a:t>5  Command-line args  highest priority</a:t>
            </a:r>
            <a:endParaRPr lang="en-US" sz="950" dirty="0"/>
          </a:p>
        </p:txBody>
      </p:sp>
      <p:sp>
        <p:nvSpPr>
          <p:cNvPr id="19" name="Shape 17"/>
          <p:cNvSpPr/>
          <p:nvPr/>
        </p:nvSpPr>
        <p:spPr>
          <a:xfrm>
            <a:off x="182880" y="2788920"/>
            <a:ext cx="8778240" cy="1143000"/>
          </a:xfrm>
          <a:prstGeom prst="rect">
            <a:avLst/>
          </a:prstGeom>
          <a:solidFill>
            <a:srgbClr val="EFF6FF"/>
          </a:solidFill>
          <a:ln w="12700">
            <a:solidFill>
              <a:srgbClr val="0EA5E9"/>
            </a:solidFill>
            <a:prstDash val="solid"/>
          </a:ln>
        </p:spPr>
      </p:sp>
      <p:sp>
        <p:nvSpPr>
          <p:cNvPr id="20" name="Shape 18"/>
          <p:cNvSpPr/>
          <p:nvPr/>
        </p:nvSpPr>
        <p:spPr>
          <a:xfrm>
            <a:off x="182880" y="2788920"/>
            <a:ext cx="54864" cy="1143000"/>
          </a:xfrm>
          <a:prstGeom prst="rect">
            <a:avLst/>
          </a:prstGeom>
          <a:solidFill>
            <a:srgbClr val="0EA5E9"/>
          </a:solidFill>
          <a:ln w="12700">
            <a:solidFill>
              <a:srgbClr val="0EA5E9"/>
            </a:solidFill>
            <a:prstDash val="solid"/>
          </a:ln>
        </p:spPr>
      </p:sp>
      <p:sp>
        <p:nvSpPr>
          <p:cNvPr id="21" name="Text 19"/>
          <p:cNvSpPr/>
          <p:nvPr/>
        </p:nvSpPr>
        <p:spPr>
          <a:xfrm>
            <a:off x="365760" y="2880360"/>
            <a:ext cx="8503920" cy="274320"/>
          </a:xfrm>
          <a:prstGeom prst="rect">
            <a:avLst/>
          </a:prstGeom>
          <a:noFill/>
        </p:spPr>
        <p:txBody>
          <a:bodyPr wrap="square" lIns="0" tIns="0" rIns="0" bIns="0" rtlCol="0" anchor="ctr"/>
          <a:lstStyle/>
          <a:p>
            <a:pPr marL="0" indent="0" algn="l">
              <a:buNone/>
            </a:pPr>
            <a:r>
              <a:rPr lang="en-US" sz="1000" b="1" dirty="0">
                <a:solidFill>
                  <a:srgbClr val="0EA5E9"/>
                </a:solidFill>
                <a:latin typeface="Calibri" panose="020F0502020204030204" pitchFamily="34" charset="0"/>
                <a:ea typeface="Calibri" panose="020F0502020204030204" pitchFamily="34" charset="-122"/>
                <a:cs typeface="Calibri" panose="020F0502020204030204" pitchFamily="34" charset="-120"/>
              </a:rPr>
              <a:t>TMS rule of thumb</a:t>
            </a:r>
            <a:endParaRPr lang="en-US" sz="1000" dirty="0"/>
          </a:p>
        </p:txBody>
      </p:sp>
      <p:sp>
        <p:nvSpPr>
          <p:cNvPr id="22" name="Text 20"/>
          <p:cNvSpPr/>
          <p:nvPr/>
        </p:nvSpPr>
        <p:spPr>
          <a:xfrm>
            <a:off x="365760" y="3172968"/>
            <a:ext cx="8503920" cy="640080"/>
          </a:xfrm>
          <a:prstGeom prst="rect">
            <a:avLst/>
          </a:prstGeom>
          <a:noFill/>
        </p:spPr>
        <p:txBody>
          <a:bodyPr wrap="square" lIns="0" tIns="0" rIns="0" bIns="0" rtlCol="0" anchor="t"/>
          <a:lstStyle/>
          <a:p>
            <a:pPr marL="0" indent="0" algn="l">
              <a:buNone/>
            </a:pPr>
            <a:r>
              <a:rPr lang="en-US" sz="1000" dirty="0">
                <a:solidFill>
                  <a:srgbClr val="1E293B"/>
                </a:solidFill>
                <a:latin typeface="Calibri" panose="020F0502020204030204" pitchFamily="34" charset="0"/>
                <a:ea typeface="Calibri" panose="020F0502020204030204" pitchFamily="34" charset="-122"/>
                <a:cs typeface="Calibri" panose="020F0502020204030204" pitchFamily="34" charset="-120"/>
              </a:rPr>
              <a:t>appsettings: timeouts, feature flags, log levels  non-secrets. Connection strings with secrets: override from env or vault per environment.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A5E9"/>
          </a:solidFill>
          <a:ln w="12700">
            <a:solidFill>
              <a:srgbClr val="0EA5E9"/>
            </a:solidFill>
            <a:prstDash val="solid"/>
          </a:ln>
        </p:spPr>
      </p:sp>
      <p:sp>
        <p:nvSpPr>
          <p:cNvPr id="3" name="Shape 1"/>
          <p:cNvSpPr/>
          <p:nvPr/>
        </p:nvSpPr>
        <p:spPr>
          <a:xfrm>
            <a:off x="73152" y="0"/>
            <a:ext cx="9070848" cy="749808"/>
          </a:xfrm>
          <a:prstGeom prst="rect">
            <a:avLst/>
          </a:prstGeom>
          <a:solidFill>
            <a:srgbClr val="F8FAFC"/>
          </a:solidFill>
          <a:ln w="6350">
            <a:solidFill>
              <a:srgbClr val="E2E8F0"/>
            </a:solidFill>
            <a:prstDash val="solid"/>
          </a:ln>
        </p:spPr>
      </p:sp>
      <p:sp>
        <p:nvSpPr>
          <p:cNvPr id="4" name="Shape 2"/>
          <p:cNvSpPr/>
          <p:nvPr/>
        </p:nvSpPr>
        <p:spPr>
          <a:xfrm>
            <a:off x="73152" y="749808"/>
            <a:ext cx="9070848" cy="36576"/>
          </a:xfrm>
          <a:prstGeom prst="rect">
            <a:avLst/>
          </a:prstGeom>
          <a:solidFill>
            <a:srgbClr val="0EA5E9"/>
          </a:solidFill>
          <a:ln w="12700">
            <a:solidFill>
              <a:srgbClr val="0EA5E9"/>
            </a:solidFill>
            <a:prstDash val="solid"/>
          </a:ln>
        </p:spPr>
      </p:sp>
      <p:sp>
        <p:nvSpPr>
          <p:cNvPr id="5" name="Text 3"/>
          <p:cNvSpPr/>
          <p:nvPr/>
        </p:nvSpPr>
        <p:spPr>
          <a:xfrm>
            <a:off x="228600" y="91440"/>
            <a:ext cx="7132320" cy="566928"/>
          </a:xfrm>
          <a:prstGeom prst="rect">
            <a:avLst/>
          </a:prstGeom>
          <a:noFill/>
        </p:spPr>
        <p:txBody>
          <a:bodyPr wrap="square" lIns="0" tIns="0" rIns="0" bIns="0" rtlCol="0" anchor="ctr"/>
          <a:lstStyle/>
          <a:p>
            <a:pPr marL="0" indent="0" algn="l">
              <a:buNone/>
            </a:pPr>
            <a:r>
              <a:rPr lang="en-US" sz="2100" b="1" dirty="0">
                <a:solidFill>
                  <a:srgbClr val="1E293B"/>
                </a:solidFill>
                <a:latin typeface="Calibri" panose="020F0502020204030204" pitchFamily="34" charset="0"/>
                <a:ea typeface="Calibri" panose="020F0502020204030204" pitchFamily="34" charset="-122"/>
                <a:cs typeface="Calibri" panose="020F0502020204030204" pitchFamily="34" charset="-120"/>
              </a:rPr>
              <a:t>The Options Pattern  Typed Configuration</a:t>
            </a:r>
            <a:endParaRPr lang="en-US" sz="2100" dirty="0"/>
          </a:p>
        </p:txBody>
      </p:sp>
      <p:sp>
        <p:nvSpPr>
          <p:cNvPr id="6" name="Shape 4"/>
          <p:cNvSpPr/>
          <p:nvPr/>
        </p:nvSpPr>
        <p:spPr>
          <a:xfrm>
            <a:off x="137160" y="786384"/>
            <a:ext cx="8869680" cy="0"/>
          </a:xfrm>
          <a:prstGeom prst="line">
            <a:avLst/>
          </a:prstGeom>
          <a:noFill/>
          <a:ln w="6350">
            <a:solidFill>
              <a:srgbClr val="E2E8F0"/>
            </a:solidFill>
            <a:prstDash val="solid"/>
          </a:ln>
        </p:spPr>
      </p:sp>
      <p:sp>
        <p:nvSpPr>
          <p:cNvPr id="7" name="Shape 5"/>
          <p:cNvSpPr/>
          <p:nvPr/>
        </p:nvSpPr>
        <p:spPr>
          <a:xfrm>
            <a:off x="182880" y="868680"/>
            <a:ext cx="4160520" cy="1143000"/>
          </a:xfrm>
          <a:prstGeom prst="rect">
            <a:avLst/>
          </a:prstGeom>
          <a:solidFill>
            <a:srgbClr val="1E293B"/>
          </a:solidFill>
          <a:ln w="6350">
            <a:solidFill>
              <a:srgbClr val="334155"/>
            </a:solidFill>
            <a:prstDash val="solid"/>
          </a:ln>
          <a:effectLst>
            <a:outerShdw blurRad="101600" dist="38100" dir="8100000" algn="bl" rotWithShape="0">
              <a:srgbClr val="000000">
                <a:alpha val="12000"/>
              </a:srgbClr>
            </a:outerShdw>
          </a:effectLst>
        </p:spPr>
      </p:sp>
      <p:sp>
        <p:nvSpPr>
          <p:cNvPr id="8" name="Shape 6"/>
          <p:cNvSpPr/>
          <p:nvPr/>
        </p:nvSpPr>
        <p:spPr>
          <a:xfrm>
            <a:off x="182880" y="868680"/>
            <a:ext cx="4160520" cy="292608"/>
          </a:xfrm>
          <a:prstGeom prst="rect">
            <a:avLst/>
          </a:prstGeom>
          <a:solidFill>
            <a:srgbClr val="0F172A"/>
          </a:solidFill>
          <a:ln w="12700">
            <a:solidFill>
              <a:srgbClr val="334155"/>
            </a:solidFill>
            <a:prstDash val="solid"/>
          </a:ln>
        </p:spPr>
      </p:sp>
      <p:sp>
        <p:nvSpPr>
          <p:cNvPr id="9" name="Text 7"/>
          <p:cNvSpPr/>
          <p:nvPr/>
        </p:nvSpPr>
        <p:spPr>
          <a:xfrm>
            <a:off x="292608" y="868680"/>
            <a:ext cx="3941064" cy="292608"/>
          </a:xfrm>
          <a:prstGeom prst="rect">
            <a:avLst/>
          </a:prstGeom>
          <a:noFill/>
        </p:spPr>
        <p:txBody>
          <a:bodyPr wrap="square" lIns="0" tIns="0" rIns="0" bIns="0" rtlCol="0" anchor="ctr"/>
          <a:lstStyle/>
          <a:p>
            <a:pPr marL="0" indent="0" algn="l">
              <a:buNone/>
            </a:pPr>
            <a:r>
              <a:rPr lang="en-US" sz="850" dirty="0">
                <a:solidFill>
                  <a:srgbClr val="94A3B8"/>
                </a:solidFill>
                <a:latin typeface="Calibri" panose="020F0502020204030204" pitchFamily="34" charset="0"/>
                <a:ea typeface="Calibri" panose="020F0502020204030204" pitchFamily="34" charset="-122"/>
                <a:cs typeface="Calibri" panose="020F0502020204030204" pitchFamily="34" charset="-120"/>
              </a:rPr>
              <a:t>String lookups</a:t>
            </a:r>
            <a:endParaRPr lang="en-US" sz="850" dirty="0"/>
          </a:p>
        </p:txBody>
      </p:sp>
      <p:sp>
        <p:nvSpPr>
          <p:cNvPr id="10" name="Text 8"/>
          <p:cNvSpPr/>
          <p:nvPr/>
        </p:nvSpPr>
        <p:spPr>
          <a:xfrm>
            <a:off x="320040" y="1216152"/>
            <a:ext cx="3886200" cy="685800"/>
          </a:xfrm>
          <a:prstGeom prst="rect">
            <a:avLst/>
          </a:prstGeom>
          <a:noFill/>
        </p:spPr>
        <p:txBody>
          <a:bodyPr wrap="square" lIns="0" tIns="0" rIns="0" bIns="0" rtlCol="0" anchor="t"/>
          <a:lstStyle/>
          <a:p>
            <a:pPr marL="0" indent="0" algn="l">
              <a:buNone/>
            </a:pPr>
            <a:r>
              <a:rPr lang="en-US" sz="850" dirty="0">
                <a:solidFill>
                  <a:srgbClr val="94A3B8"/>
                </a:solidFill>
                <a:latin typeface="Consolas" panose="020B0609020204030204" pitchFamily="34" charset="0"/>
                <a:ea typeface="Consolas" panose="020B0609020204030204" pitchFamily="34" charset="-122"/>
                <a:cs typeface="Consolas" panose="020B0609020204030204" pitchFamily="34" charset="-120"/>
              </a:rPr>
              <a:t>// Fragile  string keys
</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var </a:t>
            </a:r>
            <a:r>
              <a:rPr lang="en-US" sz="850" dirty="0">
                <a:solidFill>
                  <a:srgbClr val="38BDF8"/>
                </a:solidFill>
                <a:latin typeface="Consolas" panose="020B0609020204030204" pitchFamily="34" charset="0"/>
                <a:ea typeface="Consolas" panose="020B0609020204030204" pitchFamily="34" charset="-122"/>
                <a:cs typeface="Consolas" panose="020B0609020204030204" pitchFamily="34" charset="-120"/>
              </a:rPr>
              <a:t>port</a:t>
            </a: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 int.Parse(</a:t>
            </a:r>
            <a:r>
              <a:rPr lang="en-US" sz="850" dirty="0">
                <a:solidFill>
                  <a:srgbClr val="F59E0B"/>
                </a:solidFill>
                <a:latin typeface="Consolas" panose="020B0609020204030204" pitchFamily="34" charset="0"/>
                <a:ea typeface="Consolas" panose="020B0609020204030204" pitchFamily="34" charset="-122"/>
                <a:cs typeface="Consolas" panose="020B0609020204030204" pitchFamily="34" charset="-120"/>
              </a:rPr>
              <a:t>_config["Server:Port"] ?? "5000"</a:t>
            </a: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a:t>
            </a:r>
            <a:endParaRPr lang="en-US" sz="850" dirty="0"/>
          </a:p>
          <a:p>
            <a:pPr marL="0" indent="0" algn="l">
              <a:buNone/>
            </a:pPr>
            <a:r>
              <a:rPr lang="en-US" sz="850" dirty="0">
                <a:solidFill>
                  <a:srgbClr val="F87171"/>
                </a:solidFill>
                <a:latin typeface="Consolas" panose="020B0609020204030204" pitchFamily="34" charset="0"/>
                <a:ea typeface="Consolas" panose="020B0609020204030204" pitchFamily="34" charset="-122"/>
                <a:cs typeface="Consolas" panose="020B0609020204030204" pitchFamily="34" charset="-120"/>
              </a:rPr>
              <a:t>// Typo in key? Runtime crash.</a:t>
            </a:r>
            <a:endParaRPr lang="en-US" sz="850" dirty="0"/>
          </a:p>
        </p:txBody>
      </p:sp>
      <p:sp>
        <p:nvSpPr>
          <p:cNvPr id="11" name="Shape 9"/>
          <p:cNvSpPr/>
          <p:nvPr/>
        </p:nvSpPr>
        <p:spPr>
          <a:xfrm>
            <a:off x="182880" y="2084832"/>
            <a:ext cx="4160520" cy="1691640"/>
          </a:xfrm>
          <a:prstGeom prst="rect">
            <a:avLst/>
          </a:prstGeom>
          <a:solidFill>
            <a:srgbClr val="1E293B"/>
          </a:solidFill>
          <a:ln w="6350">
            <a:solidFill>
              <a:srgbClr val="334155"/>
            </a:solidFill>
            <a:prstDash val="solid"/>
          </a:ln>
          <a:effectLst>
            <a:outerShdw blurRad="101600" dist="38100" dir="8100000" algn="bl" rotWithShape="0">
              <a:srgbClr val="000000">
                <a:alpha val="12000"/>
              </a:srgbClr>
            </a:outerShdw>
          </a:effectLst>
        </p:spPr>
      </p:sp>
      <p:sp>
        <p:nvSpPr>
          <p:cNvPr id="12" name="Shape 10"/>
          <p:cNvSpPr/>
          <p:nvPr/>
        </p:nvSpPr>
        <p:spPr>
          <a:xfrm>
            <a:off x="182880" y="2084832"/>
            <a:ext cx="4160520" cy="292608"/>
          </a:xfrm>
          <a:prstGeom prst="rect">
            <a:avLst/>
          </a:prstGeom>
          <a:solidFill>
            <a:srgbClr val="0F172A"/>
          </a:solidFill>
          <a:ln w="12700">
            <a:solidFill>
              <a:srgbClr val="334155"/>
            </a:solidFill>
            <a:prstDash val="solid"/>
          </a:ln>
        </p:spPr>
      </p:sp>
      <p:sp>
        <p:nvSpPr>
          <p:cNvPr id="13" name="Text 11"/>
          <p:cNvSpPr/>
          <p:nvPr/>
        </p:nvSpPr>
        <p:spPr>
          <a:xfrm>
            <a:off x="292608" y="2084832"/>
            <a:ext cx="3941064" cy="292608"/>
          </a:xfrm>
          <a:prstGeom prst="rect">
            <a:avLst/>
          </a:prstGeom>
          <a:noFill/>
        </p:spPr>
        <p:txBody>
          <a:bodyPr wrap="square" lIns="0" tIns="0" rIns="0" bIns="0" rtlCol="0" anchor="ctr"/>
          <a:lstStyle/>
          <a:p>
            <a:pPr marL="0" indent="0" algn="l">
              <a:buNone/>
            </a:pPr>
            <a:r>
              <a:rPr lang="en-US" sz="850" dirty="0">
                <a:solidFill>
                  <a:srgbClr val="94A3B8"/>
                </a:solidFill>
                <a:latin typeface="Calibri" panose="020F0502020204030204" pitchFamily="34" charset="0"/>
                <a:ea typeface="Calibri" panose="020F0502020204030204" pitchFamily="34" charset="-122"/>
                <a:cs typeface="Calibri" panose="020F0502020204030204" pitchFamily="34" charset="-120"/>
              </a:rPr>
              <a:t>DatabaseOptions.cs</a:t>
            </a:r>
            <a:endParaRPr lang="en-US" sz="850" dirty="0"/>
          </a:p>
        </p:txBody>
      </p:sp>
      <p:sp>
        <p:nvSpPr>
          <p:cNvPr id="14" name="Text 12"/>
          <p:cNvSpPr/>
          <p:nvPr/>
        </p:nvSpPr>
        <p:spPr>
          <a:xfrm>
            <a:off x="320040" y="2432304"/>
            <a:ext cx="3886200" cy="1234440"/>
          </a:xfrm>
          <a:prstGeom prst="rect">
            <a:avLst/>
          </a:prstGeom>
          <a:noFill/>
        </p:spPr>
        <p:txBody>
          <a:bodyPr wrap="square" lIns="0" tIns="0" rIns="0" bIns="0" rtlCol="0" anchor="t"/>
          <a:lstStyle/>
          <a:p>
            <a:pPr marL="0" indent="0" algn="l">
              <a:buNone/>
            </a:pPr>
            <a:r>
              <a:rPr lang="en-US" sz="850" dirty="0">
                <a:solidFill>
                  <a:srgbClr val="C084FC"/>
                </a:solidFill>
                <a:latin typeface="Consolas" panose="020B0609020204030204" pitchFamily="34" charset="0"/>
                <a:ea typeface="Consolas" panose="020B0609020204030204" pitchFamily="34" charset="-122"/>
                <a:cs typeface="Consolas" panose="020B0609020204030204" pitchFamily="34" charset="-120"/>
              </a:rPr>
              <a:t>public class </a:t>
            </a:r>
            <a:r>
              <a:rPr lang="en-US" sz="850" dirty="0">
                <a:solidFill>
                  <a:srgbClr val="F59E0B"/>
                </a:solidFill>
                <a:latin typeface="Consolas" panose="020B0609020204030204" pitchFamily="34" charset="0"/>
                <a:ea typeface="Consolas" panose="020B0609020204030204" pitchFamily="34" charset="-122"/>
                <a:cs typeface="Consolas" panose="020B0609020204030204" pitchFamily="34" charset="-120"/>
              </a:rPr>
              <a:t>DatabaseOptions</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a:t>
            </a:r>
            <a:endParaRPr lang="en-US" sz="850" dirty="0"/>
          </a:p>
          <a:p>
            <a:pPr marL="0" indent="0" algn="l">
              <a:buNone/>
            </a:pPr>
            <a:r>
              <a:rPr lang="en-US" sz="850" dirty="0">
                <a:solidFill>
                  <a:srgbClr val="94A3B8"/>
                </a:solidFill>
                <a:latin typeface="Consolas" panose="020B0609020204030204" pitchFamily="34" charset="0"/>
                <a:ea typeface="Consolas" panose="020B0609020204030204" pitchFamily="34" charset="-122"/>
                <a:cs typeface="Consolas" panose="020B0609020204030204" pitchFamily="34" charset="-120"/>
              </a:rPr>
              <a:t>  public const string </a:t>
            </a:r>
            <a:r>
              <a:rPr lang="en-US" sz="850" dirty="0">
                <a:solidFill>
                  <a:srgbClr val="38BDF8"/>
                </a:solidFill>
                <a:latin typeface="Consolas" panose="020B0609020204030204" pitchFamily="34" charset="0"/>
                <a:ea typeface="Consolas" panose="020B0609020204030204" pitchFamily="34" charset="-122"/>
                <a:cs typeface="Consolas" panose="020B0609020204030204" pitchFamily="34" charset="-120"/>
              </a:rPr>
              <a:t>SectionName</a:t>
            </a: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 "Database";</a:t>
            </a:r>
            <a:endParaRPr lang="en-US" sz="850" dirty="0"/>
          </a:p>
          <a:p>
            <a:pPr marL="0" indent="0" algn="l">
              <a:buNone/>
            </a:pPr>
            <a:r>
              <a:rPr lang="en-US" sz="850" dirty="0">
                <a:solidFill>
                  <a:srgbClr val="94A3B8"/>
                </a:solidFill>
                <a:latin typeface="Consolas" panose="020B0609020204030204" pitchFamily="34" charset="0"/>
                <a:ea typeface="Consolas" panose="020B0609020204030204" pitchFamily="34" charset="-122"/>
                <a:cs typeface="Consolas" panose="020B0609020204030204" pitchFamily="34" charset="-120"/>
              </a:rPr>
              <a:t>  public required string </a:t>
            </a:r>
            <a:r>
              <a:rPr lang="en-US" sz="850" dirty="0">
                <a:solidFill>
                  <a:srgbClr val="38BDF8"/>
                </a:solidFill>
                <a:latin typeface="Consolas" panose="020B0609020204030204" pitchFamily="34" charset="0"/>
                <a:ea typeface="Consolas" panose="020B0609020204030204" pitchFamily="34" charset="-122"/>
                <a:cs typeface="Consolas" panose="020B0609020204030204" pitchFamily="34" charset="-120"/>
              </a:rPr>
              <a:t>ConnectionString</a:t>
            </a: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 get; init; }</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public int Timeout { get; init; } = 30;</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a:t>
            </a:r>
            <a:endParaRPr lang="en-US" sz="850" dirty="0"/>
          </a:p>
        </p:txBody>
      </p:sp>
      <p:sp>
        <p:nvSpPr>
          <p:cNvPr id="15" name="Shape 13"/>
          <p:cNvSpPr/>
          <p:nvPr/>
        </p:nvSpPr>
        <p:spPr>
          <a:xfrm>
            <a:off x="4480560" y="868680"/>
            <a:ext cx="4480560" cy="1783080"/>
          </a:xfrm>
          <a:prstGeom prst="rect">
            <a:avLst/>
          </a:prstGeom>
          <a:solidFill>
            <a:srgbClr val="1E293B"/>
          </a:solidFill>
          <a:ln w="6350">
            <a:solidFill>
              <a:srgbClr val="334155"/>
            </a:solidFill>
            <a:prstDash val="solid"/>
          </a:ln>
          <a:effectLst>
            <a:outerShdw blurRad="101600" dist="38100" dir="8100000" algn="bl" rotWithShape="0">
              <a:srgbClr val="000000">
                <a:alpha val="12000"/>
              </a:srgbClr>
            </a:outerShdw>
          </a:effectLst>
        </p:spPr>
      </p:sp>
      <p:sp>
        <p:nvSpPr>
          <p:cNvPr id="16" name="Shape 14"/>
          <p:cNvSpPr/>
          <p:nvPr/>
        </p:nvSpPr>
        <p:spPr>
          <a:xfrm>
            <a:off x="4480560" y="868680"/>
            <a:ext cx="4480560" cy="292608"/>
          </a:xfrm>
          <a:prstGeom prst="rect">
            <a:avLst/>
          </a:prstGeom>
          <a:solidFill>
            <a:srgbClr val="0F172A"/>
          </a:solidFill>
          <a:ln w="12700">
            <a:solidFill>
              <a:srgbClr val="334155"/>
            </a:solidFill>
            <a:prstDash val="solid"/>
          </a:ln>
        </p:spPr>
      </p:sp>
      <p:sp>
        <p:nvSpPr>
          <p:cNvPr id="17" name="Text 15"/>
          <p:cNvSpPr/>
          <p:nvPr/>
        </p:nvSpPr>
        <p:spPr>
          <a:xfrm>
            <a:off x="4590288" y="868680"/>
            <a:ext cx="4261104" cy="292608"/>
          </a:xfrm>
          <a:prstGeom prst="rect">
            <a:avLst/>
          </a:prstGeom>
          <a:noFill/>
        </p:spPr>
        <p:txBody>
          <a:bodyPr wrap="square" lIns="0" tIns="0" rIns="0" bIns="0" rtlCol="0" anchor="ctr"/>
          <a:lstStyle/>
          <a:p>
            <a:pPr marL="0" indent="0" algn="l">
              <a:buNone/>
            </a:pPr>
            <a:r>
              <a:rPr lang="en-US" sz="850" dirty="0">
                <a:solidFill>
                  <a:srgbClr val="94A3B8"/>
                </a:solidFill>
                <a:latin typeface="Calibri" panose="020F0502020204030204" pitchFamily="34" charset="0"/>
                <a:ea typeface="Calibri" panose="020F0502020204030204" pitchFamily="34" charset="-122"/>
                <a:cs typeface="Calibri" panose="020F0502020204030204" pitchFamily="34" charset="-120"/>
              </a:rPr>
              <a:t>Program.cs  fail at startup</a:t>
            </a:r>
            <a:endParaRPr lang="en-US" sz="850" dirty="0"/>
          </a:p>
        </p:txBody>
      </p:sp>
      <p:sp>
        <p:nvSpPr>
          <p:cNvPr id="18" name="Text 16"/>
          <p:cNvSpPr/>
          <p:nvPr/>
        </p:nvSpPr>
        <p:spPr>
          <a:xfrm>
            <a:off x="4617720" y="1216152"/>
            <a:ext cx="4206240" cy="1325880"/>
          </a:xfrm>
          <a:prstGeom prst="rect">
            <a:avLst/>
          </a:prstGeom>
          <a:noFill/>
        </p:spPr>
        <p:txBody>
          <a:bodyPr wrap="square" lIns="0" tIns="0" rIns="0" bIns="0" rtlCol="0" anchor="t"/>
          <a:lstStyle/>
          <a:p>
            <a:pPr marL="0" indent="0" algn="l">
              <a:buNone/>
            </a:pPr>
            <a:r>
              <a:rPr lang="en-US" sz="850" dirty="0">
                <a:solidFill>
                  <a:srgbClr val="38BDF8"/>
                </a:solidFill>
                <a:latin typeface="Consolas" panose="020B0609020204030204" pitchFamily="34" charset="0"/>
                <a:ea typeface="Consolas" panose="020B0609020204030204" pitchFamily="34" charset="-122"/>
                <a:cs typeface="Consolas" panose="020B0609020204030204" pitchFamily="34" charset="-120"/>
              </a:rPr>
              <a:t>builder</a:t>
            </a: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.Services</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.AddOptions&lt;</a:t>
            </a:r>
            <a:endParaRPr lang="en-US" sz="850" dirty="0"/>
          </a:p>
          <a:p>
            <a:pPr marL="0" indent="0" algn="l">
              <a:buNone/>
            </a:pPr>
            <a:r>
              <a:rPr lang="en-US" sz="850" dirty="0">
                <a:solidFill>
                  <a:srgbClr val="F59E0B"/>
                </a:solidFill>
                <a:latin typeface="Consolas" panose="020B0609020204030204" pitchFamily="34" charset="0"/>
                <a:ea typeface="Consolas" panose="020B0609020204030204" pitchFamily="34" charset="-122"/>
                <a:cs typeface="Consolas" panose="020B0609020204030204" pitchFamily="34" charset="-120"/>
              </a:rPr>
              <a:t>DatabaseOptions</a:t>
            </a: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&gt;()</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.BindConfiguration(</a:t>
            </a:r>
            <a:r>
              <a:rPr lang="en-US" sz="850" dirty="0">
                <a:solidFill>
                  <a:srgbClr val="F59E0B"/>
                </a:solidFill>
                <a:latin typeface="Consolas" panose="020B0609020204030204" pitchFamily="34" charset="0"/>
                <a:ea typeface="Consolas" panose="020B0609020204030204" pitchFamily="34" charset="-122"/>
                <a:cs typeface="Consolas" panose="020B0609020204030204" pitchFamily="34" charset="-120"/>
              </a:rPr>
              <a:t>DatabaseOptions.SectionName</a:t>
            </a: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.ValidateDataAnnotations()</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a:t>
            </a:r>
            <a:endParaRPr lang="en-US" sz="850" dirty="0"/>
          </a:p>
          <a:p>
            <a:pPr marL="0" indent="0" algn="l">
              <a:buNone/>
            </a:pPr>
            <a:r>
              <a:rPr lang="en-US" sz="850" dirty="0">
                <a:solidFill>
                  <a:srgbClr val="86EFAC"/>
                </a:solidFill>
                <a:latin typeface="Consolas" panose="020B0609020204030204" pitchFamily="34" charset="0"/>
                <a:ea typeface="Consolas" panose="020B0609020204030204" pitchFamily="34" charset="-122"/>
                <a:cs typeface="Consolas" panose="020B0609020204030204" pitchFamily="34" charset="-120"/>
              </a:rPr>
              <a:t>.ValidateOnStart();</a:t>
            </a:r>
            <a:endParaRPr lang="en-US" sz="850" dirty="0"/>
          </a:p>
        </p:txBody>
      </p:sp>
      <p:sp>
        <p:nvSpPr>
          <p:cNvPr id="19" name="Text 17"/>
          <p:cNvSpPr/>
          <p:nvPr/>
        </p:nvSpPr>
        <p:spPr>
          <a:xfrm>
            <a:off x="4526280" y="2724912"/>
            <a:ext cx="4434840" cy="502920"/>
          </a:xfrm>
          <a:prstGeom prst="rect">
            <a:avLst/>
          </a:prstGeom>
          <a:noFill/>
        </p:spPr>
        <p:txBody>
          <a:bodyPr wrap="square" lIns="0" tIns="0" rIns="0" bIns="0" rtlCol="0" anchor="t"/>
          <a:lstStyle/>
          <a:p>
            <a:pPr marL="0" indent="0" algn="l">
              <a:buNone/>
            </a:pPr>
            <a:r>
              <a:rPr lang="en-US" sz="850" dirty="0">
                <a:solidFill>
                  <a:srgbClr val="64748B"/>
                </a:solidFill>
                <a:latin typeface="Consolas" panose="020B0609020204030204" pitchFamily="34" charset="0"/>
                <a:ea typeface="Consolas" panose="020B0609020204030204" pitchFamily="34" charset="-122"/>
                <a:cs typeface="Consolas" panose="020B0609020204030204" pitchFamily="34" charset="-120"/>
              </a:rPr>
              <a:t>{ "Database": { "ConnectionString": "...", "Timeout": 30 } }</a:t>
            </a:r>
            <a:endParaRPr lang="en-US" sz="850" dirty="0"/>
          </a:p>
        </p:txBody>
      </p:sp>
      <p:sp>
        <p:nvSpPr>
          <p:cNvPr id="20" name="Shape 18"/>
          <p:cNvSpPr/>
          <p:nvPr/>
        </p:nvSpPr>
        <p:spPr>
          <a:xfrm>
            <a:off x="182880" y="3913632"/>
            <a:ext cx="8778240" cy="987552"/>
          </a:xfrm>
          <a:prstGeom prst="rect">
            <a:avLst/>
          </a:prstGeom>
          <a:solidFill>
            <a:srgbClr val="F0FDFA"/>
          </a:solidFill>
          <a:ln w="12700">
            <a:solidFill>
              <a:srgbClr val="0D9488"/>
            </a:solidFill>
            <a:prstDash val="solid"/>
          </a:ln>
        </p:spPr>
      </p:sp>
      <p:sp>
        <p:nvSpPr>
          <p:cNvPr id="21" name="Shape 19"/>
          <p:cNvSpPr/>
          <p:nvPr/>
        </p:nvSpPr>
        <p:spPr>
          <a:xfrm>
            <a:off x="182880" y="3913632"/>
            <a:ext cx="54864" cy="987552"/>
          </a:xfrm>
          <a:prstGeom prst="rect">
            <a:avLst/>
          </a:prstGeom>
          <a:solidFill>
            <a:srgbClr val="0D9488"/>
          </a:solidFill>
          <a:ln w="12700">
            <a:solidFill>
              <a:srgbClr val="0D9488"/>
            </a:solidFill>
            <a:prstDash val="solid"/>
          </a:ln>
        </p:spPr>
      </p:sp>
      <p:sp>
        <p:nvSpPr>
          <p:cNvPr id="22" name="Text 20"/>
          <p:cNvSpPr/>
          <p:nvPr/>
        </p:nvSpPr>
        <p:spPr>
          <a:xfrm>
            <a:off x="365760" y="4005072"/>
            <a:ext cx="8503920" cy="274320"/>
          </a:xfrm>
          <a:prstGeom prst="rect">
            <a:avLst/>
          </a:prstGeom>
          <a:noFill/>
        </p:spPr>
        <p:txBody>
          <a:bodyPr wrap="square" lIns="0" tIns="0" rIns="0" bIns="0" rtlCol="0" anchor="ctr"/>
          <a:lstStyle/>
          <a:p>
            <a:pPr marL="0" indent="0" algn="l">
              <a:buNone/>
            </a:pPr>
            <a:r>
              <a:rPr lang="en-US" sz="1000" b="1" dirty="0">
                <a:solidFill>
                  <a:srgbClr val="0D9488"/>
                </a:solidFill>
                <a:latin typeface="Calibri" panose="020F0502020204030204" pitchFamily="34" charset="0"/>
                <a:ea typeface="Calibri" panose="020F0502020204030204" pitchFamily="34" charset="-122"/>
                <a:cs typeface="Calibri" panose="020F0502020204030204" pitchFamily="34" charset="-120"/>
              </a:rPr>
              <a:t>Why teams adopt Options</a:t>
            </a:r>
            <a:endParaRPr lang="en-US" sz="1000" dirty="0"/>
          </a:p>
        </p:txBody>
      </p:sp>
      <p:sp>
        <p:nvSpPr>
          <p:cNvPr id="23" name="Text 21"/>
          <p:cNvSpPr/>
          <p:nvPr/>
        </p:nvSpPr>
        <p:spPr>
          <a:xfrm>
            <a:off x="365760" y="4297680"/>
            <a:ext cx="8503920" cy="484632"/>
          </a:xfrm>
          <a:prstGeom prst="rect">
            <a:avLst/>
          </a:prstGeom>
          <a:noFill/>
        </p:spPr>
        <p:txBody>
          <a:bodyPr wrap="square" lIns="0" tIns="0" rIns="0" bIns="0" rtlCol="0" anchor="t"/>
          <a:lstStyle/>
          <a:p>
            <a:pPr marL="0" indent="0" algn="l">
              <a:buNone/>
            </a:pPr>
            <a:r>
              <a:rPr lang="en-US" sz="1000" dirty="0">
                <a:solidFill>
                  <a:srgbClr val="1E293B"/>
                </a:solidFill>
                <a:latin typeface="Calibri" panose="020F0502020204030204" pitchFamily="34" charset="0"/>
                <a:ea typeface="Calibri" panose="020F0502020204030204" pitchFamily="34" charset="-122"/>
                <a:cs typeface="Calibri" panose="020F0502020204030204" pitchFamily="34" charset="-120"/>
              </a:rPr>
              <a:t>Typed access, validation, and startup checks  remove ConnectionString from appsettings with ValidateOnStart and the process refuses to start instead of failing on first enrollment.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w="12700">
            <a:solidFill>
              <a:srgbClr val="0D9488"/>
            </a:solidFill>
            <a:prstDash val="solid"/>
          </a:ln>
        </p:spPr>
      </p:sp>
      <p:sp>
        <p:nvSpPr>
          <p:cNvPr id="3" name="Shape 1"/>
          <p:cNvSpPr/>
          <p:nvPr/>
        </p:nvSpPr>
        <p:spPr>
          <a:xfrm>
            <a:off x="73152" y="0"/>
            <a:ext cx="9070848" cy="749808"/>
          </a:xfrm>
          <a:prstGeom prst="rect">
            <a:avLst/>
          </a:prstGeom>
          <a:solidFill>
            <a:srgbClr val="F8FAFC"/>
          </a:solidFill>
          <a:ln w="6350">
            <a:solidFill>
              <a:srgbClr val="E2E8F0"/>
            </a:solidFill>
            <a:prstDash val="solid"/>
          </a:ln>
        </p:spPr>
      </p:sp>
      <p:sp>
        <p:nvSpPr>
          <p:cNvPr id="4" name="Shape 2"/>
          <p:cNvSpPr/>
          <p:nvPr/>
        </p:nvSpPr>
        <p:spPr>
          <a:xfrm>
            <a:off x="73152" y="749808"/>
            <a:ext cx="9070848" cy="36576"/>
          </a:xfrm>
          <a:prstGeom prst="rect">
            <a:avLst/>
          </a:prstGeom>
          <a:solidFill>
            <a:srgbClr val="0D9488"/>
          </a:solidFill>
          <a:ln w="12700">
            <a:solidFill>
              <a:srgbClr val="0D9488"/>
            </a:solidFill>
            <a:prstDash val="solid"/>
          </a:ln>
        </p:spPr>
      </p:sp>
      <p:sp>
        <p:nvSpPr>
          <p:cNvPr id="5" name="Text 3"/>
          <p:cNvSpPr/>
          <p:nvPr/>
        </p:nvSpPr>
        <p:spPr>
          <a:xfrm>
            <a:off x="228600" y="91440"/>
            <a:ext cx="7132320" cy="566928"/>
          </a:xfrm>
          <a:prstGeom prst="rect">
            <a:avLst/>
          </a:prstGeom>
          <a:noFill/>
        </p:spPr>
        <p:txBody>
          <a:bodyPr wrap="square" lIns="0" tIns="0" rIns="0" bIns="0" rtlCol="0" anchor="ctr"/>
          <a:lstStyle/>
          <a:p>
            <a:pPr marL="0" indent="0" algn="l">
              <a:buNone/>
            </a:pPr>
            <a:r>
              <a:rPr lang="en-US" sz="2100" b="1" dirty="0">
                <a:solidFill>
                  <a:srgbClr val="1E293B"/>
                </a:solidFill>
                <a:latin typeface="Calibri" panose="020F0502020204030204" pitchFamily="34" charset="0"/>
                <a:ea typeface="Calibri" panose="020F0502020204030204" pitchFamily="34" charset="-122"/>
                <a:cs typeface="Calibri" panose="020F0502020204030204" pitchFamily="34" charset="-120"/>
              </a:rPr>
              <a:t>Options Validation  Fail Before Users</a:t>
            </a:r>
            <a:endParaRPr lang="en-US" sz="2100" dirty="0"/>
          </a:p>
        </p:txBody>
      </p:sp>
      <p:sp>
        <p:nvSpPr>
          <p:cNvPr id="6" name="Shape 4"/>
          <p:cNvSpPr/>
          <p:nvPr/>
        </p:nvSpPr>
        <p:spPr>
          <a:xfrm>
            <a:off x="137160" y="786384"/>
            <a:ext cx="8869680" cy="0"/>
          </a:xfrm>
          <a:prstGeom prst="line">
            <a:avLst/>
          </a:prstGeom>
          <a:noFill/>
          <a:ln w="6350">
            <a:solidFill>
              <a:srgbClr val="E2E8F0"/>
            </a:solidFill>
            <a:prstDash val="solid"/>
          </a:ln>
        </p:spPr>
      </p:sp>
      <p:sp>
        <p:nvSpPr>
          <p:cNvPr id="7" name="Shape 5"/>
          <p:cNvSpPr/>
          <p:nvPr/>
        </p:nvSpPr>
        <p:spPr>
          <a:xfrm>
            <a:off x="182880" y="868680"/>
            <a:ext cx="4251960" cy="1508760"/>
          </a:xfrm>
          <a:prstGeom prst="rect">
            <a:avLst/>
          </a:prstGeom>
          <a:solidFill>
            <a:srgbClr val="1E293B"/>
          </a:solidFill>
          <a:ln w="6350">
            <a:solidFill>
              <a:srgbClr val="334155"/>
            </a:solidFill>
            <a:prstDash val="solid"/>
          </a:ln>
          <a:effectLst>
            <a:outerShdw blurRad="101600" dist="38100" dir="8100000" algn="bl" rotWithShape="0">
              <a:srgbClr val="000000">
                <a:alpha val="12000"/>
              </a:srgbClr>
            </a:outerShdw>
          </a:effectLst>
        </p:spPr>
      </p:sp>
      <p:sp>
        <p:nvSpPr>
          <p:cNvPr id="8" name="Shape 6"/>
          <p:cNvSpPr/>
          <p:nvPr/>
        </p:nvSpPr>
        <p:spPr>
          <a:xfrm>
            <a:off x="182880" y="868680"/>
            <a:ext cx="4251960" cy="292608"/>
          </a:xfrm>
          <a:prstGeom prst="rect">
            <a:avLst/>
          </a:prstGeom>
          <a:solidFill>
            <a:srgbClr val="0F172A"/>
          </a:solidFill>
          <a:ln w="12700">
            <a:solidFill>
              <a:srgbClr val="334155"/>
            </a:solidFill>
            <a:prstDash val="solid"/>
          </a:ln>
        </p:spPr>
      </p:sp>
      <p:sp>
        <p:nvSpPr>
          <p:cNvPr id="9" name="Text 7"/>
          <p:cNvSpPr/>
          <p:nvPr/>
        </p:nvSpPr>
        <p:spPr>
          <a:xfrm>
            <a:off x="292608" y="868680"/>
            <a:ext cx="4032504" cy="292608"/>
          </a:xfrm>
          <a:prstGeom prst="rect">
            <a:avLst/>
          </a:prstGeom>
          <a:noFill/>
        </p:spPr>
        <p:txBody>
          <a:bodyPr wrap="square" lIns="0" tIns="0" rIns="0" bIns="0" rtlCol="0" anchor="ctr"/>
          <a:lstStyle/>
          <a:p>
            <a:pPr marL="0" indent="0" algn="l">
              <a:buNone/>
            </a:pPr>
            <a:r>
              <a:rPr lang="en-US" sz="850" dirty="0">
                <a:solidFill>
                  <a:srgbClr val="94A3B8"/>
                </a:solidFill>
                <a:latin typeface="Calibri" panose="020F0502020204030204" pitchFamily="34" charset="0"/>
                <a:ea typeface="Calibri" panose="020F0502020204030204" pitchFamily="34" charset="-122"/>
                <a:cs typeface="Calibri" panose="020F0502020204030204" pitchFamily="34" charset="-120"/>
              </a:rPr>
              <a:t>DataAnnotations</a:t>
            </a:r>
            <a:endParaRPr lang="en-US" sz="850" dirty="0"/>
          </a:p>
        </p:txBody>
      </p:sp>
      <p:sp>
        <p:nvSpPr>
          <p:cNvPr id="10" name="Text 8"/>
          <p:cNvSpPr/>
          <p:nvPr/>
        </p:nvSpPr>
        <p:spPr>
          <a:xfrm>
            <a:off x="320040" y="1216152"/>
            <a:ext cx="3977640" cy="1051560"/>
          </a:xfrm>
          <a:prstGeom prst="rect">
            <a:avLst/>
          </a:prstGeom>
          <a:noFill/>
        </p:spPr>
        <p:txBody>
          <a:bodyPr wrap="square" lIns="0" tIns="0" rIns="0" bIns="0" rtlCol="0" anchor="t"/>
          <a:lstStyle/>
          <a:p>
            <a:pPr marL="0" indent="0" algn="l">
              <a:buNone/>
            </a:pPr>
            <a:r>
              <a:rPr lang="en-US" sz="850" dirty="0">
                <a:solidFill>
                  <a:srgbClr val="C084FC"/>
                </a:solidFill>
                <a:latin typeface="Consolas" panose="020B0609020204030204" pitchFamily="34" charset="0"/>
                <a:ea typeface="Consolas" panose="020B0609020204030204" pitchFamily="34" charset="-122"/>
                <a:cs typeface="Consolas" panose="020B0609020204030204" pitchFamily="34" charset="-120"/>
              </a:rPr>
              <a:t>public class </a:t>
            </a:r>
            <a:r>
              <a:rPr lang="en-US" sz="850" dirty="0">
                <a:solidFill>
                  <a:srgbClr val="F59E0B"/>
                </a:solidFill>
                <a:latin typeface="Consolas" panose="020B0609020204030204" pitchFamily="34" charset="0"/>
                <a:ea typeface="Consolas" panose="020B0609020204030204" pitchFamily="34" charset="-122"/>
                <a:cs typeface="Consolas" panose="020B0609020204030204" pitchFamily="34" charset="-120"/>
              </a:rPr>
              <a:t>DatabaseOptions</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a:t>
            </a:r>
            <a:endParaRPr lang="en-US" sz="850" dirty="0"/>
          </a:p>
          <a:p>
            <a:pPr marL="0" indent="0" algn="l">
              <a:buNone/>
            </a:pPr>
            <a:r>
              <a:rPr lang="en-US" sz="850" dirty="0">
                <a:solidFill>
                  <a:srgbClr val="C084FC"/>
                </a:solidFill>
                <a:latin typeface="Consolas" panose="020B0609020204030204" pitchFamily="34" charset="0"/>
                <a:ea typeface="Consolas" panose="020B0609020204030204" pitchFamily="34" charset="-122"/>
                <a:cs typeface="Consolas" panose="020B0609020204030204" pitchFamily="34" charset="-120"/>
              </a:rPr>
              <a:t>  [Required] </a:t>
            </a:r>
            <a:endParaRPr lang="en-US" sz="850" dirty="0"/>
          </a:p>
          <a:p>
            <a:pPr marL="0" indent="0" algn="l">
              <a:buNone/>
            </a:pPr>
            <a:r>
              <a:rPr lang="en-US" sz="850" dirty="0">
                <a:solidFill>
                  <a:srgbClr val="94A3B8"/>
                </a:solidFill>
                <a:latin typeface="Consolas" panose="020B0609020204030204" pitchFamily="34" charset="0"/>
                <a:ea typeface="Consolas" panose="020B0609020204030204" pitchFamily="34" charset="-122"/>
                <a:cs typeface="Consolas" panose="020B0609020204030204" pitchFamily="34" charset="-120"/>
              </a:rPr>
              <a:t>  public required string </a:t>
            </a:r>
            <a:r>
              <a:rPr lang="en-US" sz="850" dirty="0">
                <a:solidFill>
                  <a:srgbClr val="38BDF8"/>
                </a:solidFill>
                <a:latin typeface="Consolas" panose="020B0609020204030204" pitchFamily="34" charset="0"/>
                <a:ea typeface="Consolas" panose="020B0609020204030204" pitchFamily="34" charset="-122"/>
                <a:cs typeface="Consolas" panose="020B0609020204030204" pitchFamily="34" charset="-120"/>
              </a:rPr>
              <a:t>ConnectionString</a:t>
            </a: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 get; init; }</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[Range(1, 300)] public int Timeout { get; init; }</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a:t>
            </a:r>
            <a:endParaRPr lang="en-US" sz="850" dirty="0"/>
          </a:p>
        </p:txBody>
      </p:sp>
      <p:sp>
        <p:nvSpPr>
          <p:cNvPr id="11" name="Shape 9"/>
          <p:cNvSpPr/>
          <p:nvPr/>
        </p:nvSpPr>
        <p:spPr>
          <a:xfrm>
            <a:off x="4617720" y="868680"/>
            <a:ext cx="4343400" cy="2331720"/>
          </a:xfrm>
          <a:prstGeom prst="rect">
            <a:avLst/>
          </a:prstGeom>
          <a:solidFill>
            <a:srgbClr val="0F1A2E"/>
          </a:solidFill>
          <a:ln w="12700">
            <a:solidFill>
              <a:srgbClr val="EF4444"/>
            </a:solidFill>
            <a:prstDash val="solid"/>
          </a:ln>
          <a:effectLst>
            <a:outerShdw blurRad="101600" dist="38100" dir="8100000" algn="bl" rotWithShape="0">
              <a:srgbClr val="000000">
                <a:alpha val="12000"/>
              </a:srgbClr>
            </a:outerShdw>
          </a:effectLst>
        </p:spPr>
      </p:sp>
      <p:sp>
        <p:nvSpPr>
          <p:cNvPr id="12" name="Text 10"/>
          <p:cNvSpPr/>
          <p:nvPr/>
        </p:nvSpPr>
        <p:spPr>
          <a:xfrm>
            <a:off x="4754880" y="960120"/>
            <a:ext cx="4069080" cy="274320"/>
          </a:xfrm>
          <a:prstGeom prst="rect">
            <a:avLst/>
          </a:prstGeom>
          <a:noFill/>
        </p:spPr>
        <p:txBody>
          <a:bodyPr wrap="square" lIns="0" tIns="0" rIns="0" bIns="0" rtlCol="0" anchor="ctr"/>
          <a:lstStyle/>
          <a:p>
            <a:pPr marL="0" indent="0" algn="l">
              <a:buNone/>
            </a:pPr>
            <a:r>
              <a:rPr lang="en-US" sz="1000" b="1" dirty="0">
                <a:solidFill>
                  <a:srgbClr val="0EA5E9"/>
                </a:solidFill>
                <a:latin typeface="Calibri" panose="020F0502020204030204" pitchFamily="34" charset="0"/>
                <a:ea typeface="Calibri" panose="020F0502020204030204" pitchFamily="34" charset="-122"/>
                <a:cs typeface="Calibri" panose="020F0502020204030204" pitchFamily="34" charset="-120"/>
              </a:rPr>
              <a:t>If ConnectionString is missing at startup:</a:t>
            </a:r>
            <a:endParaRPr lang="en-US" sz="1000" dirty="0"/>
          </a:p>
        </p:txBody>
      </p:sp>
      <p:sp>
        <p:nvSpPr>
          <p:cNvPr id="13" name="Text 11"/>
          <p:cNvSpPr/>
          <p:nvPr/>
        </p:nvSpPr>
        <p:spPr>
          <a:xfrm>
            <a:off x="4754880" y="1261872"/>
            <a:ext cx="4069080" cy="182880"/>
          </a:xfrm>
          <a:prstGeom prst="rect">
            <a:avLst/>
          </a:prstGeom>
          <a:noFill/>
        </p:spPr>
        <p:txBody>
          <a:bodyPr wrap="square" lIns="0" tIns="0" rIns="0" bIns="0" rtlCol="0" anchor="ctr"/>
          <a:lstStyle/>
          <a:p>
            <a:pPr marL="0" indent="0" algn="l">
              <a:buNone/>
            </a:pPr>
            <a:r>
              <a:rPr lang="en-US" sz="850" dirty="0">
                <a:solidFill>
                  <a:srgbClr val="E2E8F0"/>
                </a:solidFill>
                <a:latin typeface="Consolas" panose="020B0609020204030204" pitchFamily="34" charset="0"/>
                <a:ea typeface="Consolas" panose="020B0609020204030204" pitchFamily="34" charset="-122"/>
                <a:cs typeface="Consolas" panose="020B0609020204030204" pitchFamily="34" charset="-120"/>
              </a:rPr>
              <a:t>Microsoft.Extensions.Options.</a:t>
            </a:r>
            <a:endParaRPr lang="en-US" sz="850" dirty="0"/>
          </a:p>
        </p:txBody>
      </p:sp>
      <p:sp>
        <p:nvSpPr>
          <p:cNvPr id="14" name="Text 12"/>
          <p:cNvSpPr/>
          <p:nvPr/>
        </p:nvSpPr>
        <p:spPr>
          <a:xfrm>
            <a:off x="4754880" y="1463040"/>
            <a:ext cx="4069080" cy="182880"/>
          </a:xfrm>
          <a:prstGeom prst="rect">
            <a:avLst/>
          </a:prstGeom>
          <a:noFill/>
        </p:spPr>
        <p:txBody>
          <a:bodyPr wrap="square" lIns="0" tIns="0" rIns="0" bIns="0" rtlCol="0" anchor="ctr"/>
          <a:lstStyle/>
          <a:p>
            <a:pPr marL="0" indent="0" algn="l">
              <a:buNone/>
            </a:pPr>
            <a:r>
              <a:rPr lang="en-US" sz="850" dirty="0">
                <a:solidFill>
                  <a:srgbClr val="E2E8F0"/>
                </a:solidFill>
                <a:latin typeface="Consolas" panose="020B0609020204030204" pitchFamily="34" charset="0"/>
                <a:ea typeface="Consolas" panose="020B0609020204030204" pitchFamily="34" charset="-122"/>
                <a:cs typeface="Consolas" panose="020B0609020204030204" pitchFamily="34" charset="-120"/>
              </a:rPr>
              <a:t>OptionsValidationException:</a:t>
            </a:r>
            <a:endParaRPr lang="en-US" sz="850" dirty="0"/>
          </a:p>
        </p:txBody>
      </p:sp>
      <p:sp>
        <p:nvSpPr>
          <p:cNvPr id="15" name="Text 13"/>
          <p:cNvSpPr/>
          <p:nvPr/>
        </p:nvSpPr>
        <p:spPr>
          <a:xfrm>
            <a:off x="4754880" y="1664208"/>
            <a:ext cx="4069080" cy="182880"/>
          </a:xfrm>
          <a:prstGeom prst="rect">
            <a:avLst/>
          </a:prstGeom>
          <a:noFill/>
        </p:spPr>
        <p:txBody>
          <a:bodyPr wrap="square" lIns="0" tIns="0" rIns="0" bIns="0" rtlCol="0" anchor="ctr"/>
          <a:lstStyle/>
          <a:p>
            <a:pPr marL="0" indent="0" algn="l">
              <a:buNone/>
            </a:pPr>
            <a:r>
              <a:rPr lang="en-US" sz="850" dirty="0">
                <a:solidFill>
                  <a:srgbClr val="E2E8F0"/>
                </a:solidFill>
                <a:latin typeface="Consolas" panose="020B0609020204030204" pitchFamily="34" charset="0"/>
                <a:ea typeface="Consolas" panose="020B0609020204030204" pitchFamily="34" charset="-122"/>
                <a:cs typeface="Consolas" panose="020B0609020204030204" pitchFamily="34" charset="-120"/>
              </a:rPr>
              <a:t>  DataAnnotation validation failed for</a:t>
            </a:r>
            <a:endParaRPr lang="en-US" sz="850" dirty="0"/>
          </a:p>
        </p:txBody>
      </p:sp>
      <p:sp>
        <p:nvSpPr>
          <p:cNvPr id="16" name="Text 14"/>
          <p:cNvSpPr/>
          <p:nvPr/>
        </p:nvSpPr>
        <p:spPr>
          <a:xfrm>
            <a:off x="4754880" y="1865376"/>
            <a:ext cx="4069080" cy="182880"/>
          </a:xfrm>
          <a:prstGeom prst="rect">
            <a:avLst/>
          </a:prstGeom>
          <a:noFill/>
        </p:spPr>
        <p:txBody>
          <a:bodyPr wrap="square" lIns="0" tIns="0" rIns="0" bIns="0" rtlCol="0" anchor="ctr"/>
          <a:lstStyle/>
          <a:p>
            <a:pPr marL="0" indent="0" algn="l">
              <a:buNone/>
            </a:pPr>
            <a:r>
              <a:rPr lang="en-US" sz="850" dirty="0">
                <a:solidFill>
                  <a:srgbClr val="E2E8F0"/>
                </a:solidFill>
                <a:latin typeface="Consolas" panose="020B0609020204030204" pitchFamily="34" charset="0"/>
                <a:ea typeface="Consolas" panose="020B0609020204030204" pitchFamily="34" charset="-122"/>
                <a:cs typeface="Consolas" panose="020B0609020204030204" pitchFamily="34" charset="-120"/>
              </a:rPr>
              <a:t>  'DatabaseOptions':</a:t>
            </a:r>
            <a:endParaRPr lang="en-US" sz="850" dirty="0"/>
          </a:p>
        </p:txBody>
      </p:sp>
      <p:sp>
        <p:nvSpPr>
          <p:cNvPr id="17" name="Text 15"/>
          <p:cNvSpPr/>
          <p:nvPr/>
        </p:nvSpPr>
        <p:spPr>
          <a:xfrm>
            <a:off x="4754880" y="2066544"/>
            <a:ext cx="4069080" cy="182880"/>
          </a:xfrm>
          <a:prstGeom prst="rect">
            <a:avLst/>
          </a:prstGeom>
          <a:noFill/>
        </p:spPr>
        <p:txBody>
          <a:bodyPr wrap="square" lIns="0" tIns="0" rIns="0" bIns="0" rtlCol="0" anchor="ctr"/>
          <a:lstStyle/>
          <a:p>
            <a:pPr marL="0" indent="0" algn="l">
              <a:buNone/>
            </a:pPr>
            <a:r>
              <a:rPr lang="en-US" sz="850" dirty="0">
                <a:solidFill>
                  <a:srgbClr val="E2E8F0"/>
                </a:solidFill>
                <a:latin typeface="Consolas" panose="020B0609020204030204" pitchFamily="34" charset="0"/>
                <a:ea typeface="Consolas" panose="020B0609020204030204" pitchFamily="34" charset="-122"/>
                <a:cs typeface="Consolas" panose="020B0609020204030204" pitchFamily="34" charset="-120"/>
              </a:rPr>
              <a:t>  'Database connection string is required'</a:t>
            </a:r>
            <a:endParaRPr lang="en-US" sz="850" dirty="0"/>
          </a:p>
        </p:txBody>
      </p:sp>
      <p:sp>
        <p:nvSpPr>
          <p:cNvPr id="18" name="Text 16"/>
          <p:cNvSpPr/>
          <p:nvPr/>
        </p:nvSpPr>
        <p:spPr>
          <a:xfrm>
            <a:off x="4754880" y="2267712"/>
            <a:ext cx="4069080" cy="182880"/>
          </a:xfrm>
          <a:prstGeom prst="rect">
            <a:avLst/>
          </a:prstGeom>
          <a:noFill/>
        </p:spPr>
        <p:txBody>
          <a:bodyPr wrap="square" lIns="0" tIns="0" rIns="0" bIns="0" rtlCol="0" anchor="ctr"/>
          <a:lstStyle/>
          <a:p>
            <a:pPr marL="0" indent="0" algn="l">
              <a:buNone/>
            </a:pPr>
            <a:endParaRPr lang="en-US" sz="850" dirty="0"/>
          </a:p>
        </p:txBody>
      </p:sp>
      <p:sp>
        <p:nvSpPr>
          <p:cNvPr id="19" name="Text 17"/>
          <p:cNvSpPr/>
          <p:nvPr/>
        </p:nvSpPr>
        <p:spPr>
          <a:xfrm>
            <a:off x="4754880" y="2468880"/>
            <a:ext cx="4069080" cy="182880"/>
          </a:xfrm>
          <a:prstGeom prst="rect">
            <a:avLst/>
          </a:prstGeom>
          <a:noFill/>
        </p:spPr>
        <p:txBody>
          <a:bodyPr wrap="square" lIns="0" tIns="0" rIns="0" bIns="0" rtlCol="0" anchor="ctr"/>
          <a:lstStyle/>
          <a:p>
            <a:pPr marL="0" indent="0" algn="l">
              <a:buNone/>
            </a:pPr>
            <a:r>
              <a:rPr lang="en-US" sz="850" dirty="0">
                <a:solidFill>
                  <a:srgbClr val="86EFAC"/>
                </a:solidFill>
                <a:latin typeface="Consolas" panose="020B0609020204030204" pitchFamily="34" charset="0"/>
                <a:ea typeface="Consolas" panose="020B0609020204030204" pitchFamily="34" charset="-122"/>
                <a:cs typeface="Consolas" panose="020B0609020204030204" pitchFamily="34" charset="-120"/>
              </a:rPr>
              <a:t>→ App REFUSES to start.</a:t>
            </a:r>
            <a:endParaRPr lang="en-US" sz="850" dirty="0"/>
          </a:p>
        </p:txBody>
      </p:sp>
      <p:sp>
        <p:nvSpPr>
          <p:cNvPr id="20" name="Shape 18"/>
          <p:cNvSpPr/>
          <p:nvPr/>
        </p:nvSpPr>
        <p:spPr>
          <a:xfrm>
            <a:off x="182880" y="2487295"/>
            <a:ext cx="4166235" cy="438785"/>
          </a:xfrm>
          <a:prstGeom prst="rect">
            <a:avLst/>
          </a:prstGeom>
          <a:solidFill>
            <a:srgbClr val="FFF7ED"/>
          </a:solidFill>
          <a:ln w="12700">
            <a:solidFill>
              <a:srgbClr val="F59E0B"/>
            </a:solidFill>
            <a:prstDash val="solid"/>
          </a:ln>
        </p:spPr>
      </p:sp>
      <p:sp>
        <p:nvSpPr>
          <p:cNvPr id="21" name="Text 19"/>
          <p:cNvSpPr/>
          <p:nvPr/>
        </p:nvSpPr>
        <p:spPr>
          <a:xfrm>
            <a:off x="320040" y="2487168"/>
            <a:ext cx="8503920" cy="438912"/>
          </a:xfrm>
          <a:prstGeom prst="rect">
            <a:avLst/>
          </a:prstGeom>
          <a:noFill/>
        </p:spPr>
        <p:txBody>
          <a:bodyPr wrap="square" lIns="0" tIns="0" rIns="0" bIns="0" rtlCol="0" anchor="ctr"/>
          <a:lstStyle/>
          <a:p>
            <a:pPr marL="0" indent="0" algn="l">
              <a:buNone/>
            </a:pPr>
            <a:r>
              <a:rPr lang="en-US" sz="1100" b="1" dirty="0">
                <a:solidFill>
                  <a:srgbClr val="92400E"/>
                </a:solidFill>
                <a:latin typeface="Calibri" panose="020F0502020204030204" pitchFamily="34" charset="0"/>
                <a:ea typeface="Calibri" panose="020F0502020204030204" pitchFamily="34" charset="-122"/>
                <a:cs typeface="Calibri" panose="020F0502020204030204" pitchFamily="34" charset="-120"/>
              </a:rPr>
              <a:t>Why is startup failure better than failing on first use?</a:t>
            </a:r>
            <a:endParaRPr lang="en-US" sz="1100" dirty="0"/>
          </a:p>
        </p:txBody>
      </p:sp>
      <p:sp>
        <p:nvSpPr>
          <p:cNvPr id="22" name="Shape 20"/>
          <p:cNvSpPr/>
          <p:nvPr/>
        </p:nvSpPr>
        <p:spPr>
          <a:xfrm>
            <a:off x="182880" y="3035808"/>
            <a:ext cx="8778240" cy="1097280"/>
          </a:xfrm>
          <a:prstGeom prst="rect">
            <a:avLst/>
          </a:prstGeom>
          <a:solidFill>
            <a:srgbClr val="FFFBEB"/>
          </a:solidFill>
          <a:ln w="12700">
            <a:solidFill>
              <a:srgbClr val="F59E0B"/>
            </a:solidFill>
            <a:prstDash val="solid"/>
          </a:ln>
        </p:spPr>
      </p:sp>
      <p:sp>
        <p:nvSpPr>
          <p:cNvPr id="23" name="Shape 21"/>
          <p:cNvSpPr/>
          <p:nvPr/>
        </p:nvSpPr>
        <p:spPr>
          <a:xfrm>
            <a:off x="182880" y="3035808"/>
            <a:ext cx="54864" cy="1097280"/>
          </a:xfrm>
          <a:prstGeom prst="rect">
            <a:avLst/>
          </a:prstGeom>
          <a:solidFill>
            <a:srgbClr val="F59E0B"/>
          </a:solidFill>
          <a:ln w="12700">
            <a:solidFill>
              <a:srgbClr val="F59E0B"/>
            </a:solidFill>
            <a:prstDash val="solid"/>
          </a:ln>
        </p:spPr>
      </p:sp>
      <p:sp>
        <p:nvSpPr>
          <p:cNvPr id="24" name="Text 22"/>
          <p:cNvSpPr/>
          <p:nvPr/>
        </p:nvSpPr>
        <p:spPr>
          <a:xfrm>
            <a:off x="365760" y="3127248"/>
            <a:ext cx="8503920" cy="274320"/>
          </a:xfrm>
          <a:prstGeom prst="rect">
            <a:avLst/>
          </a:prstGeom>
          <a:noFill/>
        </p:spPr>
        <p:txBody>
          <a:bodyPr wrap="square" lIns="0" tIns="0" rIns="0" bIns="0" rtlCol="0" anchor="ctr"/>
          <a:lstStyle/>
          <a:p>
            <a:pPr marL="0" indent="0" algn="l">
              <a:buNone/>
            </a:pPr>
            <a:r>
              <a:rPr lang="en-US" sz="1000" b="1" dirty="0">
                <a:solidFill>
                  <a:srgbClr val="F59E0B"/>
                </a:solidFill>
                <a:latin typeface="Calibri" panose="020F0502020204030204" pitchFamily="34" charset="0"/>
                <a:ea typeface="Calibri" panose="020F0502020204030204" pitchFamily="34" charset="-122"/>
                <a:cs typeface="Calibri" panose="020F0502020204030204" pitchFamily="34" charset="-120"/>
              </a:rPr>
              <a:t>Ops perspective</a:t>
            </a:r>
            <a:endParaRPr lang="en-US" sz="1000" dirty="0"/>
          </a:p>
        </p:txBody>
      </p:sp>
      <p:sp>
        <p:nvSpPr>
          <p:cNvPr id="25" name="Text 23"/>
          <p:cNvSpPr/>
          <p:nvPr/>
        </p:nvSpPr>
        <p:spPr>
          <a:xfrm>
            <a:off x="365760" y="3419856"/>
            <a:ext cx="8503920" cy="594360"/>
          </a:xfrm>
          <a:prstGeom prst="rect">
            <a:avLst/>
          </a:prstGeom>
          <a:noFill/>
        </p:spPr>
        <p:txBody>
          <a:bodyPr wrap="square" lIns="0" tIns="0" rIns="0" bIns="0" rtlCol="0" anchor="t"/>
          <a:lstStyle/>
          <a:p>
            <a:pPr marL="0" indent="0" algn="l">
              <a:buNone/>
            </a:pPr>
            <a:r>
              <a:rPr lang="en-US" sz="1000" dirty="0">
                <a:solidFill>
                  <a:srgbClr val="1E293B"/>
                </a:solidFill>
                <a:latin typeface="Calibri" panose="020F0502020204030204" pitchFamily="34" charset="0"/>
                <a:ea typeface="Calibri" panose="020F0502020204030204" pitchFamily="34" charset="-122"/>
                <a:cs typeface="Calibri" panose="020F0502020204030204" pitchFamily="34" charset="-120"/>
              </a:rPr>
              <a:t>Bad: app runs three hours, looks healthy, first enrollment crashes  team thought deploy succeeded. Good: pipeline or container restart loops on a clear validation error  no user traffic yet.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C3AED"/>
          </a:solidFill>
          <a:ln w="12700">
            <a:solidFill>
              <a:srgbClr val="7C3AED"/>
            </a:solidFill>
            <a:prstDash val="solid"/>
          </a:ln>
        </p:spPr>
      </p:sp>
      <p:sp>
        <p:nvSpPr>
          <p:cNvPr id="3" name="Shape 1"/>
          <p:cNvSpPr/>
          <p:nvPr/>
        </p:nvSpPr>
        <p:spPr>
          <a:xfrm>
            <a:off x="73152" y="0"/>
            <a:ext cx="9070848" cy="749808"/>
          </a:xfrm>
          <a:prstGeom prst="rect">
            <a:avLst/>
          </a:prstGeom>
          <a:solidFill>
            <a:srgbClr val="F8FAFC"/>
          </a:solidFill>
          <a:ln w="6350">
            <a:solidFill>
              <a:srgbClr val="E2E8F0"/>
            </a:solidFill>
            <a:prstDash val="solid"/>
          </a:ln>
        </p:spPr>
      </p:sp>
      <p:sp>
        <p:nvSpPr>
          <p:cNvPr id="4" name="Shape 2"/>
          <p:cNvSpPr/>
          <p:nvPr/>
        </p:nvSpPr>
        <p:spPr>
          <a:xfrm>
            <a:off x="73152" y="749808"/>
            <a:ext cx="9070848" cy="36576"/>
          </a:xfrm>
          <a:prstGeom prst="rect">
            <a:avLst/>
          </a:prstGeom>
          <a:solidFill>
            <a:srgbClr val="7C3AED"/>
          </a:solidFill>
          <a:ln w="12700">
            <a:solidFill>
              <a:srgbClr val="7C3AED"/>
            </a:solidFill>
            <a:prstDash val="solid"/>
          </a:ln>
        </p:spPr>
      </p:sp>
      <p:sp>
        <p:nvSpPr>
          <p:cNvPr id="5" name="Text 3"/>
          <p:cNvSpPr/>
          <p:nvPr/>
        </p:nvSpPr>
        <p:spPr>
          <a:xfrm>
            <a:off x="228600" y="91440"/>
            <a:ext cx="7132320" cy="566928"/>
          </a:xfrm>
          <a:prstGeom prst="rect">
            <a:avLst/>
          </a:prstGeom>
          <a:noFill/>
        </p:spPr>
        <p:txBody>
          <a:bodyPr wrap="square" lIns="0" tIns="0" rIns="0" bIns="0" rtlCol="0" anchor="ctr"/>
          <a:lstStyle/>
          <a:p>
            <a:pPr marL="0" indent="0" algn="l">
              <a:buNone/>
            </a:pPr>
            <a:r>
              <a:rPr lang="en-US" sz="2100" b="1" dirty="0">
                <a:solidFill>
                  <a:srgbClr val="1E293B"/>
                </a:solidFill>
                <a:latin typeface="Calibri" panose="020F0502020204030204" pitchFamily="34" charset="0"/>
                <a:ea typeface="Calibri" panose="020F0502020204030204" pitchFamily="34" charset="-122"/>
                <a:cs typeface="Calibri" panose="020F0502020204030204" pitchFamily="34" charset="-120"/>
              </a:rPr>
              <a:t>Injecting Options into TMS Services</a:t>
            </a:r>
            <a:endParaRPr lang="en-US" sz="2100" dirty="0"/>
          </a:p>
        </p:txBody>
      </p:sp>
      <p:sp>
        <p:nvSpPr>
          <p:cNvPr id="6" name="Shape 4"/>
          <p:cNvSpPr/>
          <p:nvPr/>
        </p:nvSpPr>
        <p:spPr>
          <a:xfrm>
            <a:off x="137160" y="786384"/>
            <a:ext cx="8869680" cy="0"/>
          </a:xfrm>
          <a:prstGeom prst="line">
            <a:avLst/>
          </a:prstGeom>
          <a:noFill/>
          <a:ln w="6350">
            <a:solidFill>
              <a:srgbClr val="E2E8F0"/>
            </a:solidFill>
            <a:prstDash val="solid"/>
          </a:ln>
        </p:spPr>
      </p:sp>
      <p:sp>
        <p:nvSpPr>
          <p:cNvPr id="7" name="Shape 5"/>
          <p:cNvSpPr/>
          <p:nvPr/>
        </p:nvSpPr>
        <p:spPr>
          <a:xfrm>
            <a:off x="182880" y="868680"/>
            <a:ext cx="4892040" cy="2148840"/>
          </a:xfrm>
          <a:prstGeom prst="rect">
            <a:avLst/>
          </a:prstGeom>
          <a:solidFill>
            <a:srgbClr val="1E293B"/>
          </a:solidFill>
          <a:ln w="6350">
            <a:solidFill>
              <a:srgbClr val="334155"/>
            </a:solidFill>
            <a:prstDash val="solid"/>
          </a:ln>
          <a:effectLst>
            <a:outerShdw blurRad="101600" dist="38100" dir="8100000" algn="bl" rotWithShape="0">
              <a:srgbClr val="000000">
                <a:alpha val="12000"/>
              </a:srgbClr>
            </a:outerShdw>
          </a:effectLst>
        </p:spPr>
      </p:sp>
      <p:sp>
        <p:nvSpPr>
          <p:cNvPr id="8" name="Shape 6"/>
          <p:cNvSpPr/>
          <p:nvPr/>
        </p:nvSpPr>
        <p:spPr>
          <a:xfrm>
            <a:off x="182880" y="868680"/>
            <a:ext cx="4892040" cy="292608"/>
          </a:xfrm>
          <a:prstGeom prst="rect">
            <a:avLst/>
          </a:prstGeom>
          <a:solidFill>
            <a:srgbClr val="0F172A"/>
          </a:solidFill>
          <a:ln w="12700">
            <a:solidFill>
              <a:srgbClr val="334155"/>
            </a:solidFill>
            <a:prstDash val="solid"/>
          </a:ln>
        </p:spPr>
      </p:sp>
      <p:sp>
        <p:nvSpPr>
          <p:cNvPr id="9" name="Text 7"/>
          <p:cNvSpPr/>
          <p:nvPr/>
        </p:nvSpPr>
        <p:spPr>
          <a:xfrm>
            <a:off x="292608" y="868680"/>
            <a:ext cx="4672584" cy="292608"/>
          </a:xfrm>
          <a:prstGeom prst="rect">
            <a:avLst/>
          </a:prstGeom>
          <a:noFill/>
        </p:spPr>
        <p:txBody>
          <a:bodyPr wrap="square" lIns="0" tIns="0" rIns="0" bIns="0" rtlCol="0" anchor="ctr"/>
          <a:lstStyle/>
          <a:p>
            <a:pPr marL="0" indent="0" algn="l">
              <a:buNone/>
            </a:pPr>
            <a:r>
              <a:rPr lang="en-US" sz="850" dirty="0">
                <a:solidFill>
                  <a:srgbClr val="94A3B8"/>
                </a:solidFill>
                <a:latin typeface="Calibri" panose="020F0502020204030204" pitchFamily="34" charset="0"/>
                <a:ea typeface="Calibri" panose="020F0502020204030204" pitchFamily="34" charset="-122"/>
                <a:cs typeface="Calibri" panose="020F0502020204030204" pitchFamily="34" charset="-120"/>
              </a:rPr>
              <a:t>Primary constructor (C# 14)</a:t>
            </a:r>
            <a:endParaRPr lang="en-US" sz="850" dirty="0"/>
          </a:p>
        </p:txBody>
      </p:sp>
      <p:sp>
        <p:nvSpPr>
          <p:cNvPr id="10" name="Text 8"/>
          <p:cNvSpPr/>
          <p:nvPr/>
        </p:nvSpPr>
        <p:spPr>
          <a:xfrm>
            <a:off x="320040" y="1216152"/>
            <a:ext cx="4617720" cy="1691640"/>
          </a:xfrm>
          <a:prstGeom prst="rect">
            <a:avLst/>
          </a:prstGeom>
          <a:noFill/>
        </p:spPr>
        <p:txBody>
          <a:bodyPr wrap="square" lIns="0" tIns="0" rIns="0" bIns="0" rtlCol="0" anchor="t"/>
          <a:lstStyle/>
          <a:p>
            <a:pPr marL="0" indent="0" algn="l">
              <a:buNone/>
            </a:pPr>
            <a:r>
              <a:rPr lang="en-US" sz="850" dirty="0">
                <a:solidFill>
                  <a:srgbClr val="C084FC"/>
                </a:solidFill>
                <a:latin typeface="Consolas" panose="020B0609020204030204" pitchFamily="34" charset="0"/>
                <a:ea typeface="Consolas" panose="020B0609020204030204" pitchFamily="34" charset="-122"/>
                <a:cs typeface="Consolas" panose="020B0609020204030204" pitchFamily="34" charset="-120"/>
              </a:rPr>
              <a:t>public class </a:t>
            </a:r>
            <a:r>
              <a:rPr lang="en-US" sz="850" dirty="0">
                <a:solidFill>
                  <a:srgbClr val="F59E0B"/>
                </a:solidFill>
                <a:latin typeface="Consolas" panose="020B0609020204030204" pitchFamily="34" charset="0"/>
                <a:ea typeface="Consolas" panose="020B0609020204030204" pitchFamily="34" charset="-122"/>
                <a:cs typeface="Consolas" panose="020B0609020204030204" pitchFamily="34" charset="-120"/>
              </a:rPr>
              <a:t>EnrollmentService</a:t>
            </a: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a:t>
            </a:r>
            <a:r>
              <a:rPr lang="en-US" sz="850" dirty="0">
                <a:solidFill>
                  <a:srgbClr val="38BDF8"/>
                </a:solidFill>
                <a:latin typeface="Consolas" panose="020B0609020204030204" pitchFamily="34" charset="0"/>
                <a:ea typeface="Consolas" panose="020B0609020204030204" pitchFamily="34" charset="-122"/>
                <a:cs typeface="Consolas" panose="020B0609020204030204" pitchFamily="34" charset="-120"/>
              </a:rPr>
              <a:t>IOptions&lt;DatabaseOptions&gt;</a:t>
            </a: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db,</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a:t>
            </a:r>
            <a:r>
              <a:rPr lang="en-US" sz="850" dirty="0">
                <a:solidFill>
                  <a:srgbClr val="38BDF8"/>
                </a:solidFill>
                <a:latin typeface="Consolas" panose="020B0609020204030204" pitchFamily="34" charset="0"/>
                <a:ea typeface="Consolas" panose="020B0609020204030204" pitchFamily="34" charset="-122"/>
                <a:cs typeface="Consolas" panose="020B0609020204030204" pitchFamily="34" charset="-120"/>
              </a:rPr>
              <a:t>ILogger&lt;EnrollmentService&gt;</a:t>
            </a: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log)</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a:t>
            </a:r>
            <a:endParaRPr lang="en-US" sz="850" dirty="0"/>
          </a:p>
          <a:p>
            <a:pPr marL="0" indent="0" algn="l">
              <a:buNone/>
            </a:pPr>
            <a:r>
              <a:rPr lang="en-US" sz="850" dirty="0">
                <a:solidFill>
                  <a:srgbClr val="94A3B8"/>
                </a:solidFill>
                <a:latin typeface="Consolas" panose="020B0609020204030204" pitchFamily="34" charset="0"/>
                <a:ea typeface="Consolas" panose="020B0609020204030204" pitchFamily="34" charset="-122"/>
                <a:cs typeface="Consolas" panose="020B0609020204030204" pitchFamily="34" charset="-120"/>
              </a:rPr>
              <a:t>  private readonly </a:t>
            </a:r>
            <a:r>
              <a:rPr lang="en-US" sz="850" dirty="0">
                <a:solidFill>
                  <a:srgbClr val="F59E0B"/>
                </a:solidFill>
                <a:latin typeface="Consolas" panose="020B0609020204030204" pitchFamily="34" charset="0"/>
                <a:ea typeface="Consolas" panose="020B0609020204030204" pitchFamily="34" charset="-122"/>
                <a:cs typeface="Consolas" panose="020B0609020204030204" pitchFamily="34" charset="-120"/>
              </a:rPr>
              <a:t>DatabaseOptions</a:t>
            </a: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_db = </a:t>
            </a:r>
            <a:r>
              <a:rPr lang="en-US" sz="850" dirty="0">
                <a:solidFill>
                  <a:srgbClr val="38BDF8"/>
                </a:solidFill>
                <a:latin typeface="Consolas" panose="020B0609020204030204" pitchFamily="34" charset="0"/>
                <a:ea typeface="Consolas" panose="020B0609020204030204" pitchFamily="34" charset="-122"/>
                <a:cs typeface="Consolas" panose="020B0609020204030204" pitchFamily="34" charset="-120"/>
              </a:rPr>
              <a:t>db</a:t>
            </a: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.Value;</a:t>
            </a:r>
            <a:endParaRPr lang="en-US" sz="850" dirty="0"/>
          </a:p>
          <a:p>
            <a:pPr marL="0" indent="0" algn="l">
              <a:buNone/>
            </a:pPr>
            <a:r>
              <a:rPr lang="en-US" sz="850" dirty="0">
                <a:solidFill>
                  <a:srgbClr val="94A3B8"/>
                </a:solidFill>
                <a:latin typeface="Consolas" panose="020B0609020204030204" pitchFamily="34" charset="0"/>
                <a:ea typeface="Consolas" panose="020B0609020204030204" pitchFamily="34" charset="-122"/>
                <a:cs typeface="Consolas" panose="020B0609020204030204" pitchFamily="34" charset="-120"/>
              </a:rPr>
              <a:t>  // TimeSpan.FromSeconds(_db.Timeout) ...</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a:t>
            </a:r>
            <a:endParaRPr lang="en-US" sz="850" dirty="0"/>
          </a:p>
        </p:txBody>
      </p:sp>
      <p:sp>
        <p:nvSpPr>
          <p:cNvPr id="11" name="Text 9"/>
          <p:cNvSpPr/>
          <p:nvPr/>
        </p:nvSpPr>
        <p:spPr>
          <a:xfrm>
            <a:off x="5166360" y="868680"/>
            <a:ext cx="3886200" cy="384048"/>
          </a:xfrm>
          <a:prstGeom prst="rect">
            <a:avLst/>
          </a:prstGeom>
          <a:noFill/>
        </p:spPr>
        <p:txBody>
          <a:bodyPr wrap="square" lIns="0" tIns="0" rIns="0" bIns="0" rtlCol="0" anchor="t"/>
          <a:lstStyle/>
          <a:p>
            <a:pPr marL="0" indent="0" algn="l">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For TMS in this course: IOptions&lt;T&gt; is enough  config changes mean redeploy.</a:t>
            </a:r>
            <a:endParaRPr lang="en-US" sz="1000" dirty="0"/>
          </a:p>
        </p:txBody>
      </p:sp>
      <p:sp>
        <p:nvSpPr>
          <p:cNvPr id="12" name="Shape 10"/>
          <p:cNvSpPr/>
          <p:nvPr/>
        </p:nvSpPr>
        <p:spPr>
          <a:xfrm>
            <a:off x="5120640" y="1325880"/>
            <a:ext cx="3840480" cy="512064"/>
          </a:xfrm>
          <a:prstGeom prst="rect">
            <a:avLst/>
          </a:prstGeom>
          <a:solidFill>
            <a:srgbClr val="F8FAFC"/>
          </a:solidFill>
          <a:ln w="6350">
            <a:solidFill>
              <a:srgbClr val="E2E8F0"/>
            </a:solidFill>
            <a:prstDash val="solid"/>
          </a:ln>
        </p:spPr>
      </p:sp>
      <p:sp>
        <p:nvSpPr>
          <p:cNvPr id="13" name="Text 11"/>
          <p:cNvSpPr/>
          <p:nvPr/>
        </p:nvSpPr>
        <p:spPr>
          <a:xfrm>
            <a:off x="5230368" y="1399032"/>
            <a:ext cx="1691640" cy="365760"/>
          </a:xfrm>
          <a:prstGeom prst="rect">
            <a:avLst/>
          </a:prstGeom>
          <a:noFill/>
        </p:spPr>
        <p:txBody>
          <a:bodyPr wrap="square" lIns="0" tIns="0" rIns="0" bIns="0" rtlCol="0" anchor="ctr"/>
          <a:lstStyle/>
          <a:p>
            <a:pPr marL="0" indent="0" algn="l">
              <a:buNone/>
            </a:pPr>
            <a:r>
              <a:rPr lang="en-US" sz="900" b="1" dirty="0">
                <a:solidFill>
                  <a:srgbClr val="7C3AED"/>
                </a:solidFill>
                <a:latin typeface="Consolas" panose="020B0609020204030204" pitchFamily="34" charset="0"/>
                <a:ea typeface="Consolas" panose="020B0609020204030204" pitchFamily="34" charset="-122"/>
                <a:cs typeface="Consolas" panose="020B0609020204030204" pitchFamily="34" charset="-120"/>
              </a:rPr>
              <a:t>IOptions&lt;T&gt;</a:t>
            </a:r>
            <a:endParaRPr lang="en-US" sz="900" dirty="0"/>
          </a:p>
        </p:txBody>
      </p:sp>
      <p:sp>
        <p:nvSpPr>
          <p:cNvPr id="14" name="Text 12"/>
          <p:cNvSpPr/>
          <p:nvPr/>
        </p:nvSpPr>
        <p:spPr>
          <a:xfrm>
            <a:off x="6903720" y="1380744"/>
            <a:ext cx="1965960" cy="201168"/>
          </a:xfrm>
          <a:prstGeom prst="rect">
            <a:avLst/>
          </a:prstGeom>
          <a:noFill/>
        </p:spPr>
        <p:txBody>
          <a:bodyPr wrap="square" lIns="0" tIns="0" rIns="0" bIns="0" rtlCol="0" anchor="ctr"/>
          <a:lstStyle/>
          <a:p>
            <a:pPr marL="0" indent="0" algn="l">
              <a:buNone/>
            </a:pPr>
            <a:r>
              <a:rPr lang="en-US" sz="850" b="1" dirty="0">
                <a:solidFill>
                  <a:srgbClr val="1E293B"/>
                </a:solidFill>
                <a:latin typeface="Calibri" panose="020F0502020204030204" pitchFamily="34" charset="0"/>
                <a:ea typeface="Calibri" panose="020F0502020204030204" pitchFamily="34" charset="-122"/>
                <a:cs typeface="Calibri" panose="020F0502020204030204" pitchFamily="34" charset="-120"/>
              </a:rPr>
              <a:t>Snapshot at startup</a:t>
            </a:r>
            <a:endParaRPr lang="en-US" sz="850" dirty="0"/>
          </a:p>
        </p:txBody>
      </p:sp>
      <p:sp>
        <p:nvSpPr>
          <p:cNvPr id="15" name="Text 13"/>
          <p:cNvSpPr/>
          <p:nvPr/>
        </p:nvSpPr>
        <p:spPr>
          <a:xfrm>
            <a:off x="6903720" y="1581912"/>
            <a:ext cx="1965960" cy="237744"/>
          </a:xfrm>
          <a:prstGeom prst="rect">
            <a:avLst/>
          </a:prstGeom>
          <a:noFill/>
        </p:spPr>
        <p:txBody>
          <a:bodyPr wrap="square" lIns="0" tIns="0" rIns="0" bIns="0" rtlCol="0" anchor="t"/>
          <a:lstStyle/>
          <a:p>
            <a:pPr marL="0" indent="0" algn="l">
              <a:buNone/>
            </a:pPr>
            <a:r>
              <a:rPr lang="en-US" sz="800" dirty="0">
                <a:solidFill>
                  <a:srgbClr val="64748B"/>
                </a:solidFill>
                <a:latin typeface="Calibri" panose="020F0502020204030204" pitchFamily="34" charset="0"/>
                <a:ea typeface="Calibri" panose="020F0502020204030204" pitchFamily="34" charset="-122"/>
                <a:cs typeface="Calibri" panose="020F0502020204030204" pitchFamily="34" charset="-120"/>
              </a:rPr>
              <a:t>TMS default  restart picks up changes</a:t>
            </a:r>
            <a:endParaRPr lang="en-US" sz="800" dirty="0"/>
          </a:p>
        </p:txBody>
      </p:sp>
      <p:sp>
        <p:nvSpPr>
          <p:cNvPr id="16" name="Shape 14"/>
          <p:cNvSpPr/>
          <p:nvPr/>
        </p:nvSpPr>
        <p:spPr>
          <a:xfrm>
            <a:off x="5120640" y="1892808"/>
            <a:ext cx="3840480" cy="512064"/>
          </a:xfrm>
          <a:prstGeom prst="rect">
            <a:avLst/>
          </a:prstGeom>
          <a:solidFill>
            <a:srgbClr val="F8FAFC"/>
          </a:solidFill>
          <a:ln w="6350">
            <a:solidFill>
              <a:srgbClr val="E2E8F0"/>
            </a:solidFill>
            <a:prstDash val="solid"/>
          </a:ln>
        </p:spPr>
      </p:sp>
      <p:sp>
        <p:nvSpPr>
          <p:cNvPr id="17" name="Text 15"/>
          <p:cNvSpPr/>
          <p:nvPr/>
        </p:nvSpPr>
        <p:spPr>
          <a:xfrm>
            <a:off x="5230368" y="1965960"/>
            <a:ext cx="1691640" cy="365760"/>
          </a:xfrm>
          <a:prstGeom prst="rect">
            <a:avLst/>
          </a:prstGeom>
          <a:noFill/>
        </p:spPr>
        <p:txBody>
          <a:bodyPr wrap="square" lIns="0" tIns="0" rIns="0" bIns="0" rtlCol="0" anchor="ctr"/>
          <a:lstStyle/>
          <a:p>
            <a:pPr marL="0" indent="0" algn="l">
              <a:buNone/>
            </a:pPr>
            <a:r>
              <a:rPr lang="en-US" sz="900" b="1" dirty="0">
                <a:solidFill>
                  <a:srgbClr val="7C3AED"/>
                </a:solidFill>
                <a:latin typeface="Consolas" panose="020B0609020204030204" pitchFamily="34" charset="0"/>
                <a:ea typeface="Consolas" panose="020B0609020204030204" pitchFamily="34" charset="-122"/>
                <a:cs typeface="Consolas" panose="020B0609020204030204" pitchFamily="34" charset="-120"/>
              </a:rPr>
              <a:t>IOptionsSnapshot&lt;T&gt;</a:t>
            </a:r>
            <a:endParaRPr lang="en-US" sz="900" dirty="0"/>
          </a:p>
        </p:txBody>
      </p:sp>
      <p:sp>
        <p:nvSpPr>
          <p:cNvPr id="18" name="Text 16"/>
          <p:cNvSpPr/>
          <p:nvPr/>
        </p:nvSpPr>
        <p:spPr>
          <a:xfrm>
            <a:off x="6903720" y="1947672"/>
            <a:ext cx="1965960" cy="201168"/>
          </a:xfrm>
          <a:prstGeom prst="rect">
            <a:avLst/>
          </a:prstGeom>
          <a:noFill/>
        </p:spPr>
        <p:txBody>
          <a:bodyPr wrap="square" lIns="0" tIns="0" rIns="0" bIns="0" rtlCol="0" anchor="ctr"/>
          <a:lstStyle/>
          <a:p>
            <a:pPr marL="0" indent="0" algn="l">
              <a:buNone/>
            </a:pPr>
            <a:r>
              <a:rPr lang="en-US" sz="850" b="1" dirty="0">
                <a:solidFill>
                  <a:srgbClr val="1E293B"/>
                </a:solidFill>
                <a:latin typeface="Calibri" panose="020F0502020204030204" pitchFamily="34" charset="0"/>
                <a:ea typeface="Calibri" panose="020F0502020204030204" pitchFamily="34" charset="-122"/>
                <a:cs typeface="Calibri" panose="020F0502020204030204" pitchFamily="34" charset="-120"/>
              </a:rPr>
              <a:t>Per-request read</a:t>
            </a:r>
            <a:endParaRPr lang="en-US" sz="850" dirty="0"/>
          </a:p>
        </p:txBody>
      </p:sp>
      <p:sp>
        <p:nvSpPr>
          <p:cNvPr id="19" name="Text 17"/>
          <p:cNvSpPr/>
          <p:nvPr/>
        </p:nvSpPr>
        <p:spPr>
          <a:xfrm>
            <a:off x="6903720" y="2148840"/>
            <a:ext cx="1965960" cy="237744"/>
          </a:xfrm>
          <a:prstGeom prst="rect">
            <a:avLst/>
          </a:prstGeom>
          <a:noFill/>
        </p:spPr>
        <p:txBody>
          <a:bodyPr wrap="square" lIns="0" tIns="0" rIns="0" bIns="0" rtlCol="0" anchor="t"/>
          <a:lstStyle/>
          <a:p>
            <a:pPr marL="0" indent="0" algn="l">
              <a:buNone/>
            </a:pPr>
            <a:r>
              <a:rPr lang="en-US" sz="800" dirty="0">
                <a:solidFill>
                  <a:srgbClr val="64748B"/>
                </a:solidFill>
                <a:latin typeface="Calibri" panose="020F0502020204030204" pitchFamily="34" charset="0"/>
                <a:ea typeface="Calibri" panose="020F0502020204030204" pitchFamily="34" charset="-122"/>
                <a:cs typeface="Calibri" panose="020F0502020204030204" pitchFamily="34" charset="-120"/>
              </a:rPr>
              <a:t>When config can change without restart</a:t>
            </a:r>
            <a:endParaRPr lang="en-US" sz="800" dirty="0"/>
          </a:p>
        </p:txBody>
      </p:sp>
      <p:sp>
        <p:nvSpPr>
          <p:cNvPr id="20" name="Shape 18"/>
          <p:cNvSpPr/>
          <p:nvPr/>
        </p:nvSpPr>
        <p:spPr>
          <a:xfrm>
            <a:off x="5120640" y="2459736"/>
            <a:ext cx="3840480" cy="512064"/>
          </a:xfrm>
          <a:prstGeom prst="rect">
            <a:avLst/>
          </a:prstGeom>
          <a:solidFill>
            <a:srgbClr val="F8FAFC"/>
          </a:solidFill>
          <a:ln w="6350">
            <a:solidFill>
              <a:srgbClr val="E2E8F0"/>
            </a:solidFill>
            <a:prstDash val="solid"/>
          </a:ln>
        </p:spPr>
      </p:sp>
      <p:sp>
        <p:nvSpPr>
          <p:cNvPr id="21" name="Text 19"/>
          <p:cNvSpPr/>
          <p:nvPr/>
        </p:nvSpPr>
        <p:spPr>
          <a:xfrm>
            <a:off x="5230368" y="2532888"/>
            <a:ext cx="1691640" cy="365760"/>
          </a:xfrm>
          <a:prstGeom prst="rect">
            <a:avLst/>
          </a:prstGeom>
          <a:noFill/>
        </p:spPr>
        <p:txBody>
          <a:bodyPr wrap="square" lIns="0" tIns="0" rIns="0" bIns="0" rtlCol="0" anchor="ctr"/>
          <a:lstStyle/>
          <a:p>
            <a:pPr marL="0" indent="0" algn="l">
              <a:buNone/>
            </a:pPr>
            <a:r>
              <a:rPr lang="en-US" sz="900" b="1" dirty="0">
                <a:solidFill>
                  <a:srgbClr val="7C3AED"/>
                </a:solidFill>
                <a:latin typeface="Consolas" panose="020B0609020204030204" pitchFamily="34" charset="0"/>
                <a:ea typeface="Consolas" panose="020B0609020204030204" pitchFamily="34" charset="-122"/>
                <a:cs typeface="Consolas" panose="020B0609020204030204" pitchFamily="34" charset="-120"/>
              </a:rPr>
              <a:t>IOptionsMonitor&lt;T&gt;</a:t>
            </a:r>
            <a:endParaRPr lang="en-US" sz="900" dirty="0"/>
          </a:p>
        </p:txBody>
      </p:sp>
      <p:sp>
        <p:nvSpPr>
          <p:cNvPr id="22" name="Text 20"/>
          <p:cNvSpPr/>
          <p:nvPr/>
        </p:nvSpPr>
        <p:spPr>
          <a:xfrm>
            <a:off x="6903720" y="2514600"/>
            <a:ext cx="1965960" cy="201168"/>
          </a:xfrm>
          <a:prstGeom prst="rect">
            <a:avLst/>
          </a:prstGeom>
          <a:noFill/>
        </p:spPr>
        <p:txBody>
          <a:bodyPr wrap="square" lIns="0" tIns="0" rIns="0" bIns="0" rtlCol="0" anchor="ctr"/>
          <a:lstStyle/>
          <a:p>
            <a:pPr marL="0" indent="0" algn="l">
              <a:buNone/>
            </a:pPr>
            <a:r>
              <a:rPr lang="en-US" sz="850" b="1" dirty="0">
                <a:solidFill>
                  <a:srgbClr val="1E293B"/>
                </a:solidFill>
                <a:latin typeface="Calibri" panose="020F0502020204030204" pitchFamily="34" charset="0"/>
                <a:ea typeface="Calibri" panose="020F0502020204030204" pitchFamily="34" charset="-122"/>
                <a:cs typeface="Calibri" panose="020F0502020204030204" pitchFamily="34" charset="-120"/>
              </a:rPr>
              <a:t>Change notifications</a:t>
            </a:r>
            <a:endParaRPr lang="en-US" sz="850" dirty="0"/>
          </a:p>
        </p:txBody>
      </p:sp>
      <p:sp>
        <p:nvSpPr>
          <p:cNvPr id="23" name="Text 21"/>
          <p:cNvSpPr/>
          <p:nvPr/>
        </p:nvSpPr>
        <p:spPr>
          <a:xfrm>
            <a:off x="6903720" y="2715768"/>
            <a:ext cx="1965960" cy="237744"/>
          </a:xfrm>
          <a:prstGeom prst="rect">
            <a:avLst/>
          </a:prstGeom>
          <a:noFill/>
        </p:spPr>
        <p:txBody>
          <a:bodyPr wrap="square" lIns="0" tIns="0" rIns="0" bIns="0" rtlCol="0" anchor="t"/>
          <a:lstStyle/>
          <a:p>
            <a:pPr marL="0" indent="0" algn="l">
              <a:buNone/>
            </a:pPr>
            <a:r>
              <a:rPr lang="en-US" sz="800" dirty="0">
                <a:solidFill>
                  <a:srgbClr val="64748B"/>
                </a:solidFill>
                <a:latin typeface="Calibri" panose="020F0502020204030204" pitchFamily="34" charset="0"/>
                <a:ea typeface="Calibri" panose="020F0502020204030204" pitchFamily="34" charset="-122"/>
                <a:cs typeface="Calibri" panose="020F0502020204030204" pitchFamily="34" charset="-120"/>
              </a:rPr>
              <a:t>React when settings reload</a:t>
            </a:r>
            <a:endParaRPr lang="en-US" sz="800" dirty="0"/>
          </a:p>
        </p:txBody>
      </p:sp>
      <p:sp>
        <p:nvSpPr>
          <p:cNvPr id="24" name="Shape 22"/>
          <p:cNvSpPr/>
          <p:nvPr/>
        </p:nvSpPr>
        <p:spPr>
          <a:xfrm>
            <a:off x="182880" y="3154680"/>
            <a:ext cx="8778240" cy="960120"/>
          </a:xfrm>
          <a:prstGeom prst="rect">
            <a:avLst/>
          </a:prstGeom>
          <a:solidFill>
            <a:srgbClr val="EFF6FF"/>
          </a:solidFill>
          <a:ln w="12700">
            <a:solidFill>
              <a:srgbClr val="0EA5E9"/>
            </a:solidFill>
            <a:prstDash val="solid"/>
          </a:ln>
        </p:spPr>
      </p:sp>
      <p:sp>
        <p:nvSpPr>
          <p:cNvPr id="25" name="Shape 23"/>
          <p:cNvSpPr/>
          <p:nvPr/>
        </p:nvSpPr>
        <p:spPr>
          <a:xfrm>
            <a:off x="182880" y="3154680"/>
            <a:ext cx="54864" cy="960120"/>
          </a:xfrm>
          <a:prstGeom prst="rect">
            <a:avLst/>
          </a:prstGeom>
          <a:solidFill>
            <a:srgbClr val="0EA5E9"/>
          </a:solidFill>
          <a:ln w="12700">
            <a:solidFill>
              <a:srgbClr val="0EA5E9"/>
            </a:solidFill>
            <a:prstDash val="solid"/>
          </a:ln>
        </p:spPr>
      </p:sp>
      <p:sp>
        <p:nvSpPr>
          <p:cNvPr id="26" name="Text 24"/>
          <p:cNvSpPr/>
          <p:nvPr/>
        </p:nvSpPr>
        <p:spPr>
          <a:xfrm>
            <a:off x="365760" y="3246120"/>
            <a:ext cx="8503920" cy="274320"/>
          </a:xfrm>
          <a:prstGeom prst="rect">
            <a:avLst/>
          </a:prstGeom>
          <a:noFill/>
        </p:spPr>
        <p:txBody>
          <a:bodyPr wrap="square" lIns="0" tIns="0" rIns="0" bIns="0" rtlCol="0" anchor="ctr"/>
          <a:lstStyle/>
          <a:p>
            <a:pPr marL="0" indent="0" algn="l">
              <a:buNone/>
            </a:pPr>
            <a:r>
              <a:rPr lang="en-US" sz="1000" b="1" dirty="0">
                <a:solidFill>
                  <a:srgbClr val="0EA5E9"/>
                </a:solidFill>
                <a:latin typeface="Calibri" panose="020F0502020204030204" pitchFamily="34" charset="0"/>
                <a:ea typeface="Calibri" panose="020F0502020204030204" pitchFamily="34" charset="-122"/>
                <a:cs typeface="Calibri" panose="020F0502020204030204" pitchFamily="34" charset="-120"/>
              </a:rPr>
              <a:t>Structured log line in the same method</a:t>
            </a:r>
            <a:endParaRPr lang="en-US" sz="1000" dirty="0"/>
          </a:p>
        </p:txBody>
      </p:sp>
      <p:sp>
        <p:nvSpPr>
          <p:cNvPr id="27" name="Text 25"/>
          <p:cNvSpPr/>
          <p:nvPr/>
        </p:nvSpPr>
        <p:spPr>
          <a:xfrm>
            <a:off x="365760" y="3538728"/>
            <a:ext cx="8503920" cy="457200"/>
          </a:xfrm>
          <a:prstGeom prst="rect">
            <a:avLst/>
          </a:prstGeom>
          <a:noFill/>
        </p:spPr>
        <p:txBody>
          <a:bodyPr wrap="square" lIns="0" tIns="0" rIns="0" bIns="0" rtlCol="0" anchor="t"/>
          <a:lstStyle/>
          <a:p>
            <a:pPr marL="0" indent="0" algn="l">
              <a:buNone/>
            </a:pPr>
            <a:r>
              <a:rPr lang="en-US" sz="1000" dirty="0">
                <a:solidFill>
                  <a:srgbClr val="1E293B"/>
                </a:solidFill>
                <a:latin typeface="Calibri" panose="020F0502020204030204" pitchFamily="34" charset="0"/>
                <a:ea typeface="Calibri" panose="020F0502020204030204" pitchFamily="34" charset="-122"/>
                <a:cs typeface="Calibri" panose="020F0502020204030204" pitchFamily="34" charset="-120"/>
              </a:rPr>
              <a:t>logger.LogInformation("Processing enrollment for {StudentId} in {CourseCode}", studentId, courseCode);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F59E0B"/>
          </a:solidFill>
          <a:ln w="12700">
            <a:solidFill>
              <a:srgbClr val="F59E0B"/>
            </a:solidFill>
            <a:prstDash val="solid"/>
          </a:ln>
        </p:spPr>
      </p:sp>
      <p:sp>
        <p:nvSpPr>
          <p:cNvPr id="3" name="Shape 1"/>
          <p:cNvSpPr/>
          <p:nvPr/>
        </p:nvSpPr>
        <p:spPr>
          <a:xfrm>
            <a:off x="73152" y="0"/>
            <a:ext cx="9070848" cy="749808"/>
          </a:xfrm>
          <a:prstGeom prst="rect">
            <a:avLst/>
          </a:prstGeom>
          <a:solidFill>
            <a:srgbClr val="F8FAFC"/>
          </a:solidFill>
          <a:ln w="6350">
            <a:solidFill>
              <a:srgbClr val="E2E8F0"/>
            </a:solidFill>
            <a:prstDash val="solid"/>
          </a:ln>
        </p:spPr>
      </p:sp>
      <p:sp>
        <p:nvSpPr>
          <p:cNvPr id="4" name="Shape 2"/>
          <p:cNvSpPr/>
          <p:nvPr/>
        </p:nvSpPr>
        <p:spPr>
          <a:xfrm>
            <a:off x="73152" y="749808"/>
            <a:ext cx="9070848" cy="36576"/>
          </a:xfrm>
          <a:prstGeom prst="rect">
            <a:avLst/>
          </a:prstGeom>
          <a:solidFill>
            <a:srgbClr val="F59E0B"/>
          </a:solidFill>
          <a:ln w="12700">
            <a:solidFill>
              <a:srgbClr val="F59E0B"/>
            </a:solidFill>
            <a:prstDash val="solid"/>
          </a:ln>
        </p:spPr>
      </p:sp>
      <p:sp>
        <p:nvSpPr>
          <p:cNvPr id="5" name="Text 3"/>
          <p:cNvSpPr/>
          <p:nvPr/>
        </p:nvSpPr>
        <p:spPr>
          <a:xfrm>
            <a:off x="228600" y="91440"/>
            <a:ext cx="7132320" cy="566928"/>
          </a:xfrm>
          <a:prstGeom prst="rect">
            <a:avLst/>
          </a:prstGeom>
          <a:noFill/>
        </p:spPr>
        <p:txBody>
          <a:bodyPr wrap="square" lIns="0" tIns="0" rIns="0" bIns="0" rtlCol="0" anchor="ctr"/>
          <a:lstStyle/>
          <a:p>
            <a:pPr marL="0" indent="0" algn="l">
              <a:buNone/>
            </a:pPr>
            <a:r>
              <a:rPr lang="en-US" sz="2100" b="1" dirty="0">
                <a:solidFill>
                  <a:srgbClr val="1E293B"/>
                </a:solidFill>
                <a:latin typeface="Calibri" panose="020F0502020204030204" pitchFamily="34" charset="0"/>
                <a:ea typeface="Calibri" panose="020F0502020204030204" pitchFamily="34" charset="-122"/>
                <a:cs typeface="Calibri" panose="020F0502020204030204" pitchFamily="34" charset="-120"/>
              </a:rPr>
              <a:t>Structured Logging  Finding the Needle</a:t>
            </a:r>
            <a:endParaRPr lang="en-US" sz="2100" dirty="0"/>
          </a:p>
        </p:txBody>
      </p:sp>
      <p:sp>
        <p:nvSpPr>
          <p:cNvPr id="6" name="Shape 4"/>
          <p:cNvSpPr/>
          <p:nvPr/>
        </p:nvSpPr>
        <p:spPr>
          <a:xfrm>
            <a:off x="137160" y="786384"/>
            <a:ext cx="8869680" cy="0"/>
          </a:xfrm>
          <a:prstGeom prst="line">
            <a:avLst/>
          </a:prstGeom>
          <a:noFill/>
          <a:ln w="6350">
            <a:solidFill>
              <a:srgbClr val="E2E8F0"/>
            </a:solidFill>
            <a:prstDash val="solid"/>
          </a:ln>
        </p:spPr>
      </p:sp>
      <p:sp>
        <p:nvSpPr>
          <p:cNvPr id="7" name="Text 5"/>
          <p:cNvSpPr/>
          <p:nvPr/>
        </p:nvSpPr>
        <p:spPr>
          <a:xfrm>
            <a:off x="228600" y="841248"/>
            <a:ext cx="8686800" cy="347472"/>
          </a:xfrm>
          <a:prstGeom prst="rect">
            <a:avLst/>
          </a:prstGeom>
          <a:noFill/>
        </p:spPr>
        <p:txBody>
          <a:bodyPr wrap="square" lIns="0" tIns="0" rIns="0" bIns="0" rtlCol="0" anchor="ctr"/>
          <a:lstStyle/>
          <a:p>
            <a:pPr marL="0" indent="0" algn="l">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A million lines/day  enrollment 12345 failed. Plain text search returns noise (ports, timestamps, partial IDs).</a:t>
            </a:r>
            <a:endParaRPr lang="en-US" sz="1050" dirty="0"/>
          </a:p>
        </p:txBody>
      </p:sp>
      <p:sp>
        <p:nvSpPr>
          <p:cNvPr id="8" name="Shape 6"/>
          <p:cNvSpPr/>
          <p:nvPr/>
        </p:nvSpPr>
        <p:spPr>
          <a:xfrm>
            <a:off x="182880" y="1207008"/>
            <a:ext cx="4251960" cy="1234440"/>
          </a:xfrm>
          <a:prstGeom prst="rect">
            <a:avLst/>
          </a:prstGeom>
          <a:solidFill>
            <a:srgbClr val="1E293B"/>
          </a:solidFill>
          <a:ln w="6350">
            <a:solidFill>
              <a:srgbClr val="334155"/>
            </a:solidFill>
            <a:prstDash val="solid"/>
          </a:ln>
          <a:effectLst>
            <a:outerShdw blurRad="101600" dist="38100" dir="8100000" algn="bl" rotWithShape="0">
              <a:srgbClr val="000000">
                <a:alpha val="12000"/>
              </a:srgbClr>
            </a:outerShdw>
          </a:effectLst>
        </p:spPr>
      </p:sp>
      <p:sp>
        <p:nvSpPr>
          <p:cNvPr id="9" name="Shape 7"/>
          <p:cNvSpPr/>
          <p:nvPr/>
        </p:nvSpPr>
        <p:spPr>
          <a:xfrm>
            <a:off x="182880" y="1207008"/>
            <a:ext cx="4251960" cy="292608"/>
          </a:xfrm>
          <a:prstGeom prst="rect">
            <a:avLst/>
          </a:prstGeom>
          <a:solidFill>
            <a:srgbClr val="0F172A"/>
          </a:solidFill>
          <a:ln w="12700">
            <a:solidFill>
              <a:srgbClr val="334155"/>
            </a:solidFill>
            <a:prstDash val="solid"/>
          </a:ln>
        </p:spPr>
      </p:sp>
      <p:sp>
        <p:nvSpPr>
          <p:cNvPr id="10" name="Text 8"/>
          <p:cNvSpPr/>
          <p:nvPr/>
        </p:nvSpPr>
        <p:spPr>
          <a:xfrm>
            <a:off x="292608" y="1207008"/>
            <a:ext cx="4032504" cy="292608"/>
          </a:xfrm>
          <a:prstGeom prst="rect">
            <a:avLst/>
          </a:prstGeom>
          <a:noFill/>
        </p:spPr>
        <p:txBody>
          <a:bodyPr wrap="square" lIns="0" tIns="0" rIns="0" bIns="0" rtlCol="0" anchor="ctr"/>
          <a:lstStyle/>
          <a:p>
            <a:pPr marL="0" indent="0" algn="l">
              <a:buNone/>
            </a:pPr>
            <a:r>
              <a:rPr lang="en-US" sz="850" dirty="0">
                <a:solidFill>
                  <a:srgbClr val="94A3B8"/>
                </a:solidFill>
                <a:latin typeface="Calibri" panose="020F0502020204030204" pitchFamily="34" charset="0"/>
                <a:ea typeface="Calibri" panose="020F0502020204030204" pitchFamily="34" charset="-122"/>
                <a:cs typeface="Calibri" panose="020F0502020204030204" pitchFamily="34" charset="-120"/>
              </a:rPr>
              <a:t>Not indexed as fields</a:t>
            </a:r>
            <a:endParaRPr lang="en-US" sz="850" dirty="0"/>
          </a:p>
        </p:txBody>
      </p:sp>
      <p:sp>
        <p:nvSpPr>
          <p:cNvPr id="11" name="Text 9"/>
          <p:cNvSpPr/>
          <p:nvPr/>
        </p:nvSpPr>
        <p:spPr>
          <a:xfrm>
            <a:off x="320040" y="1554480"/>
            <a:ext cx="3977640" cy="777240"/>
          </a:xfrm>
          <a:prstGeom prst="rect">
            <a:avLst/>
          </a:prstGeom>
          <a:noFill/>
        </p:spPr>
        <p:txBody>
          <a:bodyPr wrap="square" lIns="0" tIns="0" rIns="0" bIns="0" rtlCol="0" anchor="t"/>
          <a:lstStyle/>
          <a:p>
            <a:pPr marL="0" indent="0" algn="l">
              <a:buNone/>
            </a:pPr>
            <a:r>
              <a:rPr lang="en-US" sz="850" dirty="0">
                <a:solidFill>
                  <a:srgbClr val="F87171"/>
                </a:solidFill>
                <a:latin typeface="Consolas" panose="020B0609020204030204" pitchFamily="34" charset="0"/>
                <a:ea typeface="Consolas" panose="020B0609020204030204" pitchFamily="34" charset="-122"/>
                <a:cs typeface="Consolas" panose="020B0609020204030204" pitchFamily="34" charset="-120"/>
              </a:rPr>
              <a:t>// BAD  concatenation / pre-formatted
</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logger.LogInformation(</a:t>
            </a:r>
            <a:r>
              <a:rPr lang="en-US" sz="850" dirty="0">
                <a:solidFill>
                  <a:srgbClr val="F59E0B"/>
                </a:solidFill>
                <a:latin typeface="Consolas" panose="020B0609020204030204" pitchFamily="34" charset="0"/>
                <a:ea typeface="Consolas" panose="020B0609020204030204" pitchFamily="34" charset="-122"/>
                <a:cs typeface="Consolas" panose="020B0609020204030204" pitchFamily="34" charset="-120"/>
              </a:rPr>
              <a:t>"User " + name + ..."</a:t>
            </a: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logger.LogInformation($"</a:t>
            </a:r>
            <a:r>
              <a:rPr lang="en-US" sz="850" dirty="0">
                <a:solidFill>
                  <a:srgbClr val="F87171"/>
                </a:solidFill>
                <a:latin typeface="Consolas" panose="020B0609020204030204" pitchFamily="34" charset="0"/>
                <a:ea typeface="Consolas" panose="020B0609020204030204" pitchFamily="34" charset="-122"/>
                <a:cs typeface="Consolas" panose="020B0609020204030204" pitchFamily="34" charset="-120"/>
              </a:rPr>
              <a:t>User {name} ..."</a:t>
            </a: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a:t>
            </a:r>
            <a:r>
              <a:rPr lang="en-US" sz="850" dirty="0">
                <a:solidFill>
                  <a:srgbClr val="94A3B8"/>
                </a:solidFill>
                <a:latin typeface="Consolas" panose="020B0609020204030204" pitchFamily="34" charset="0"/>
                <a:ea typeface="Consolas" panose="020B0609020204030204" pitchFamily="34" charset="-122"/>
                <a:cs typeface="Consolas" panose="020B0609020204030204" pitchFamily="34" charset="-120"/>
              </a:rPr>
              <a:t>// $ loses separate properties</a:t>
            </a:r>
            <a:endParaRPr lang="en-US" sz="850" dirty="0"/>
          </a:p>
        </p:txBody>
      </p:sp>
      <p:sp>
        <p:nvSpPr>
          <p:cNvPr id="12" name="Shape 10"/>
          <p:cNvSpPr/>
          <p:nvPr/>
        </p:nvSpPr>
        <p:spPr>
          <a:xfrm>
            <a:off x="4572000" y="1207008"/>
            <a:ext cx="4389120" cy="1097280"/>
          </a:xfrm>
          <a:prstGeom prst="rect">
            <a:avLst/>
          </a:prstGeom>
          <a:solidFill>
            <a:srgbClr val="1E293B"/>
          </a:solidFill>
          <a:ln w="6350">
            <a:solidFill>
              <a:srgbClr val="334155"/>
            </a:solidFill>
            <a:prstDash val="solid"/>
          </a:ln>
          <a:effectLst>
            <a:outerShdw blurRad="101600" dist="38100" dir="8100000" algn="bl" rotWithShape="0">
              <a:srgbClr val="000000">
                <a:alpha val="12000"/>
              </a:srgbClr>
            </a:outerShdw>
          </a:effectLst>
        </p:spPr>
      </p:sp>
      <p:sp>
        <p:nvSpPr>
          <p:cNvPr id="13" name="Shape 11"/>
          <p:cNvSpPr/>
          <p:nvPr/>
        </p:nvSpPr>
        <p:spPr>
          <a:xfrm>
            <a:off x="4572000" y="1207008"/>
            <a:ext cx="4389120" cy="292608"/>
          </a:xfrm>
          <a:prstGeom prst="rect">
            <a:avLst/>
          </a:prstGeom>
          <a:solidFill>
            <a:srgbClr val="0F172A"/>
          </a:solidFill>
          <a:ln w="12700">
            <a:solidFill>
              <a:srgbClr val="334155"/>
            </a:solidFill>
            <a:prstDash val="solid"/>
          </a:ln>
        </p:spPr>
      </p:sp>
      <p:sp>
        <p:nvSpPr>
          <p:cNvPr id="14" name="Text 12"/>
          <p:cNvSpPr/>
          <p:nvPr/>
        </p:nvSpPr>
        <p:spPr>
          <a:xfrm>
            <a:off x="4681728" y="1207008"/>
            <a:ext cx="4169664" cy="292608"/>
          </a:xfrm>
          <a:prstGeom prst="rect">
            <a:avLst/>
          </a:prstGeom>
          <a:noFill/>
        </p:spPr>
        <p:txBody>
          <a:bodyPr wrap="square" lIns="0" tIns="0" rIns="0" bIns="0" rtlCol="0" anchor="ctr"/>
          <a:lstStyle/>
          <a:p>
            <a:pPr marL="0" indent="0" algn="l">
              <a:buNone/>
            </a:pPr>
            <a:r>
              <a:rPr lang="en-US" sz="850" dirty="0">
                <a:solidFill>
                  <a:srgbClr val="94A3B8"/>
                </a:solidFill>
                <a:latin typeface="Calibri" panose="020F0502020204030204" pitchFamily="34" charset="0"/>
                <a:ea typeface="Calibri" panose="020F0502020204030204" pitchFamily="34" charset="-122"/>
                <a:cs typeface="Calibri" panose="020F0502020204030204" pitchFamily="34" charset="-120"/>
              </a:rPr>
              <a:t>Seq / App Insights / ES</a:t>
            </a:r>
            <a:endParaRPr lang="en-US" sz="850" dirty="0"/>
          </a:p>
        </p:txBody>
      </p:sp>
      <p:sp>
        <p:nvSpPr>
          <p:cNvPr id="15" name="Text 13"/>
          <p:cNvSpPr/>
          <p:nvPr/>
        </p:nvSpPr>
        <p:spPr>
          <a:xfrm>
            <a:off x="4709160" y="1554480"/>
            <a:ext cx="4114800" cy="640080"/>
          </a:xfrm>
          <a:prstGeom prst="rect">
            <a:avLst/>
          </a:prstGeom>
          <a:noFill/>
        </p:spPr>
        <p:txBody>
          <a:bodyPr wrap="square" lIns="0" tIns="0" rIns="0" bIns="0" rtlCol="0" anchor="t"/>
          <a:lstStyle/>
          <a:p>
            <a:pPr marL="0" indent="0" algn="l">
              <a:buNone/>
            </a:pPr>
            <a:r>
              <a:rPr lang="en-US" sz="850" dirty="0">
                <a:solidFill>
                  <a:srgbClr val="86EFAC"/>
                </a:solidFill>
                <a:latin typeface="Consolas" panose="020B0609020204030204" pitchFamily="34" charset="0"/>
                <a:ea typeface="Consolas" panose="020B0609020204030204" pitchFamily="34" charset="-122"/>
                <a:cs typeface="Consolas" panose="020B0609020204030204" pitchFamily="34" charset="-120"/>
              </a:rPr>
              <a:t>// GOOD  template + values
</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logger.LogInformation(</a:t>
            </a:r>
            <a:endParaRPr lang="en-US" sz="850" dirty="0"/>
          </a:p>
          <a:p>
            <a:pPr marL="0" indent="0" algn="l">
              <a:buNone/>
            </a:pPr>
            <a:r>
              <a:rPr lang="en-US" sz="850" dirty="0">
                <a:solidFill>
                  <a:srgbClr val="F59E0B"/>
                </a:solidFill>
                <a:latin typeface="Consolas" panose="020B0609020204030204" pitchFamily="34" charset="0"/>
                <a:ea typeface="Consolas" panose="020B0609020204030204" pitchFamily="34" charset="-122"/>
                <a:cs typeface="Consolas" panose="020B0609020204030204" pitchFamily="34" charset="-120"/>
              </a:rPr>
              <a:t>  "User {StudentName} enrolled in {CourseCode}",</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name, course);</a:t>
            </a:r>
            <a:endParaRPr lang="en-US" sz="850" dirty="0"/>
          </a:p>
        </p:txBody>
      </p:sp>
      <p:sp>
        <p:nvSpPr>
          <p:cNvPr id="16" name="Shape 14"/>
          <p:cNvSpPr/>
          <p:nvPr/>
        </p:nvSpPr>
        <p:spPr>
          <a:xfrm>
            <a:off x="182880" y="2606040"/>
            <a:ext cx="8778240" cy="1051560"/>
          </a:xfrm>
          <a:prstGeom prst="rect">
            <a:avLst/>
          </a:prstGeom>
          <a:solidFill>
            <a:srgbClr val="F0FDF4"/>
          </a:solidFill>
          <a:ln w="12700">
            <a:solidFill>
              <a:srgbClr val="10B981"/>
            </a:solidFill>
            <a:prstDash val="solid"/>
          </a:ln>
        </p:spPr>
      </p:sp>
      <p:sp>
        <p:nvSpPr>
          <p:cNvPr id="17" name="Text 15"/>
          <p:cNvSpPr/>
          <p:nvPr/>
        </p:nvSpPr>
        <p:spPr>
          <a:xfrm>
            <a:off x="320040" y="2670048"/>
            <a:ext cx="4114800" cy="256032"/>
          </a:xfrm>
          <a:prstGeom prst="rect">
            <a:avLst/>
          </a:prstGeom>
          <a:noFill/>
        </p:spPr>
        <p:txBody>
          <a:bodyPr wrap="square" lIns="0" tIns="0" rIns="0" bIns="0" rtlCol="0" anchor="ctr"/>
          <a:lstStyle/>
          <a:p>
            <a:pPr marL="0" indent="0" algn="l">
              <a:buNone/>
            </a:pPr>
            <a:r>
              <a:rPr lang="en-US" sz="1050" b="1" dirty="0">
                <a:solidFill>
                  <a:srgbClr val="065F46"/>
                </a:solidFill>
                <a:latin typeface="Calibri" panose="020F0502020204030204" pitchFamily="34" charset="0"/>
                <a:ea typeface="Calibri" panose="020F0502020204030204" pitchFamily="34" charset="-122"/>
                <a:cs typeface="Calibri" panose="020F0502020204030204" pitchFamily="34" charset="-120"/>
              </a:rPr>
              <a:t>Query example in an aggregator:</a:t>
            </a:r>
            <a:endParaRPr lang="en-US" sz="1050" dirty="0"/>
          </a:p>
        </p:txBody>
      </p:sp>
      <p:sp>
        <p:nvSpPr>
          <p:cNvPr id="18" name="Text 16"/>
          <p:cNvSpPr/>
          <p:nvPr/>
        </p:nvSpPr>
        <p:spPr>
          <a:xfrm>
            <a:off x="320040" y="2944368"/>
            <a:ext cx="8503920" cy="365760"/>
          </a:xfrm>
          <a:prstGeom prst="rect">
            <a:avLst/>
          </a:prstGeom>
          <a:noFill/>
        </p:spPr>
        <p:txBody>
          <a:bodyPr wrap="square" lIns="0" tIns="0" rIns="0" bIns="0" rtlCol="0" anchor="ctr"/>
          <a:lstStyle/>
          <a:p>
            <a:pPr marL="0" indent="0" algn="l">
              <a:buNone/>
            </a:pPr>
            <a:r>
              <a:rPr lang="en-US" sz="1100" dirty="0">
                <a:solidFill>
                  <a:srgbClr val="1E293B"/>
                </a:solidFill>
                <a:latin typeface="Consolas" panose="020B0609020204030204" pitchFamily="34" charset="0"/>
                <a:ea typeface="Consolas" panose="020B0609020204030204" pitchFamily="34" charset="-122"/>
                <a:cs typeface="Consolas" panose="020B0609020204030204" pitchFamily="34" charset="-120"/>
              </a:rPr>
              <a:t>StudentName = "Abeba" AND CourseCode = "CS101"</a:t>
            </a:r>
            <a:endParaRPr lang="en-US" sz="1100" dirty="0"/>
          </a:p>
        </p:txBody>
      </p:sp>
      <p:sp>
        <p:nvSpPr>
          <p:cNvPr id="19" name="Text 17"/>
          <p:cNvSpPr/>
          <p:nvPr/>
        </p:nvSpPr>
        <p:spPr>
          <a:xfrm>
            <a:off x="320040" y="3310128"/>
            <a:ext cx="8503920" cy="292608"/>
          </a:xfrm>
          <a:prstGeom prst="rect">
            <a:avLst/>
          </a:prstGeom>
          <a:noFill/>
        </p:spPr>
        <p:txBody>
          <a:bodyPr wrap="square" lIns="0" tIns="0" rIns="0" bIns="0" rtlCol="0" anchor="ctr"/>
          <a:lstStyle/>
          <a:p>
            <a:pPr marL="0" indent="0" algn="l">
              <a:buNone/>
            </a:pPr>
            <a:r>
              <a:rPr lang="en-US" sz="950" i="1" dirty="0">
                <a:solidFill>
                  <a:srgbClr val="64748B"/>
                </a:solidFill>
                <a:latin typeface="Calibri" panose="020F0502020204030204" pitchFamily="34" charset="0"/>
                <a:ea typeface="Calibri" panose="020F0502020204030204" pitchFamily="34" charset="-122"/>
                <a:cs typeface="Calibri" panose="020F0502020204030204" pitchFamily="34" charset="-120"/>
              </a:rPr>
              <a:t>Curly braces in the template are property names  not the same as string.Format positions only.</a:t>
            </a:r>
            <a:endParaRPr lang="en-US" sz="950" dirty="0"/>
          </a:p>
        </p:txBody>
      </p:sp>
      <p:sp>
        <p:nvSpPr>
          <p:cNvPr id="20" name="Shape 18"/>
          <p:cNvSpPr/>
          <p:nvPr/>
        </p:nvSpPr>
        <p:spPr>
          <a:xfrm>
            <a:off x="182880" y="3767328"/>
            <a:ext cx="8778240" cy="868680"/>
          </a:xfrm>
          <a:prstGeom prst="rect">
            <a:avLst/>
          </a:prstGeom>
          <a:solidFill>
            <a:srgbClr val="FFFBEB"/>
          </a:solidFill>
          <a:ln w="12700">
            <a:solidFill>
              <a:srgbClr val="F59E0B"/>
            </a:solidFill>
            <a:prstDash val="solid"/>
          </a:ln>
        </p:spPr>
      </p:sp>
      <p:sp>
        <p:nvSpPr>
          <p:cNvPr id="21" name="Shape 19"/>
          <p:cNvSpPr/>
          <p:nvPr/>
        </p:nvSpPr>
        <p:spPr>
          <a:xfrm>
            <a:off x="182880" y="3767328"/>
            <a:ext cx="54864" cy="868680"/>
          </a:xfrm>
          <a:prstGeom prst="rect">
            <a:avLst/>
          </a:prstGeom>
          <a:solidFill>
            <a:srgbClr val="F59E0B"/>
          </a:solidFill>
          <a:ln w="12700">
            <a:solidFill>
              <a:srgbClr val="F59E0B"/>
            </a:solidFill>
            <a:prstDash val="solid"/>
          </a:ln>
        </p:spPr>
      </p:sp>
      <p:sp>
        <p:nvSpPr>
          <p:cNvPr id="22" name="Text 20"/>
          <p:cNvSpPr/>
          <p:nvPr/>
        </p:nvSpPr>
        <p:spPr>
          <a:xfrm>
            <a:off x="365760" y="3858768"/>
            <a:ext cx="8503920" cy="274320"/>
          </a:xfrm>
          <a:prstGeom prst="rect">
            <a:avLst/>
          </a:prstGeom>
          <a:noFill/>
        </p:spPr>
        <p:txBody>
          <a:bodyPr wrap="square" lIns="0" tIns="0" rIns="0" bIns="0" rtlCol="0" anchor="ctr"/>
          <a:lstStyle/>
          <a:p>
            <a:pPr marL="0" indent="0" algn="l">
              <a:buNone/>
            </a:pPr>
            <a:r>
              <a:rPr lang="en-US" sz="1000" b="1" dirty="0">
                <a:solidFill>
                  <a:srgbClr val="F59E0B"/>
                </a:solidFill>
                <a:latin typeface="Calibri" panose="020F0502020204030204" pitchFamily="34" charset="0"/>
                <a:ea typeface="Calibri" panose="020F0502020204030204" pitchFamily="34" charset="-122"/>
                <a:cs typeface="Calibri" panose="020F0502020204030204" pitchFamily="34" charset="-120"/>
              </a:rPr>
              <a:t>Remember</a:t>
            </a:r>
            <a:endParaRPr lang="en-US" sz="1000" dirty="0"/>
          </a:p>
        </p:txBody>
      </p:sp>
      <p:sp>
        <p:nvSpPr>
          <p:cNvPr id="23" name="Text 21"/>
          <p:cNvSpPr/>
          <p:nvPr/>
        </p:nvSpPr>
        <p:spPr>
          <a:xfrm>
            <a:off x="365760" y="4151376"/>
            <a:ext cx="8503920" cy="365760"/>
          </a:xfrm>
          <a:prstGeom prst="rect">
            <a:avLst/>
          </a:prstGeom>
          <a:noFill/>
        </p:spPr>
        <p:txBody>
          <a:bodyPr wrap="square" lIns="0" tIns="0" rIns="0" bIns="0" rtlCol="0" anchor="t"/>
          <a:lstStyle/>
          <a:p>
            <a:pPr marL="0" indent="0" algn="l">
              <a:buNone/>
            </a:pPr>
            <a:r>
              <a:rPr lang="en-US" sz="1000" dirty="0">
                <a:solidFill>
                  <a:srgbClr val="1E293B"/>
                </a:solidFill>
                <a:latin typeface="Calibri" panose="020F0502020204030204" pitchFamily="34" charset="0"/>
                <a:ea typeface="Calibri" panose="020F0502020204030204" pitchFamily="34" charset="-122"/>
                <a:cs typeface="Calibri" panose="020F0502020204030204" pitchFamily="34" charset="-120"/>
              </a:rPr>
              <a:t>Braces name fields for indexes. $"..." collapses everything into one string  you lose structured search.</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0B981"/>
          </a:solidFill>
          <a:ln w="12700">
            <a:solidFill>
              <a:srgbClr val="10B981"/>
            </a:solidFill>
            <a:prstDash val="solid"/>
          </a:ln>
        </p:spPr>
      </p:sp>
      <p:sp>
        <p:nvSpPr>
          <p:cNvPr id="3" name="Shape 1"/>
          <p:cNvSpPr/>
          <p:nvPr/>
        </p:nvSpPr>
        <p:spPr>
          <a:xfrm>
            <a:off x="73152" y="0"/>
            <a:ext cx="9070848" cy="749808"/>
          </a:xfrm>
          <a:prstGeom prst="rect">
            <a:avLst/>
          </a:prstGeom>
          <a:solidFill>
            <a:srgbClr val="F8FAFC"/>
          </a:solidFill>
          <a:ln w="6350">
            <a:solidFill>
              <a:srgbClr val="E2E8F0"/>
            </a:solidFill>
            <a:prstDash val="solid"/>
          </a:ln>
        </p:spPr>
      </p:sp>
      <p:sp>
        <p:nvSpPr>
          <p:cNvPr id="4" name="Shape 2"/>
          <p:cNvSpPr/>
          <p:nvPr/>
        </p:nvSpPr>
        <p:spPr>
          <a:xfrm>
            <a:off x="73152" y="749808"/>
            <a:ext cx="9070848" cy="36576"/>
          </a:xfrm>
          <a:prstGeom prst="rect">
            <a:avLst/>
          </a:prstGeom>
          <a:solidFill>
            <a:srgbClr val="10B981"/>
          </a:solidFill>
          <a:ln w="12700">
            <a:solidFill>
              <a:srgbClr val="10B981"/>
            </a:solidFill>
            <a:prstDash val="solid"/>
          </a:ln>
        </p:spPr>
      </p:sp>
      <p:sp>
        <p:nvSpPr>
          <p:cNvPr id="5" name="Text 3"/>
          <p:cNvSpPr/>
          <p:nvPr/>
        </p:nvSpPr>
        <p:spPr>
          <a:xfrm>
            <a:off x="228600" y="91440"/>
            <a:ext cx="7132320" cy="566928"/>
          </a:xfrm>
          <a:prstGeom prst="rect">
            <a:avLst/>
          </a:prstGeom>
          <a:noFill/>
        </p:spPr>
        <p:txBody>
          <a:bodyPr wrap="square" lIns="0" tIns="0" rIns="0" bIns="0" rtlCol="0" anchor="ctr"/>
          <a:lstStyle/>
          <a:p>
            <a:pPr marL="0" indent="0" algn="l">
              <a:buNone/>
            </a:pPr>
            <a:r>
              <a:rPr lang="en-US" sz="2100" b="1" dirty="0">
                <a:solidFill>
                  <a:srgbClr val="1E293B"/>
                </a:solidFill>
                <a:latin typeface="Calibri" panose="020F0502020204030204" pitchFamily="34" charset="0"/>
                <a:ea typeface="Calibri" panose="020F0502020204030204" pitchFamily="34" charset="-122"/>
                <a:cs typeface="Calibri" panose="020F0502020204030204" pitchFamily="34" charset="-120"/>
              </a:rPr>
              <a:t>Log Levels  Signal vs Noise</a:t>
            </a:r>
            <a:endParaRPr lang="en-US" sz="2100" dirty="0"/>
          </a:p>
        </p:txBody>
      </p:sp>
      <p:sp>
        <p:nvSpPr>
          <p:cNvPr id="6" name="Shape 4"/>
          <p:cNvSpPr/>
          <p:nvPr/>
        </p:nvSpPr>
        <p:spPr>
          <a:xfrm>
            <a:off x="137160" y="786384"/>
            <a:ext cx="8869680" cy="0"/>
          </a:xfrm>
          <a:prstGeom prst="line">
            <a:avLst/>
          </a:prstGeom>
          <a:noFill/>
          <a:ln w="6350">
            <a:solidFill>
              <a:srgbClr val="E2E8F0"/>
            </a:solidFill>
            <a:prstDash val="solid"/>
          </a:ln>
        </p:spPr>
      </p:sp>
      <p:sp>
        <p:nvSpPr>
          <p:cNvPr id="7" name="Shape 5"/>
          <p:cNvSpPr/>
          <p:nvPr/>
        </p:nvSpPr>
        <p:spPr>
          <a:xfrm>
            <a:off x="182880" y="896112"/>
            <a:ext cx="1965960" cy="420624"/>
          </a:xfrm>
          <a:prstGeom prst="rect">
            <a:avLst/>
          </a:prstGeom>
          <a:solidFill>
            <a:srgbClr val="EF4444"/>
          </a:solidFill>
          <a:ln w="12700">
            <a:solidFill>
              <a:srgbClr val="333333"/>
            </a:solidFill>
            <a:prstDash val="solid"/>
          </a:ln>
        </p:spPr>
      </p:sp>
      <p:sp>
        <p:nvSpPr>
          <p:cNvPr id="8" name="Text 6"/>
          <p:cNvSpPr/>
          <p:nvPr/>
        </p:nvSpPr>
        <p:spPr>
          <a:xfrm>
            <a:off x="182880" y="896112"/>
            <a:ext cx="1965960" cy="420624"/>
          </a:xfrm>
          <a:prstGeom prst="rect">
            <a:avLst/>
          </a:prstGeom>
          <a:noFill/>
        </p:spPr>
        <p:txBody>
          <a:bodyPr wrap="square" lIns="0" tIns="0" rIns="0" bIns="0"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Critical</a:t>
            </a:r>
            <a:endParaRPr lang="en-US" sz="950" dirty="0"/>
          </a:p>
        </p:txBody>
      </p:sp>
      <p:sp>
        <p:nvSpPr>
          <p:cNvPr id="9" name="Text 7"/>
          <p:cNvSpPr/>
          <p:nvPr/>
        </p:nvSpPr>
        <p:spPr>
          <a:xfrm>
            <a:off x="2240280" y="950976"/>
            <a:ext cx="2148840" cy="310896"/>
          </a:xfrm>
          <a:prstGeom prst="rect">
            <a:avLst/>
          </a:prstGeom>
          <a:noFill/>
        </p:spPr>
        <p:txBody>
          <a:bodyPr wrap="square" lIns="0" tIns="0" rIns="0" bIns="0" rtlCol="0" anchor="ctr"/>
          <a:lstStyle/>
          <a:p>
            <a:pPr marL="0" indent="0" algn="l">
              <a:buNone/>
            </a:pPr>
            <a:r>
              <a:rPr lang="en-US" sz="950" b="1" dirty="0">
                <a:solidFill>
                  <a:srgbClr val="1E293B"/>
                </a:solidFill>
                <a:latin typeface="Calibri" panose="020F0502020204030204" pitchFamily="34" charset="0"/>
                <a:ea typeface="Calibri" panose="020F0502020204030204" pitchFamily="34" charset="-122"/>
                <a:cs typeface="Calibri" panose="020F0502020204030204" pitchFamily="34" charset="-120"/>
              </a:rPr>
              <a:t>App must stop</a:t>
            </a:r>
            <a:endParaRPr lang="en-US" sz="950" dirty="0"/>
          </a:p>
        </p:txBody>
      </p:sp>
      <p:sp>
        <p:nvSpPr>
          <p:cNvPr id="10" name="Text 8"/>
          <p:cNvSpPr/>
          <p:nvPr/>
        </p:nvSpPr>
        <p:spPr>
          <a:xfrm>
            <a:off x="4434840" y="950976"/>
            <a:ext cx="4526280" cy="310896"/>
          </a:xfrm>
          <a:prstGeom prst="rect">
            <a:avLst/>
          </a:prstGeom>
          <a:noFill/>
        </p:spPr>
        <p:txBody>
          <a:bodyPr wrap="square" lIns="0" tIns="0" rIns="0" bIns="0" rtlCol="0" anchor="ctr"/>
          <a:lstStyle/>
          <a:p>
            <a:pPr marL="0" indent="0" algn="l">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TMS: DB permanently unavailable</a:t>
            </a:r>
            <a:endParaRPr lang="en-US" sz="900" dirty="0"/>
          </a:p>
        </p:txBody>
      </p:sp>
      <p:sp>
        <p:nvSpPr>
          <p:cNvPr id="11" name="Shape 9"/>
          <p:cNvSpPr/>
          <p:nvPr/>
        </p:nvSpPr>
        <p:spPr>
          <a:xfrm>
            <a:off x="182880" y="1371600"/>
            <a:ext cx="1965960" cy="420624"/>
          </a:xfrm>
          <a:prstGeom prst="rect">
            <a:avLst/>
          </a:prstGeom>
          <a:solidFill>
            <a:srgbClr val="EF4444"/>
          </a:solidFill>
          <a:ln w="12700">
            <a:solidFill>
              <a:srgbClr val="333333"/>
            </a:solidFill>
            <a:prstDash val="solid"/>
          </a:ln>
        </p:spPr>
      </p:sp>
      <p:sp>
        <p:nvSpPr>
          <p:cNvPr id="12" name="Text 10"/>
          <p:cNvSpPr/>
          <p:nvPr/>
        </p:nvSpPr>
        <p:spPr>
          <a:xfrm>
            <a:off x="182880" y="1371600"/>
            <a:ext cx="1965960" cy="420624"/>
          </a:xfrm>
          <a:prstGeom prst="rect">
            <a:avLst/>
          </a:prstGeom>
          <a:noFill/>
        </p:spPr>
        <p:txBody>
          <a:bodyPr wrap="square" lIns="0" tIns="0" rIns="0" bIns="0"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Error</a:t>
            </a:r>
            <a:endParaRPr lang="en-US" sz="950" dirty="0"/>
          </a:p>
        </p:txBody>
      </p:sp>
      <p:sp>
        <p:nvSpPr>
          <p:cNvPr id="13" name="Text 11"/>
          <p:cNvSpPr/>
          <p:nvPr/>
        </p:nvSpPr>
        <p:spPr>
          <a:xfrm>
            <a:off x="2240280" y="1426464"/>
            <a:ext cx="2148840" cy="310896"/>
          </a:xfrm>
          <a:prstGeom prst="rect">
            <a:avLst/>
          </a:prstGeom>
          <a:noFill/>
        </p:spPr>
        <p:txBody>
          <a:bodyPr wrap="square" lIns="0" tIns="0" rIns="0" bIns="0" rtlCol="0" anchor="ctr"/>
          <a:lstStyle/>
          <a:p>
            <a:pPr marL="0" indent="0" algn="l">
              <a:buNone/>
            </a:pPr>
            <a:r>
              <a:rPr lang="en-US" sz="950" b="1" dirty="0">
                <a:solidFill>
                  <a:srgbClr val="1E293B"/>
                </a:solidFill>
                <a:latin typeface="Calibri" panose="020F0502020204030204" pitchFamily="34" charset="0"/>
                <a:ea typeface="Calibri" panose="020F0502020204030204" pitchFamily="34" charset="-122"/>
                <a:cs typeface="Calibri" panose="020F0502020204030204" pitchFamily="34" charset="-120"/>
              </a:rPr>
              <a:t>Operation failed</a:t>
            </a:r>
            <a:endParaRPr lang="en-US" sz="950" dirty="0"/>
          </a:p>
        </p:txBody>
      </p:sp>
      <p:sp>
        <p:nvSpPr>
          <p:cNvPr id="14" name="Text 12"/>
          <p:cNvSpPr/>
          <p:nvPr/>
        </p:nvSpPr>
        <p:spPr>
          <a:xfrm>
            <a:off x="4434840" y="1426464"/>
            <a:ext cx="4526280" cy="310896"/>
          </a:xfrm>
          <a:prstGeom prst="rect">
            <a:avLst/>
          </a:prstGeom>
          <a:noFill/>
        </p:spPr>
        <p:txBody>
          <a:bodyPr wrap="square" lIns="0" tIns="0" rIns="0" bIns="0" rtlCol="0" anchor="ctr"/>
          <a:lstStyle/>
          <a:p>
            <a:pPr marL="0" indent="0" algn="l">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TMS: Enrollment rejected</a:t>
            </a:r>
            <a:endParaRPr lang="en-US" sz="900" dirty="0"/>
          </a:p>
        </p:txBody>
      </p:sp>
      <p:sp>
        <p:nvSpPr>
          <p:cNvPr id="15" name="Shape 13"/>
          <p:cNvSpPr/>
          <p:nvPr/>
        </p:nvSpPr>
        <p:spPr>
          <a:xfrm>
            <a:off x="182880" y="1847088"/>
            <a:ext cx="1965960" cy="420624"/>
          </a:xfrm>
          <a:prstGeom prst="rect">
            <a:avLst/>
          </a:prstGeom>
          <a:solidFill>
            <a:srgbClr val="F59E0B"/>
          </a:solidFill>
          <a:ln w="12700">
            <a:solidFill>
              <a:srgbClr val="333333"/>
            </a:solidFill>
            <a:prstDash val="solid"/>
          </a:ln>
        </p:spPr>
      </p:sp>
      <p:sp>
        <p:nvSpPr>
          <p:cNvPr id="16" name="Text 14"/>
          <p:cNvSpPr/>
          <p:nvPr/>
        </p:nvSpPr>
        <p:spPr>
          <a:xfrm>
            <a:off x="182880" y="1847088"/>
            <a:ext cx="1965960" cy="420624"/>
          </a:xfrm>
          <a:prstGeom prst="rect">
            <a:avLst/>
          </a:prstGeom>
          <a:noFill/>
        </p:spPr>
        <p:txBody>
          <a:bodyPr wrap="square" lIns="0" tIns="0" rIns="0" bIns="0"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Warning</a:t>
            </a:r>
            <a:endParaRPr lang="en-US" sz="950" dirty="0"/>
          </a:p>
        </p:txBody>
      </p:sp>
      <p:sp>
        <p:nvSpPr>
          <p:cNvPr id="17" name="Text 15"/>
          <p:cNvSpPr/>
          <p:nvPr/>
        </p:nvSpPr>
        <p:spPr>
          <a:xfrm>
            <a:off x="2240280" y="1901952"/>
            <a:ext cx="2148840" cy="310896"/>
          </a:xfrm>
          <a:prstGeom prst="rect">
            <a:avLst/>
          </a:prstGeom>
          <a:noFill/>
        </p:spPr>
        <p:txBody>
          <a:bodyPr wrap="square" lIns="0" tIns="0" rIns="0" bIns="0" rtlCol="0" anchor="ctr"/>
          <a:lstStyle/>
          <a:p>
            <a:pPr marL="0" indent="0" algn="l">
              <a:buNone/>
            </a:pPr>
            <a:r>
              <a:rPr lang="en-US" sz="950" b="1" dirty="0">
                <a:solidFill>
                  <a:srgbClr val="1E293B"/>
                </a:solidFill>
                <a:latin typeface="Calibri" panose="020F0502020204030204" pitchFamily="34" charset="0"/>
                <a:ea typeface="Calibri" panose="020F0502020204030204" pitchFamily="34" charset="-122"/>
                <a:cs typeface="Calibri" panose="020F0502020204030204" pitchFamily="34" charset="-120"/>
              </a:rPr>
              <a:t>Suspicious, recovering</a:t>
            </a:r>
            <a:endParaRPr lang="en-US" sz="950" dirty="0"/>
          </a:p>
        </p:txBody>
      </p:sp>
      <p:sp>
        <p:nvSpPr>
          <p:cNvPr id="18" name="Text 16"/>
          <p:cNvSpPr/>
          <p:nvPr/>
        </p:nvSpPr>
        <p:spPr>
          <a:xfrm>
            <a:off x="4434840" y="1901952"/>
            <a:ext cx="4526280" cy="310896"/>
          </a:xfrm>
          <a:prstGeom prst="rect">
            <a:avLst/>
          </a:prstGeom>
          <a:noFill/>
        </p:spPr>
        <p:txBody>
          <a:bodyPr wrap="square" lIns="0" tIns="0" rIns="0" bIns="0" rtlCol="0" anchor="ctr"/>
          <a:lstStyle/>
          <a:p>
            <a:pPr marL="0" indent="0" algn="l">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TMS: Retry 2 of 3 on outbound call</a:t>
            </a:r>
            <a:endParaRPr lang="en-US" sz="900" dirty="0"/>
          </a:p>
        </p:txBody>
      </p:sp>
      <p:sp>
        <p:nvSpPr>
          <p:cNvPr id="19" name="Shape 17"/>
          <p:cNvSpPr/>
          <p:nvPr/>
        </p:nvSpPr>
        <p:spPr>
          <a:xfrm>
            <a:off x="182880" y="2322576"/>
            <a:ext cx="1965960" cy="420624"/>
          </a:xfrm>
          <a:prstGeom prst="rect">
            <a:avLst/>
          </a:prstGeom>
          <a:solidFill>
            <a:srgbClr val="0D9488"/>
          </a:solidFill>
          <a:ln w="12700">
            <a:solidFill>
              <a:srgbClr val="333333"/>
            </a:solidFill>
            <a:prstDash val="solid"/>
          </a:ln>
        </p:spPr>
      </p:sp>
      <p:sp>
        <p:nvSpPr>
          <p:cNvPr id="20" name="Text 18"/>
          <p:cNvSpPr/>
          <p:nvPr/>
        </p:nvSpPr>
        <p:spPr>
          <a:xfrm>
            <a:off x="182880" y="2322576"/>
            <a:ext cx="1965960" cy="420624"/>
          </a:xfrm>
          <a:prstGeom prst="rect">
            <a:avLst/>
          </a:prstGeom>
          <a:noFill/>
        </p:spPr>
        <p:txBody>
          <a:bodyPr wrap="square" lIns="0" tIns="0" rIns="0" bIns="0"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Information</a:t>
            </a:r>
            <a:endParaRPr lang="en-US" sz="950" dirty="0"/>
          </a:p>
        </p:txBody>
      </p:sp>
      <p:sp>
        <p:nvSpPr>
          <p:cNvPr id="21" name="Text 19"/>
          <p:cNvSpPr/>
          <p:nvPr/>
        </p:nvSpPr>
        <p:spPr>
          <a:xfrm>
            <a:off x="2240280" y="2377440"/>
            <a:ext cx="2148840" cy="310896"/>
          </a:xfrm>
          <a:prstGeom prst="rect">
            <a:avLst/>
          </a:prstGeom>
          <a:noFill/>
        </p:spPr>
        <p:txBody>
          <a:bodyPr wrap="square" lIns="0" tIns="0" rIns="0" bIns="0" rtlCol="0" anchor="ctr"/>
          <a:lstStyle/>
          <a:p>
            <a:pPr marL="0" indent="0" algn="l">
              <a:buNone/>
            </a:pPr>
            <a:r>
              <a:rPr lang="en-US" sz="950" b="1" dirty="0">
                <a:solidFill>
                  <a:srgbClr val="1E293B"/>
                </a:solidFill>
                <a:latin typeface="Calibri" panose="020F0502020204030204" pitchFamily="34" charset="0"/>
                <a:ea typeface="Calibri" panose="020F0502020204030204" pitchFamily="34" charset="-122"/>
                <a:cs typeface="Calibri" panose="020F0502020204030204" pitchFamily="34" charset="-120"/>
              </a:rPr>
              <a:t>Notable business event</a:t>
            </a:r>
            <a:endParaRPr lang="en-US" sz="950" dirty="0"/>
          </a:p>
        </p:txBody>
      </p:sp>
      <p:sp>
        <p:nvSpPr>
          <p:cNvPr id="22" name="Text 20"/>
          <p:cNvSpPr/>
          <p:nvPr/>
        </p:nvSpPr>
        <p:spPr>
          <a:xfrm>
            <a:off x="4434840" y="2377440"/>
            <a:ext cx="4526280" cy="310896"/>
          </a:xfrm>
          <a:prstGeom prst="rect">
            <a:avLst/>
          </a:prstGeom>
          <a:noFill/>
        </p:spPr>
        <p:txBody>
          <a:bodyPr wrap="square" lIns="0" tIns="0" rIns="0" bIns="0" rtlCol="0" anchor="ctr"/>
          <a:lstStyle/>
          <a:p>
            <a:pPr marL="0" indent="0" algn="l">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TMS: Enrollment processed</a:t>
            </a:r>
            <a:endParaRPr lang="en-US" sz="900" dirty="0"/>
          </a:p>
        </p:txBody>
      </p:sp>
      <p:sp>
        <p:nvSpPr>
          <p:cNvPr id="23" name="Shape 21"/>
          <p:cNvSpPr/>
          <p:nvPr/>
        </p:nvSpPr>
        <p:spPr>
          <a:xfrm>
            <a:off x="182880" y="2798064"/>
            <a:ext cx="1965960" cy="420624"/>
          </a:xfrm>
          <a:prstGeom prst="rect">
            <a:avLst/>
          </a:prstGeom>
          <a:solidFill>
            <a:srgbClr val="0EA5E9"/>
          </a:solidFill>
          <a:ln w="12700">
            <a:solidFill>
              <a:srgbClr val="333333"/>
            </a:solidFill>
            <a:prstDash val="solid"/>
          </a:ln>
        </p:spPr>
      </p:sp>
      <p:sp>
        <p:nvSpPr>
          <p:cNvPr id="24" name="Text 22"/>
          <p:cNvSpPr/>
          <p:nvPr/>
        </p:nvSpPr>
        <p:spPr>
          <a:xfrm>
            <a:off x="182880" y="2798064"/>
            <a:ext cx="1965960" cy="420624"/>
          </a:xfrm>
          <a:prstGeom prst="rect">
            <a:avLst/>
          </a:prstGeom>
          <a:noFill/>
        </p:spPr>
        <p:txBody>
          <a:bodyPr wrap="square" lIns="0" tIns="0" rIns="0" bIns="0"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Debug</a:t>
            </a:r>
            <a:endParaRPr lang="en-US" sz="950" dirty="0"/>
          </a:p>
        </p:txBody>
      </p:sp>
      <p:sp>
        <p:nvSpPr>
          <p:cNvPr id="25" name="Text 23"/>
          <p:cNvSpPr/>
          <p:nvPr/>
        </p:nvSpPr>
        <p:spPr>
          <a:xfrm>
            <a:off x="2240280" y="2852928"/>
            <a:ext cx="2148840" cy="310896"/>
          </a:xfrm>
          <a:prstGeom prst="rect">
            <a:avLst/>
          </a:prstGeom>
          <a:noFill/>
        </p:spPr>
        <p:txBody>
          <a:bodyPr wrap="square" lIns="0" tIns="0" rIns="0" bIns="0" rtlCol="0" anchor="ctr"/>
          <a:lstStyle/>
          <a:p>
            <a:pPr marL="0" indent="0" algn="l">
              <a:buNone/>
            </a:pPr>
            <a:r>
              <a:rPr lang="en-US" sz="950" b="1" dirty="0">
                <a:solidFill>
                  <a:srgbClr val="1E293B"/>
                </a:solidFill>
                <a:latin typeface="Calibri" panose="020F0502020204030204" pitchFamily="34" charset="0"/>
                <a:ea typeface="Calibri" panose="020F0502020204030204" pitchFamily="34" charset="-122"/>
                <a:cs typeface="Calibri" panose="020F0502020204030204" pitchFamily="34" charset="-120"/>
              </a:rPr>
              <a:t>Developer flow detail</a:t>
            </a:r>
            <a:endParaRPr lang="en-US" sz="950" dirty="0"/>
          </a:p>
        </p:txBody>
      </p:sp>
      <p:sp>
        <p:nvSpPr>
          <p:cNvPr id="26" name="Text 24"/>
          <p:cNvSpPr/>
          <p:nvPr/>
        </p:nvSpPr>
        <p:spPr>
          <a:xfrm>
            <a:off x="4434840" y="2852928"/>
            <a:ext cx="4526280" cy="310896"/>
          </a:xfrm>
          <a:prstGeom prst="rect">
            <a:avLst/>
          </a:prstGeom>
          <a:noFill/>
        </p:spPr>
        <p:txBody>
          <a:bodyPr wrap="square" lIns="0" tIns="0" rIns="0" bIns="0" rtlCol="0" anchor="ctr"/>
          <a:lstStyle/>
          <a:p>
            <a:pPr marL="0" indent="0" algn="l">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TMS: EF SQL text, cache miss</a:t>
            </a:r>
            <a:endParaRPr lang="en-US" sz="900" dirty="0"/>
          </a:p>
        </p:txBody>
      </p:sp>
      <p:sp>
        <p:nvSpPr>
          <p:cNvPr id="27" name="Shape 25"/>
          <p:cNvSpPr/>
          <p:nvPr/>
        </p:nvSpPr>
        <p:spPr>
          <a:xfrm>
            <a:off x="182880" y="3273552"/>
            <a:ext cx="1965960" cy="420624"/>
          </a:xfrm>
          <a:prstGeom prst="rect">
            <a:avLst/>
          </a:prstGeom>
          <a:solidFill>
            <a:srgbClr val="7C3AED"/>
          </a:solidFill>
          <a:ln w="12700">
            <a:solidFill>
              <a:srgbClr val="333333"/>
            </a:solidFill>
            <a:prstDash val="solid"/>
          </a:ln>
        </p:spPr>
      </p:sp>
      <p:sp>
        <p:nvSpPr>
          <p:cNvPr id="28" name="Text 26"/>
          <p:cNvSpPr/>
          <p:nvPr/>
        </p:nvSpPr>
        <p:spPr>
          <a:xfrm>
            <a:off x="182880" y="3273552"/>
            <a:ext cx="1965960" cy="420624"/>
          </a:xfrm>
          <a:prstGeom prst="rect">
            <a:avLst/>
          </a:prstGeom>
          <a:noFill/>
        </p:spPr>
        <p:txBody>
          <a:bodyPr wrap="square" lIns="0" tIns="0" rIns="0" bIns="0" rtlCol="0" anchor="ctr"/>
          <a:lstStyle/>
          <a:p>
            <a:pPr marL="0" indent="0" algn="ctr">
              <a:buNone/>
            </a:pPr>
            <a:r>
              <a:rPr lang="en-US" sz="950" b="1" dirty="0">
                <a:solidFill>
                  <a:srgbClr val="FFFFFF"/>
                </a:solidFill>
                <a:latin typeface="Calibri" panose="020F0502020204030204" pitchFamily="34" charset="0"/>
                <a:ea typeface="Calibri" panose="020F0502020204030204" pitchFamily="34" charset="-122"/>
                <a:cs typeface="Calibri" panose="020F0502020204030204" pitchFamily="34" charset="-120"/>
              </a:rPr>
              <a:t>Trace</a:t>
            </a:r>
            <a:endParaRPr lang="en-US" sz="950" dirty="0"/>
          </a:p>
        </p:txBody>
      </p:sp>
      <p:sp>
        <p:nvSpPr>
          <p:cNvPr id="29" name="Text 27"/>
          <p:cNvSpPr/>
          <p:nvPr/>
        </p:nvSpPr>
        <p:spPr>
          <a:xfrm>
            <a:off x="2240280" y="3328416"/>
            <a:ext cx="2148840" cy="310896"/>
          </a:xfrm>
          <a:prstGeom prst="rect">
            <a:avLst/>
          </a:prstGeom>
          <a:noFill/>
        </p:spPr>
        <p:txBody>
          <a:bodyPr wrap="square" lIns="0" tIns="0" rIns="0" bIns="0" rtlCol="0" anchor="ctr"/>
          <a:lstStyle/>
          <a:p>
            <a:pPr marL="0" indent="0" algn="l">
              <a:buNone/>
            </a:pPr>
            <a:r>
              <a:rPr lang="en-US" sz="950" b="1" dirty="0">
                <a:solidFill>
                  <a:srgbClr val="1E293B"/>
                </a:solidFill>
                <a:latin typeface="Calibri" panose="020F0502020204030204" pitchFamily="34" charset="0"/>
                <a:ea typeface="Calibri" panose="020F0502020204030204" pitchFamily="34" charset="-122"/>
                <a:cs typeface="Calibri" panose="020F0502020204030204" pitchFamily="34" charset="-120"/>
              </a:rPr>
              <a:t>Per-line verbosity</a:t>
            </a:r>
            <a:endParaRPr lang="en-US" sz="950" dirty="0"/>
          </a:p>
        </p:txBody>
      </p:sp>
      <p:sp>
        <p:nvSpPr>
          <p:cNvPr id="30" name="Text 28"/>
          <p:cNvSpPr/>
          <p:nvPr/>
        </p:nvSpPr>
        <p:spPr>
          <a:xfrm>
            <a:off x="4434840" y="3328416"/>
            <a:ext cx="4526280" cy="310896"/>
          </a:xfrm>
          <a:prstGeom prst="rect">
            <a:avLst/>
          </a:prstGeom>
          <a:noFill/>
        </p:spPr>
        <p:txBody>
          <a:bodyPr wrap="square" lIns="0" tIns="0" rIns="0" bIns="0" rtlCol="0" anchor="ctr"/>
          <a:lstStyle/>
          <a:p>
            <a:pPr marL="0" indent="0" algn="l">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TMS: Method entry/exit</a:t>
            </a:r>
            <a:endParaRPr lang="en-US" sz="900" dirty="0"/>
          </a:p>
        </p:txBody>
      </p:sp>
      <p:sp>
        <p:nvSpPr>
          <p:cNvPr id="31" name="Shape 29"/>
          <p:cNvSpPr/>
          <p:nvPr/>
        </p:nvSpPr>
        <p:spPr>
          <a:xfrm>
            <a:off x="182880" y="3822192"/>
            <a:ext cx="8778240" cy="1051560"/>
          </a:xfrm>
          <a:prstGeom prst="rect">
            <a:avLst/>
          </a:prstGeom>
          <a:solidFill>
            <a:srgbClr val="0F1A2E"/>
          </a:solidFill>
          <a:ln w="12700">
            <a:solidFill>
              <a:srgbClr val="10B981"/>
            </a:solidFill>
            <a:prstDash val="solid"/>
          </a:ln>
        </p:spPr>
      </p:sp>
      <p:sp>
        <p:nvSpPr>
          <p:cNvPr id="32" name="Text 30"/>
          <p:cNvSpPr/>
          <p:nvPr/>
        </p:nvSpPr>
        <p:spPr>
          <a:xfrm>
            <a:off x="320040" y="3858768"/>
            <a:ext cx="8503920" cy="256032"/>
          </a:xfrm>
          <a:prstGeom prst="rect">
            <a:avLst/>
          </a:prstGeom>
          <a:noFill/>
        </p:spPr>
        <p:txBody>
          <a:bodyPr wrap="square" lIns="0" tIns="0" rIns="0" bIns="0" rtlCol="0" anchor="ctr"/>
          <a:lstStyle/>
          <a:p>
            <a:pPr marL="0" indent="0" algn="l">
              <a:buNone/>
            </a:pPr>
            <a:r>
              <a:rPr lang="en-US" sz="950" b="1" dirty="0">
                <a:solidFill>
                  <a:srgbClr val="0EA5E9"/>
                </a:solidFill>
                <a:latin typeface="Calibri" panose="020F0502020204030204" pitchFamily="34" charset="0"/>
                <a:ea typeface="Calibri" panose="020F0502020204030204" pitchFamily="34" charset="-122"/>
                <a:cs typeface="Calibri" panose="020F0502020204030204" pitchFamily="34" charset="-120"/>
              </a:rPr>
              <a:t>Production-style minimums (raise per-namespace temporarily when debugging):</a:t>
            </a:r>
            <a:endParaRPr lang="en-US" sz="950" dirty="0"/>
          </a:p>
        </p:txBody>
      </p:sp>
      <p:sp>
        <p:nvSpPr>
          <p:cNvPr id="33" name="Text 31"/>
          <p:cNvSpPr/>
          <p:nvPr/>
        </p:nvSpPr>
        <p:spPr>
          <a:xfrm>
            <a:off x="365760" y="4096512"/>
            <a:ext cx="8412480" cy="109728"/>
          </a:xfrm>
          <a:prstGeom prst="rect">
            <a:avLst/>
          </a:prstGeom>
          <a:noFill/>
        </p:spPr>
        <p:txBody>
          <a:bodyPr wrap="square" lIns="0" tIns="0" rIns="0" bIns="0" rtlCol="0" anchor="ctr"/>
          <a:lstStyle/>
          <a:p>
            <a:pPr marL="0" indent="0" algn="l">
              <a:buNone/>
            </a:pPr>
            <a:r>
              <a:rPr lang="en-US" sz="750" dirty="0">
                <a:solidFill>
                  <a:srgbClr val="CBD5E1"/>
                </a:solidFill>
                <a:latin typeface="Consolas" panose="020B0609020204030204" pitchFamily="34" charset="0"/>
                <a:ea typeface="Consolas" panose="020B0609020204030204" pitchFamily="34" charset="-122"/>
                <a:cs typeface="Consolas" panose="020B0609020204030204" pitchFamily="34" charset="-120"/>
              </a:rPr>
              <a:t>{</a:t>
            </a:r>
            <a:endParaRPr lang="en-US" sz="750" dirty="0"/>
          </a:p>
        </p:txBody>
      </p:sp>
      <p:sp>
        <p:nvSpPr>
          <p:cNvPr id="34" name="Text 32"/>
          <p:cNvSpPr/>
          <p:nvPr/>
        </p:nvSpPr>
        <p:spPr>
          <a:xfrm>
            <a:off x="365760" y="4187952"/>
            <a:ext cx="8412480" cy="109728"/>
          </a:xfrm>
          <a:prstGeom prst="rect">
            <a:avLst/>
          </a:prstGeom>
          <a:noFill/>
        </p:spPr>
        <p:txBody>
          <a:bodyPr wrap="square" lIns="0" tIns="0" rIns="0" bIns="0" rtlCol="0" anchor="ctr"/>
          <a:lstStyle/>
          <a:p>
            <a:pPr marL="0" indent="0" algn="l">
              <a:buNone/>
            </a:pPr>
            <a:r>
              <a:rPr lang="en-US" sz="750" dirty="0">
                <a:solidFill>
                  <a:srgbClr val="CBD5E1"/>
                </a:solidFill>
                <a:latin typeface="Consolas" panose="020B0609020204030204" pitchFamily="34" charset="0"/>
                <a:ea typeface="Consolas" panose="020B0609020204030204" pitchFamily="34" charset="-122"/>
                <a:cs typeface="Consolas" panose="020B0609020204030204" pitchFamily="34" charset="-120"/>
              </a:rPr>
              <a:t>"Logging": {</a:t>
            </a:r>
            <a:endParaRPr lang="en-US" sz="750" dirty="0"/>
          </a:p>
        </p:txBody>
      </p:sp>
      <p:sp>
        <p:nvSpPr>
          <p:cNvPr id="35" name="Text 33"/>
          <p:cNvSpPr/>
          <p:nvPr/>
        </p:nvSpPr>
        <p:spPr>
          <a:xfrm>
            <a:off x="365760" y="4279392"/>
            <a:ext cx="8412480" cy="109728"/>
          </a:xfrm>
          <a:prstGeom prst="rect">
            <a:avLst/>
          </a:prstGeom>
          <a:noFill/>
        </p:spPr>
        <p:txBody>
          <a:bodyPr wrap="square" lIns="0" tIns="0" rIns="0" bIns="0" rtlCol="0" anchor="ctr"/>
          <a:lstStyle/>
          <a:p>
            <a:pPr marL="0" indent="0" algn="l">
              <a:buNone/>
            </a:pPr>
            <a:r>
              <a:rPr lang="en-US" sz="750" dirty="0">
                <a:solidFill>
                  <a:srgbClr val="CBD5E1"/>
                </a:solidFill>
                <a:latin typeface="Consolas" panose="020B0609020204030204" pitchFamily="34" charset="0"/>
                <a:ea typeface="Consolas" panose="020B0609020204030204" pitchFamily="34" charset="-122"/>
                <a:cs typeface="Consolas" panose="020B0609020204030204" pitchFamily="34" charset="-120"/>
              </a:rPr>
              <a:t>  "LogLevel": {</a:t>
            </a:r>
            <a:endParaRPr lang="en-US" sz="750" dirty="0"/>
          </a:p>
        </p:txBody>
      </p:sp>
      <p:sp>
        <p:nvSpPr>
          <p:cNvPr id="36" name="Text 34"/>
          <p:cNvSpPr/>
          <p:nvPr/>
        </p:nvSpPr>
        <p:spPr>
          <a:xfrm>
            <a:off x="365760" y="4370832"/>
            <a:ext cx="8412480" cy="109728"/>
          </a:xfrm>
          <a:prstGeom prst="rect">
            <a:avLst/>
          </a:prstGeom>
          <a:noFill/>
        </p:spPr>
        <p:txBody>
          <a:bodyPr wrap="square" lIns="0" tIns="0" rIns="0" bIns="0" rtlCol="0" anchor="ctr"/>
          <a:lstStyle/>
          <a:p>
            <a:pPr marL="0" indent="0" algn="l">
              <a:buNone/>
            </a:pPr>
            <a:r>
              <a:rPr lang="en-US" sz="750" dirty="0">
                <a:solidFill>
                  <a:srgbClr val="CBD5E1"/>
                </a:solidFill>
                <a:latin typeface="Consolas" panose="020B0609020204030204" pitchFamily="34" charset="0"/>
                <a:ea typeface="Consolas" panose="020B0609020204030204" pitchFamily="34" charset="-122"/>
                <a:cs typeface="Consolas" panose="020B0609020204030204" pitchFamily="34" charset="-120"/>
              </a:rPr>
              <a:t>    "Default": "Information",</a:t>
            </a:r>
            <a:endParaRPr lang="en-US" sz="750" dirty="0"/>
          </a:p>
        </p:txBody>
      </p:sp>
      <p:sp>
        <p:nvSpPr>
          <p:cNvPr id="37" name="Text 35"/>
          <p:cNvSpPr/>
          <p:nvPr/>
        </p:nvSpPr>
        <p:spPr>
          <a:xfrm>
            <a:off x="365760" y="4462272"/>
            <a:ext cx="8412480" cy="109728"/>
          </a:xfrm>
          <a:prstGeom prst="rect">
            <a:avLst/>
          </a:prstGeom>
          <a:noFill/>
        </p:spPr>
        <p:txBody>
          <a:bodyPr wrap="square" lIns="0" tIns="0" rIns="0" bIns="0" rtlCol="0" anchor="ctr"/>
          <a:lstStyle/>
          <a:p>
            <a:pPr marL="0" indent="0" algn="l">
              <a:buNone/>
            </a:pPr>
            <a:r>
              <a:rPr lang="en-US" sz="750" dirty="0">
                <a:solidFill>
                  <a:srgbClr val="CBD5E1"/>
                </a:solidFill>
                <a:latin typeface="Consolas" panose="020B0609020204030204" pitchFamily="34" charset="0"/>
                <a:ea typeface="Consolas" panose="020B0609020204030204" pitchFamily="34" charset="-122"/>
                <a:cs typeface="Consolas" panose="020B0609020204030204" pitchFamily="34" charset="-120"/>
              </a:rPr>
              <a:t>    "Microsoft.AspNetCore": "Warning",</a:t>
            </a:r>
            <a:endParaRPr lang="en-US" sz="750" dirty="0"/>
          </a:p>
        </p:txBody>
      </p:sp>
      <p:sp>
        <p:nvSpPr>
          <p:cNvPr id="38" name="Text 36"/>
          <p:cNvSpPr/>
          <p:nvPr/>
        </p:nvSpPr>
        <p:spPr>
          <a:xfrm>
            <a:off x="365760" y="4553712"/>
            <a:ext cx="8412480" cy="109728"/>
          </a:xfrm>
          <a:prstGeom prst="rect">
            <a:avLst/>
          </a:prstGeom>
          <a:noFill/>
        </p:spPr>
        <p:txBody>
          <a:bodyPr wrap="square" lIns="0" tIns="0" rIns="0" bIns="0" rtlCol="0" anchor="ctr"/>
          <a:lstStyle/>
          <a:p>
            <a:pPr marL="0" indent="0" algn="l">
              <a:buNone/>
            </a:pPr>
            <a:r>
              <a:rPr lang="en-US" sz="750" dirty="0">
                <a:solidFill>
                  <a:srgbClr val="CBD5E1"/>
                </a:solidFill>
                <a:latin typeface="Consolas" panose="020B0609020204030204" pitchFamily="34" charset="0"/>
                <a:ea typeface="Consolas" panose="020B0609020204030204" pitchFamily="34" charset="-122"/>
                <a:cs typeface="Consolas" panose="020B0609020204030204" pitchFamily="34" charset="-120"/>
              </a:rPr>
              <a:t>    "Microsoft.EntityFrameworkCore": "Warning"</a:t>
            </a:r>
            <a:endParaRPr lang="en-US" sz="750" dirty="0"/>
          </a:p>
        </p:txBody>
      </p:sp>
      <p:sp>
        <p:nvSpPr>
          <p:cNvPr id="39" name="Text 37"/>
          <p:cNvSpPr/>
          <p:nvPr/>
        </p:nvSpPr>
        <p:spPr>
          <a:xfrm>
            <a:off x="365760" y="4645152"/>
            <a:ext cx="8412480" cy="109728"/>
          </a:xfrm>
          <a:prstGeom prst="rect">
            <a:avLst/>
          </a:prstGeom>
          <a:noFill/>
        </p:spPr>
        <p:txBody>
          <a:bodyPr wrap="square" lIns="0" tIns="0" rIns="0" bIns="0" rtlCol="0" anchor="ctr"/>
          <a:lstStyle/>
          <a:p>
            <a:pPr marL="0" indent="0" algn="l">
              <a:buNone/>
            </a:pPr>
            <a:r>
              <a:rPr lang="en-US" sz="750" dirty="0">
                <a:solidFill>
                  <a:srgbClr val="CBD5E1"/>
                </a:solidFill>
                <a:latin typeface="Consolas" panose="020B0609020204030204" pitchFamily="34" charset="0"/>
                <a:ea typeface="Consolas" panose="020B0609020204030204" pitchFamily="34" charset="-122"/>
                <a:cs typeface="Consolas" panose="020B0609020204030204" pitchFamily="34" charset="-120"/>
              </a:rPr>
              <a:t>  }</a:t>
            </a:r>
            <a:endParaRPr lang="en-US" sz="750" dirty="0"/>
          </a:p>
        </p:txBody>
      </p:sp>
      <p:sp>
        <p:nvSpPr>
          <p:cNvPr id="40" name="Text 38"/>
          <p:cNvSpPr/>
          <p:nvPr/>
        </p:nvSpPr>
        <p:spPr>
          <a:xfrm>
            <a:off x="365760" y="4736592"/>
            <a:ext cx="8412480" cy="109728"/>
          </a:xfrm>
          <a:prstGeom prst="rect">
            <a:avLst/>
          </a:prstGeom>
          <a:noFill/>
        </p:spPr>
        <p:txBody>
          <a:bodyPr wrap="square" lIns="0" tIns="0" rIns="0" bIns="0" rtlCol="0" anchor="ctr"/>
          <a:lstStyle/>
          <a:p>
            <a:pPr marL="0" indent="0" algn="l">
              <a:buNone/>
            </a:pPr>
            <a:r>
              <a:rPr lang="en-US" sz="750" dirty="0">
                <a:solidFill>
                  <a:srgbClr val="CBD5E1"/>
                </a:solidFill>
                <a:latin typeface="Consolas" panose="020B0609020204030204" pitchFamily="34" charset="0"/>
                <a:ea typeface="Consolas" panose="020B0609020204030204" pitchFamily="34" charset="-122"/>
                <a:cs typeface="Consolas" panose="020B0609020204030204" pitchFamily="34" charset="-120"/>
              </a:rPr>
              <a:t>}</a:t>
            </a:r>
            <a:endParaRPr lang="en-US" sz="750" dirty="0"/>
          </a:p>
        </p:txBody>
      </p:sp>
      <p:sp>
        <p:nvSpPr>
          <p:cNvPr id="41" name="Text 39"/>
          <p:cNvSpPr/>
          <p:nvPr/>
        </p:nvSpPr>
        <p:spPr>
          <a:xfrm>
            <a:off x="365760" y="4828032"/>
            <a:ext cx="8412480" cy="109728"/>
          </a:xfrm>
          <a:prstGeom prst="rect">
            <a:avLst/>
          </a:prstGeom>
          <a:noFill/>
        </p:spPr>
        <p:txBody>
          <a:bodyPr wrap="square" lIns="0" tIns="0" rIns="0" bIns="0" rtlCol="0" anchor="ctr"/>
          <a:lstStyle/>
          <a:p>
            <a:pPr marL="0" indent="0" algn="l">
              <a:buNone/>
            </a:pPr>
            <a:r>
              <a:rPr lang="en-US" sz="750" dirty="0">
                <a:solidFill>
                  <a:srgbClr val="CBD5E1"/>
                </a:solidFill>
                <a:latin typeface="Consolas" panose="020B0609020204030204" pitchFamily="34" charset="0"/>
                <a:ea typeface="Consolas" panose="020B0609020204030204" pitchFamily="34" charset="-122"/>
                <a:cs typeface="Consolas" panose="020B0609020204030204" pitchFamily="34" charset="-120"/>
              </a:rPr>
              <a:t>}</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A5E9"/>
          </a:solidFill>
          <a:ln w="12700">
            <a:solidFill>
              <a:srgbClr val="0EA5E9"/>
            </a:solidFill>
            <a:prstDash val="solid"/>
          </a:ln>
        </p:spPr>
      </p:sp>
      <p:sp>
        <p:nvSpPr>
          <p:cNvPr id="3" name="Shape 1"/>
          <p:cNvSpPr/>
          <p:nvPr/>
        </p:nvSpPr>
        <p:spPr>
          <a:xfrm>
            <a:off x="73152" y="0"/>
            <a:ext cx="9070848" cy="749808"/>
          </a:xfrm>
          <a:prstGeom prst="rect">
            <a:avLst/>
          </a:prstGeom>
          <a:solidFill>
            <a:srgbClr val="F8FAFC"/>
          </a:solidFill>
          <a:ln w="6350">
            <a:solidFill>
              <a:srgbClr val="E2E8F0"/>
            </a:solidFill>
            <a:prstDash val="solid"/>
          </a:ln>
        </p:spPr>
      </p:sp>
      <p:sp>
        <p:nvSpPr>
          <p:cNvPr id="4" name="Shape 2"/>
          <p:cNvSpPr/>
          <p:nvPr/>
        </p:nvSpPr>
        <p:spPr>
          <a:xfrm>
            <a:off x="73152" y="749808"/>
            <a:ext cx="9070848" cy="36576"/>
          </a:xfrm>
          <a:prstGeom prst="rect">
            <a:avLst/>
          </a:prstGeom>
          <a:solidFill>
            <a:srgbClr val="0EA5E9"/>
          </a:solidFill>
          <a:ln w="12700">
            <a:solidFill>
              <a:srgbClr val="0EA5E9"/>
            </a:solidFill>
            <a:prstDash val="solid"/>
          </a:ln>
        </p:spPr>
      </p:sp>
      <p:sp>
        <p:nvSpPr>
          <p:cNvPr id="5" name="Text 3"/>
          <p:cNvSpPr/>
          <p:nvPr/>
        </p:nvSpPr>
        <p:spPr>
          <a:xfrm>
            <a:off x="228600" y="91440"/>
            <a:ext cx="7132320" cy="566928"/>
          </a:xfrm>
          <a:prstGeom prst="rect">
            <a:avLst/>
          </a:prstGeom>
          <a:noFill/>
        </p:spPr>
        <p:txBody>
          <a:bodyPr wrap="square" lIns="0" tIns="0" rIns="0" bIns="0" rtlCol="0" anchor="ctr"/>
          <a:lstStyle/>
          <a:p>
            <a:pPr marL="0" indent="0" algn="l">
              <a:buNone/>
            </a:pPr>
            <a:r>
              <a:rPr lang="en-US" sz="2100" b="1" dirty="0">
                <a:solidFill>
                  <a:srgbClr val="1E293B"/>
                </a:solidFill>
                <a:latin typeface="Calibri" panose="020F0502020204030204" pitchFamily="34" charset="0"/>
                <a:ea typeface="Calibri" panose="020F0502020204030204" pitchFamily="34" charset="-122"/>
                <a:cs typeface="Calibri" panose="020F0502020204030204" pitchFamily="34" charset="-120"/>
              </a:rPr>
              <a:t>Correlation IDs  One Request, One Story</a:t>
            </a:r>
            <a:endParaRPr lang="en-US" sz="2100" dirty="0"/>
          </a:p>
        </p:txBody>
      </p:sp>
      <p:sp>
        <p:nvSpPr>
          <p:cNvPr id="6" name="Shape 4"/>
          <p:cNvSpPr/>
          <p:nvPr/>
        </p:nvSpPr>
        <p:spPr>
          <a:xfrm>
            <a:off x="137160" y="786384"/>
            <a:ext cx="8869680" cy="0"/>
          </a:xfrm>
          <a:prstGeom prst="line">
            <a:avLst/>
          </a:prstGeom>
          <a:noFill/>
          <a:ln w="6350">
            <a:solidFill>
              <a:srgbClr val="E2E8F0"/>
            </a:solidFill>
            <a:prstDash val="solid"/>
          </a:ln>
        </p:spPr>
      </p:sp>
      <p:sp>
        <p:nvSpPr>
          <p:cNvPr id="7" name="Shape 5"/>
          <p:cNvSpPr/>
          <p:nvPr/>
        </p:nvSpPr>
        <p:spPr>
          <a:xfrm>
            <a:off x="182880" y="868680"/>
            <a:ext cx="4983480" cy="2240280"/>
          </a:xfrm>
          <a:prstGeom prst="rect">
            <a:avLst/>
          </a:prstGeom>
          <a:solidFill>
            <a:srgbClr val="1E293B"/>
          </a:solidFill>
          <a:ln w="6350">
            <a:solidFill>
              <a:srgbClr val="334155"/>
            </a:solidFill>
            <a:prstDash val="solid"/>
          </a:ln>
          <a:effectLst>
            <a:outerShdw blurRad="101600" dist="38100" dir="8100000" algn="bl" rotWithShape="0">
              <a:srgbClr val="000000">
                <a:alpha val="12000"/>
              </a:srgbClr>
            </a:outerShdw>
          </a:effectLst>
        </p:spPr>
      </p:sp>
      <p:sp>
        <p:nvSpPr>
          <p:cNvPr id="8" name="Shape 6"/>
          <p:cNvSpPr/>
          <p:nvPr/>
        </p:nvSpPr>
        <p:spPr>
          <a:xfrm>
            <a:off x="182880" y="868680"/>
            <a:ext cx="4983480" cy="292608"/>
          </a:xfrm>
          <a:prstGeom prst="rect">
            <a:avLst/>
          </a:prstGeom>
          <a:solidFill>
            <a:srgbClr val="0F172A"/>
          </a:solidFill>
          <a:ln w="12700">
            <a:solidFill>
              <a:srgbClr val="334155"/>
            </a:solidFill>
            <a:prstDash val="solid"/>
          </a:ln>
        </p:spPr>
      </p:sp>
      <p:sp>
        <p:nvSpPr>
          <p:cNvPr id="9" name="Text 7"/>
          <p:cNvSpPr/>
          <p:nvPr/>
        </p:nvSpPr>
        <p:spPr>
          <a:xfrm>
            <a:off x="292608" y="868680"/>
            <a:ext cx="4764024" cy="292608"/>
          </a:xfrm>
          <a:prstGeom prst="rect">
            <a:avLst/>
          </a:prstGeom>
          <a:noFill/>
        </p:spPr>
        <p:txBody>
          <a:bodyPr wrap="square" lIns="0" tIns="0" rIns="0" bIns="0" rtlCol="0" anchor="ctr"/>
          <a:lstStyle/>
          <a:p>
            <a:pPr marL="0" indent="0" algn="l">
              <a:buNone/>
            </a:pPr>
            <a:r>
              <a:rPr lang="en-US" sz="850" dirty="0">
                <a:solidFill>
                  <a:srgbClr val="94A3B8"/>
                </a:solidFill>
                <a:latin typeface="Calibri" panose="020F0502020204030204" pitchFamily="34" charset="0"/>
                <a:ea typeface="Calibri" panose="020F0502020204030204" pitchFamily="34" charset="-122"/>
                <a:cs typeface="Calibri" panose="020F0502020204030204" pitchFamily="34" charset="-120"/>
              </a:rPr>
              <a:t>Middleware  resolve ILogger as today’s Session 1 stack allows</a:t>
            </a:r>
            <a:endParaRPr lang="en-US" sz="850" dirty="0"/>
          </a:p>
        </p:txBody>
      </p:sp>
      <p:sp>
        <p:nvSpPr>
          <p:cNvPr id="10" name="Text 8"/>
          <p:cNvSpPr/>
          <p:nvPr/>
        </p:nvSpPr>
        <p:spPr>
          <a:xfrm>
            <a:off x="320040" y="1216152"/>
            <a:ext cx="4709160" cy="1783080"/>
          </a:xfrm>
          <a:prstGeom prst="rect">
            <a:avLst/>
          </a:prstGeom>
          <a:noFill/>
        </p:spPr>
        <p:txBody>
          <a:bodyPr wrap="square" lIns="0" tIns="0" rIns="0" bIns="0" rtlCol="0" anchor="t"/>
          <a:lstStyle/>
          <a:p>
            <a:pPr marL="0" indent="0" algn="l">
              <a:buNone/>
            </a:pPr>
            <a:r>
              <a:rPr lang="en-US" sz="850" dirty="0">
                <a:solidFill>
                  <a:srgbClr val="38BDF8"/>
                </a:solidFill>
                <a:latin typeface="Consolas" panose="020B0609020204030204" pitchFamily="34" charset="0"/>
                <a:ea typeface="Consolas" panose="020B0609020204030204" pitchFamily="34" charset="-122"/>
                <a:cs typeface="Consolas" panose="020B0609020204030204" pitchFamily="34" charset="-120"/>
              </a:rPr>
              <a:t>app</a:t>
            </a: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.Use(async (context, next) =&gt;</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a:t>
            </a:r>
            <a:endParaRPr lang="en-US" sz="850" dirty="0"/>
          </a:p>
          <a:p>
            <a:pPr marL="0" indent="0" algn="l">
              <a:buNone/>
            </a:pPr>
            <a:r>
              <a:rPr lang="en-US" sz="850" dirty="0">
                <a:solidFill>
                  <a:srgbClr val="94A3B8"/>
                </a:solidFill>
                <a:latin typeface="Consolas" panose="020B0609020204030204" pitchFamily="34" charset="0"/>
                <a:ea typeface="Consolas" panose="020B0609020204030204" pitchFamily="34" charset="-122"/>
                <a:cs typeface="Consolas" panose="020B0609020204030204" pitchFamily="34" charset="-120"/>
              </a:rPr>
              <a:t>  var id = context.Request.Headers</a:t>
            </a:r>
            <a:endParaRPr lang="en-US" sz="850" dirty="0"/>
          </a:p>
          <a:p>
            <a:pPr marL="0" indent="0" algn="l">
              <a:buNone/>
            </a:pPr>
            <a:r>
              <a:rPr lang="en-US" sz="850" dirty="0">
                <a:solidFill>
                  <a:srgbClr val="F59E0B"/>
                </a:solidFill>
                <a:latin typeface="Consolas" panose="020B0609020204030204" pitchFamily="34" charset="0"/>
                <a:ea typeface="Consolas" panose="020B0609020204030204" pitchFamily="34" charset="-122"/>
                <a:cs typeface="Consolas" panose="020B0609020204030204" pitchFamily="34" charset="-120"/>
              </a:rPr>
              <a:t>    ["X-Correlation-ID"].FirstOrDefault()</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 Guid.NewGuid().ToString();</a:t>
            </a:r>
            <a:endParaRPr lang="en-US" sz="850" dirty="0"/>
          </a:p>
          <a:p>
            <a:pPr marL="0" indent="0" algn="l">
              <a:buNone/>
            </a:pPr>
            <a:r>
              <a:rPr lang="en-US" sz="850" dirty="0">
                <a:solidFill>
                  <a:srgbClr val="94A3B8"/>
                </a:solidFill>
                <a:latin typeface="Consolas" panose="020B0609020204030204" pitchFamily="34" charset="0"/>
                <a:ea typeface="Consolas" panose="020B0609020204030204" pitchFamily="34" charset="-122"/>
                <a:cs typeface="Consolas" panose="020B0609020204030204" pitchFamily="34" charset="-120"/>
              </a:rPr>
              <a:t>  context.Response.Headers</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["X-Correlation-ID"] = id;</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using (logger.BeginScope(</a:t>
            </a:r>
            <a:endParaRPr lang="en-US" sz="850" dirty="0"/>
          </a:p>
          <a:p>
            <a:pPr marL="0" indent="0" algn="l">
              <a:buNone/>
            </a:pPr>
            <a:r>
              <a:rPr lang="en-US" sz="850" dirty="0">
                <a:solidFill>
                  <a:srgbClr val="38BDF8"/>
                </a:solidFill>
                <a:latin typeface="Consolas" panose="020B0609020204030204" pitchFamily="34" charset="0"/>
                <a:ea typeface="Consolas" panose="020B0609020204030204" pitchFamily="34" charset="-122"/>
                <a:cs typeface="Consolas" panose="020B0609020204030204" pitchFamily="34" charset="-120"/>
              </a:rPr>
              <a:t>    new Dictionary&lt;string,object&gt;</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 ["CorrelationId"] = id }))</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await next(context);</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a:t>
            </a:r>
            <a:endParaRPr lang="en-US" sz="850" dirty="0"/>
          </a:p>
        </p:txBody>
      </p:sp>
      <p:sp>
        <p:nvSpPr>
          <p:cNvPr id="11" name="Shape 9"/>
          <p:cNvSpPr/>
          <p:nvPr/>
        </p:nvSpPr>
        <p:spPr>
          <a:xfrm>
            <a:off x="5257800" y="868680"/>
            <a:ext cx="3703320" cy="2240280"/>
          </a:xfrm>
          <a:prstGeom prst="rect">
            <a:avLst/>
          </a:prstGeom>
          <a:solidFill>
            <a:srgbClr val="F5F3FF"/>
          </a:solidFill>
          <a:ln w="12700">
            <a:solidFill>
              <a:srgbClr val="7C3AED"/>
            </a:solidFill>
            <a:prstDash val="solid"/>
          </a:ln>
        </p:spPr>
      </p:sp>
      <p:sp>
        <p:nvSpPr>
          <p:cNvPr id="12" name="Text 10"/>
          <p:cNvSpPr/>
          <p:nvPr/>
        </p:nvSpPr>
        <p:spPr>
          <a:xfrm>
            <a:off x="5394960" y="960120"/>
            <a:ext cx="3429000" cy="274320"/>
          </a:xfrm>
          <a:prstGeom prst="rect">
            <a:avLst/>
          </a:prstGeom>
          <a:noFill/>
        </p:spPr>
        <p:txBody>
          <a:bodyPr wrap="square" lIns="0" tIns="0" rIns="0" bIns="0" rtlCol="0" anchor="ctr"/>
          <a:lstStyle/>
          <a:p>
            <a:pPr marL="0" indent="0" algn="l">
              <a:buNone/>
            </a:pPr>
            <a:r>
              <a:rPr lang="en-US" sz="1100" b="1" dirty="0">
                <a:solidFill>
                  <a:srgbClr val="1E293B"/>
                </a:solidFill>
                <a:latin typeface="Calibri" panose="020F0502020204030204" pitchFamily="34" charset="0"/>
                <a:ea typeface="Calibri" panose="020F0502020204030204" pitchFamily="34" charset="-122"/>
                <a:cs typeface="Calibri" panose="020F0502020204030204" pitchFamily="34" charset="-120"/>
              </a:rPr>
              <a:t>Support workflow</a:t>
            </a:r>
            <a:endParaRPr lang="en-US" sz="1100" dirty="0"/>
          </a:p>
        </p:txBody>
      </p:sp>
      <p:sp>
        <p:nvSpPr>
          <p:cNvPr id="13" name="Text 11"/>
          <p:cNvSpPr/>
          <p:nvPr/>
        </p:nvSpPr>
        <p:spPr>
          <a:xfrm>
            <a:off x="5394960" y="1280160"/>
            <a:ext cx="3429000" cy="347472"/>
          </a:xfrm>
          <a:prstGeom prst="rect">
            <a:avLst/>
          </a:prstGeom>
          <a:noFill/>
        </p:spPr>
        <p:txBody>
          <a:bodyPr wrap="square" lIns="0" tIns="0" rIns="0" bIns="0" rtlCol="0" anchor="t"/>
          <a:lstStyle/>
          <a:p>
            <a:pPr marL="0" indent="0" algn="l">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 Student: “Enrollment failed.”</a:t>
            </a:r>
            <a:endParaRPr lang="en-US" sz="1000" dirty="0"/>
          </a:p>
        </p:txBody>
      </p:sp>
      <p:sp>
        <p:nvSpPr>
          <p:cNvPr id="14" name="Text 12"/>
          <p:cNvSpPr/>
          <p:nvPr/>
        </p:nvSpPr>
        <p:spPr>
          <a:xfrm>
            <a:off x="5394960" y="1664208"/>
            <a:ext cx="3429000" cy="347472"/>
          </a:xfrm>
          <a:prstGeom prst="rect">
            <a:avLst/>
          </a:prstGeom>
          <a:noFill/>
        </p:spPr>
        <p:txBody>
          <a:bodyPr wrap="square" lIns="0" tIns="0" rIns="0" bIns="0" rtlCol="0" anchor="t"/>
          <a:lstStyle/>
          <a:p>
            <a:pPr marL="0" indent="0" algn="l">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 Support: paste CorrelationId from UI / response header.</a:t>
            </a:r>
            <a:endParaRPr lang="en-US" sz="1000" dirty="0"/>
          </a:p>
        </p:txBody>
      </p:sp>
      <p:sp>
        <p:nvSpPr>
          <p:cNvPr id="15" name="Text 13"/>
          <p:cNvSpPr/>
          <p:nvPr/>
        </p:nvSpPr>
        <p:spPr>
          <a:xfrm>
            <a:off x="5394960" y="2048256"/>
            <a:ext cx="3429000" cy="347472"/>
          </a:xfrm>
          <a:prstGeom prst="rect">
            <a:avLst/>
          </a:prstGeom>
          <a:noFill/>
        </p:spPr>
        <p:txBody>
          <a:bodyPr wrap="square" lIns="0" tIns="0" rIns="0" bIns="0" rtlCol="0" anchor="t"/>
          <a:lstStyle/>
          <a:p>
            <a:pPr marL="0" indent="0" algn="l">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 Search: CorrelationId = "abc-123"</a:t>
            </a:r>
            <a:endParaRPr lang="en-US" sz="1000" dirty="0"/>
          </a:p>
        </p:txBody>
      </p:sp>
      <p:sp>
        <p:nvSpPr>
          <p:cNvPr id="16" name="Text 14"/>
          <p:cNvSpPr/>
          <p:nvPr/>
        </p:nvSpPr>
        <p:spPr>
          <a:xfrm>
            <a:off x="5394960" y="2432304"/>
            <a:ext cx="3429000" cy="347472"/>
          </a:xfrm>
          <a:prstGeom prst="rect">
            <a:avLst/>
          </a:prstGeom>
          <a:noFill/>
        </p:spPr>
        <p:txBody>
          <a:bodyPr wrap="square" lIns="0" tIns="0" rIns="0" bIns="0" rtlCol="0" anchor="t"/>
          <a:lstStyle/>
          <a:p>
            <a:pPr marL="0" indent="0" algn="l">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 → full chain: validate → capacity → error</a:t>
            </a:r>
            <a:endParaRPr lang="en-US" sz="1000" dirty="0"/>
          </a:p>
        </p:txBody>
      </p:sp>
      <p:sp>
        <p:nvSpPr>
          <p:cNvPr id="17" name="Shape 15"/>
          <p:cNvSpPr/>
          <p:nvPr/>
        </p:nvSpPr>
        <p:spPr>
          <a:xfrm>
            <a:off x="182880" y="3218688"/>
            <a:ext cx="8778240" cy="960120"/>
          </a:xfrm>
          <a:prstGeom prst="rect">
            <a:avLst/>
          </a:prstGeom>
          <a:solidFill>
            <a:srgbClr val="0F1A2E"/>
          </a:solidFill>
          <a:ln w="12700">
            <a:solidFill>
              <a:srgbClr val="0EA5E9"/>
            </a:solidFill>
            <a:prstDash val="solid"/>
          </a:ln>
        </p:spPr>
      </p:sp>
      <p:sp>
        <p:nvSpPr>
          <p:cNvPr id="18" name="Text 16"/>
          <p:cNvSpPr/>
          <p:nvPr/>
        </p:nvSpPr>
        <p:spPr>
          <a:xfrm>
            <a:off x="320040" y="3273552"/>
            <a:ext cx="8503920" cy="256032"/>
          </a:xfrm>
          <a:prstGeom prst="rect">
            <a:avLst/>
          </a:prstGeom>
          <a:noFill/>
        </p:spPr>
        <p:txBody>
          <a:bodyPr wrap="square" lIns="0" tIns="0" rIns="0" bIns="0" rtlCol="0" anchor="ctr"/>
          <a:lstStyle/>
          <a:p>
            <a:pPr marL="0" indent="0" algn="l">
              <a:buNone/>
            </a:pPr>
            <a:r>
              <a:rPr lang="en-US" sz="850" dirty="0">
                <a:solidFill>
                  <a:srgbClr val="94A3B8"/>
                </a:solidFill>
                <a:latin typeface="Consolas" panose="020B0609020204030204" pitchFamily="34" charset="0"/>
                <a:ea typeface="Consolas" panose="020B0609020204030204" pitchFamily="34" charset="-122"/>
                <a:cs typeface="Consolas" panose="020B0609020204030204" pitchFamily="34" charset="-120"/>
              </a:rPr>
              <a:t>[Info] CorrelationId=abc-123 | Processing enrollment STU-001</a:t>
            </a:r>
            <a:endParaRPr lang="en-US" sz="850" dirty="0"/>
          </a:p>
        </p:txBody>
      </p:sp>
      <p:sp>
        <p:nvSpPr>
          <p:cNvPr id="19" name="Text 17"/>
          <p:cNvSpPr/>
          <p:nvPr/>
        </p:nvSpPr>
        <p:spPr>
          <a:xfrm>
            <a:off x="320040" y="3547872"/>
            <a:ext cx="8503920" cy="256032"/>
          </a:xfrm>
          <a:prstGeom prst="rect">
            <a:avLst/>
          </a:prstGeom>
          <a:noFill/>
        </p:spPr>
        <p:txBody>
          <a:bodyPr wrap="square" lIns="0" tIns="0" rIns="0" bIns="0" rtlCol="0" anchor="ctr"/>
          <a:lstStyle/>
          <a:p>
            <a:pPr marL="0" indent="0" algn="l">
              <a:buNone/>
            </a:pPr>
            <a:r>
              <a:rPr lang="en-US" sz="850" dirty="0">
                <a:solidFill>
                  <a:srgbClr val="94A3B8"/>
                </a:solidFill>
                <a:latin typeface="Consolas" panose="020B0609020204030204" pitchFamily="34" charset="0"/>
                <a:ea typeface="Consolas" panose="020B0609020204030204" pitchFamily="34" charset="-122"/>
                <a:cs typeface="Consolas" panose="020B0609020204030204" pitchFamily="34" charset="-120"/>
              </a:rPr>
              <a:t>[Info] CorrelationId=abc-123 | Validating course capacity</a:t>
            </a:r>
            <a:endParaRPr lang="en-US" sz="850" dirty="0"/>
          </a:p>
        </p:txBody>
      </p:sp>
      <p:sp>
        <p:nvSpPr>
          <p:cNvPr id="20" name="Text 18"/>
          <p:cNvSpPr/>
          <p:nvPr/>
        </p:nvSpPr>
        <p:spPr>
          <a:xfrm>
            <a:off x="320040" y="3822192"/>
            <a:ext cx="8503920" cy="256032"/>
          </a:xfrm>
          <a:prstGeom prst="rect">
            <a:avLst/>
          </a:prstGeom>
          <a:noFill/>
        </p:spPr>
        <p:txBody>
          <a:bodyPr wrap="square" lIns="0" tIns="0" rIns="0" bIns="0" rtlCol="0" anchor="ctr"/>
          <a:lstStyle/>
          <a:p>
            <a:pPr marL="0" indent="0" algn="l">
              <a:buNone/>
            </a:pPr>
            <a:r>
              <a:rPr lang="en-US" sz="850" dirty="0">
                <a:solidFill>
                  <a:srgbClr val="94A3B8"/>
                </a:solidFill>
                <a:latin typeface="Consolas" panose="020B0609020204030204" pitchFamily="34" charset="0"/>
                <a:ea typeface="Consolas" panose="020B0609020204030204" pitchFamily="34" charset="-122"/>
                <a:cs typeface="Consolas" panose="020B0609020204030204" pitchFamily="34" charset="-120"/>
              </a:rPr>
              <a:t>[Error] CorrelationId=abc-123 | Enrollment failed: capacity reached</a:t>
            </a:r>
            <a:endParaRPr lang="en-US" sz="850" dirty="0"/>
          </a:p>
        </p:txBody>
      </p:sp>
      <p:sp>
        <p:nvSpPr>
          <p:cNvPr id="21" name="Shape 19"/>
          <p:cNvSpPr/>
          <p:nvPr/>
        </p:nvSpPr>
        <p:spPr>
          <a:xfrm>
            <a:off x="182880" y="4279392"/>
            <a:ext cx="8778240" cy="749808"/>
          </a:xfrm>
          <a:prstGeom prst="rect">
            <a:avLst/>
          </a:prstGeom>
          <a:solidFill>
            <a:srgbClr val="EFF6FF"/>
          </a:solidFill>
          <a:ln w="12700">
            <a:solidFill>
              <a:srgbClr val="0EA5E9"/>
            </a:solidFill>
            <a:prstDash val="solid"/>
          </a:ln>
        </p:spPr>
      </p:sp>
      <p:sp>
        <p:nvSpPr>
          <p:cNvPr id="22" name="Shape 20"/>
          <p:cNvSpPr/>
          <p:nvPr/>
        </p:nvSpPr>
        <p:spPr>
          <a:xfrm>
            <a:off x="182880" y="4279392"/>
            <a:ext cx="54864" cy="749808"/>
          </a:xfrm>
          <a:prstGeom prst="rect">
            <a:avLst/>
          </a:prstGeom>
          <a:solidFill>
            <a:srgbClr val="0EA5E9"/>
          </a:solidFill>
          <a:ln w="12700">
            <a:solidFill>
              <a:srgbClr val="0EA5E9"/>
            </a:solidFill>
            <a:prstDash val="solid"/>
          </a:ln>
        </p:spPr>
      </p:sp>
      <p:sp>
        <p:nvSpPr>
          <p:cNvPr id="23" name="Text 21"/>
          <p:cNvSpPr/>
          <p:nvPr/>
        </p:nvSpPr>
        <p:spPr>
          <a:xfrm>
            <a:off x="365760" y="4370832"/>
            <a:ext cx="8503920" cy="274320"/>
          </a:xfrm>
          <a:prstGeom prst="rect">
            <a:avLst/>
          </a:prstGeom>
          <a:noFill/>
        </p:spPr>
        <p:txBody>
          <a:bodyPr wrap="square" lIns="0" tIns="0" rIns="0" bIns="0" rtlCol="0" anchor="ctr"/>
          <a:lstStyle/>
          <a:p>
            <a:pPr marL="0" indent="0" algn="l">
              <a:buNone/>
            </a:pPr>
            <a:r>
              <a:rPr lang="en-US" sz="1000" b="1" dirty="0">
                <a:solidFill>
                  <a:srgbClr val="0EA5E9"/>
                </a:solidFill>
                <a:latin typeface="Calibri" panose="020F0502020204030204" pitchFamily="34" charset="0"/>
                <a:ea typeface="Calibri" panose="020F0502020204030204" pitchFamily="34" charset="-122"/>
                <a:cs typeface="Calibri" panose="020F0502020204030204" pitchFamily="34" charset="-120"/>
              </a:rPr>
              <a:t>Without correlation</a:t>
            </a:r>
            <a:endParaRPr lang="en-US" sz="1000" dirty="0"/>
          </a:p>
        </p:txBody>
      </p:sp>
      <p:sp>
        <p:nvSpPr>
          <p:cNvPr id="24" name="Text 22"/>
          <p:cNvSpPr/>
          <p:nvPr/>
        </p:nvSpPr>
        <p:spPr>
          <a:xfrm>
            <a:off x="365760" y="4663440"/>
            <a:ext cx="8503920" cy="246888"/>
          </a:xfrm>
          <a:prstGeom prst="rect">
            <a:avLst/>
          </a:prstGeom>
          <a:noFill/>
        </p:spPr>
        <p:txBody>
          <a:bodyPr wrap="square" lIns="0" tIns="0" rIns="0" bIns="0" rtlCol="0" anchor="t"/>
          <a:lstStyle/>
          <a:p>
            <a:pPr marL="0" indent="0" algn="l">
              <a:buNone/>
            </a:pPr>
            <a:r>
              <a:rPr lang="en-US" sz="1000" dirty="0">
                <a:solidFill>
                  <a:srgbClr val="1E293B"/>
                </a:solidFill>
                <a:latin typeface="Calibri" panose="020F0502020204030204" pitchFamily="34" charset="0"/>
                <a:ea typeface="Calibri" panose="020F0502020204030204" pitchFamily="34" charset="-122"/>
                <a:cs typeface="Calibri" panose="020F0502020204030204" pitchFamily="34" charset="-120"/>
              </a:rPr>
              <a:t>Millions of interleaved lines  you guess which Information entries belong together. With BeginScope + ID, aggregators filter one thread of work.</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F59E0B"/>
          </a:solidFill>
          <a:ln w="12700">
            <a:solidFill>
              <a:srgbClr val="F59E0B"/>
            </a:solidFill>
            <a:prstDash val="solid"/>
          </a:ln>
        </p:spPr>
      </p:sp>
      <p:sp>
        <p:nvSpPr>
          <p:cNvPr id="3" name="Shape 1"/>
          <p:cNvSpPr/>
          <p:nvPr/>
        </p:nvSpPr>
        <p:spPr>
          <a:xfrm>
            <a:off x="73152" y="0"/>
            <a:ext cx="9070848" cy="749808"/>
          </a:xfrm>
          <a:prstGeom prst="rect">
            <a:avLst/>
          </a:prstGeom>
          <a:solidFill>
            <a:srgbClr val="F8FAFC"/>
          </a:solidFill>
          <a:ln w="6350">
            <a:solidFill>
              <a:srgbClr val="E2E8F0"/>
            </a:solidFill>
            <a:prstDash val="solid"/>
          </a:ln>
        </p:spPr>
      </p:sp>
      <p:sp>
        <p:nvSpPr>
          <p:cNvPr id="4" name="Shape 2"/>
          <p:cNvSpPr/>
          <p:nvPr/>
        </p:nvSpPr>
        <p:spPr>
          <a:xfrm>
            <a:off x="73152" y="749808"/>
            <a:ext cx="9070848" cy="36576"/>
          </a:xfrm>
          <a:prstGeom prst="rect">
            <a:avLst/>
          </a:prstGeom>
          <a:solidFill>
            <a:srgbClr val="F59E0B"/>
          </a:solidFill>
          <a:ln w="12700">
            <a:solidFill>
              <a:srgbClr val="F59E0B"/>
            </a:solidFill>
            <a:prstDash val="solid"/>
          </a:ln>
        </p:spPr>
      </p:sp>
      <p:sp>
        <p:nvSpPr>
          <p:cNvPr id="5" name="Text 3"/>
          <p:cNvSpPr/>
          <p:nvPr/>
        </p:nvSpPr>
        <p:spPr>
          <a:xfrm>
            <a:off x="228600" y="91440"/>
            <a:ext cx="7132320" cy="566928"/>
          </a:xfrm>
          <a:prstGeom prst="rect">
            <a:avLst/>
          </a:prstGeom>
          <a:noFill/>
        </p:spPr>
        <p:txBody>
          <a:bodyPr wrap="square" lIns="0" tIns="0" rIns="0" bIns="0" rtlCol="0" anchor="ctr"/>
          <a:lstStyle/>
          <a:p>
            <a:pPr marL="0" indent="0" algn="l">
              <a:buNone/>
            </a:pPr>
            <a:r>
              <a:rPr lang="en-US" sz="2100" b="1" dirty="0">
                <a:solidFill>
                  <a:srgbClr val="1E293B"/>
                </a:solidFill>
                <a:latin typeface="Calibri" panose="020F0502020204030204" pitchFamily="34" charset="0"/>
                <a:ea typeface="Calibri" panose="020F0502020204030204" pitchFamily="34" charset="-122"/>
                <a:cs typeface="Calibri" panose="020F0502020204030204" pitchFamily="34" charset="-120"/>
              </a:rPr>
              <a:t>Configuration &amp; Logging  Real-World Mistakes</a:t>
            </a:r>
            <a:endParaRPr lang="en-US" sz="2100" dirty="0"/>
          </a:p>
        </p:txBody>
      </p:sp>
      <p:sp>
        <p:nvSpPr>
          <p:cNvPr id="6" name="Shape 4"/>
          <p:cNvSpPr/>
          <p:nvPr/>
        </p:nvSpPr>
        <p:spPr>
          <a:xfrm>
            <a:off x="137160" y="786384"/>
            <a:ext cx="8869680" cy="0"/>
          </a:xfrm>
          <a:prstGeom prst="line">
            <a:avLst/>
          </a:prstGeom>
          <a:noFill/>
          <a:ln w="6350">
            <a:solidFill>
              <a:srgbClr val="E2E8F0"/>
            </a:solidFill>
            <a:prstDash val="solid"/>
          </a:ln>
        </p:spPr>
      </p:sp>
      <p:sp>
        <p:nvSpPr>
          <p:cNvPr id="7" name="Text 5"/>
          <p:cNvSpPr/>
          <p:nvPr/>
        </p:nvSpPr>
        <p:spPr>
          <a:xfrm>
            <a:off x="228600" y="841248"/>
            <a:ext cx="8686800" cy="256032"/>
          </a:xfrm>
          <a:prstGeom prst="rect">
            <a:avLst/>
          </a:prstGeom>
          <a:noFill/>
        </p:spPr>
        <p:txBody>
          <a:bodyPr wrap="square" lIns="0" tIns="0" rIns="0" bIns="0" rtlCol="0" anchor="ctr"/>
          <a:lstStyle/>
          <a:p>
            <a:pPr marL="0" indent="0" algn="l">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Same theme as Sessions 1–2: looks fine in demo, fails or blinds you in production.</a:t>
            </a:r>
            <a:endParaRPr lang="en-US" sz="1050" dirty="0"/>
          </a:p>
        </p:txBody>
      </p:sp>
      <p:sp>
        <p:nvSpPr>
          <p:cNvPr id="8" name="Shape 6"/>
          <p:cNvSpPr/>
          <p:nvPr/>
        </p:nvSpPr>
        <p:spPr>
          <a:xfrm>
            <a:off x="182880" y="1097280"/>
            <a:ext cx="4251960" cy="310896"/>
          </a:xfrm>
          <a:prstGeom prst="rect">
            <a:avLst/>
          </a:prstGeom>
          <a:solidFill>
            <a:srgbClr val="F59E0B"/>
          </a:solidFill>
          <a:ln w="12700">
            <a:solidFill>
              <a:srgbClr val="333333"/>
            </a:solidFill>
            <a:prstDash val="solid"/>
          </a:ln>
        </p:spPr>
      </p:sp>
      <p:sp>
        <p:nvSpPr>
          <p:cNvPr id="9" name="Text 7"/>
          <p:cNvSpPr/>
          <p:nvPr/>
        </p:nvSpPr>
        <p:spPr>
          <a:xfrm>
            <a:off x="256032" y="1097280"/>
            <a:ext cx="4069080" cy="310896"/>
          </a:xfrm>
          <a:prstGeom prst="rect">
            <a:avLst/>
          </a:prstGeom>
          <a:noFill/>
        </p:spPr>
        <p:txBody>
          <a:bodyPr wrap="square" lIns="0" tIns="0" rIns="0" bIns="0" rtlCol="0" anchor="ctr"/>
          <a:lstStyle/>
          <a:p>
            <a:pPr marL="0" indent="0" algn="l">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Scenario 1  secrets in repo</a:t>
            </a:r>
            <a:endParaRPr lang="en-US" sz="1050" dirty="0"/>
          </a:p>
        </p:txBody>
      </p:sp>
      <p:sp>
        <p:nvSpPr>
          <p:cNvPr id="10" name="Shape 8"/>
          <p:cNvSpPr/>
          <p:nvPr/>
        </p:nvSpPr>
        <p:spPr>
          <a:xfrm>
            <a:off x="182880" y="1444752"/>
            <a:ext cx="4251960" cy="1143000"/>
          </a:xfrm>
          <a:prstGeom prst="rect">
            <a:avLst/>
          </a:prstGeom>
          <a:solidFill>
            <a:srgbClr val="1E293B"/>
          </a:solidFill>
          <a:ln w="6350">
            <a:solidFill>
              <a:srgbClr val="334155"/>
            </a:solidFill>
            <a:prstDash val="solid"/>
          </a:ln>
          <a:effectLst>
            <a:outerShdw blurRad="101600" dist="38100" dir="8100000" algn="bl" rotWithShape="0">
              <a:srgbClr val="000000">
                <a:alpha val="12000"/>
              </a:srgbClr>
            </a:outerShdw>
          </a:effectLst>
        </p:spPr>
      </p:sp>
      <p:sp>
        <p:nvSpPr>
          <p:cNvPr id="11" name="Shape 9"/>
          <p:cNvSpPr/>
          <p:nvPr/>
        </p:nvSpPr>
        <p:spPr>
          <a:xfrm>
            <a:off x="182880" y="1444752"/>
            <a:ext cx="4251960" cy="292608"/>
          </a:xfrm>
          <a:prstGeom prst="rect">
            <a:avLst/>
          </a:prstGeom>
          <a:solidFill>
            <a:srgbClr val="0F172A"/>
          </a:solidFill>
          <a:ln w="12700">
            <a:solidFill>
              <a:srgbClr val="334155"/>
            </a:solidFill>
            <a:prstDash val="solid"/>
          </a:ln>
        </p:spPr>
      </p:sp>
      <p:sp>
        <p:nvSpPr>
          <p:cNvPr id="12" name="Text 10"/>
          <p:cNvSpPr/>
          <p:nvPr/>
        </p:nvSpPr>
        <p:spPr>
          <a:xfrm>
            <a:off x="292608" y="1444752"/>
            <a:ext cx="4032504" cy="292608"/>
          </a:xfrm>
          <a:prstGeom prst="rect">
            <a:avLst/>
          </a:prstGeom>
          <a:noFill/>
        </p:spPr>
        <p:txBody>
          <a:bodyPr wrap="square" lIns="0" tIns="0" rIns="0" bIns="0" rtlCol="0" anchor="ctr"/>
          <a:lstStyle/>
          <a:p>
            <a:pPr marL="0" indent="0" algn="l">
              <a:buNone/>
            </a:pPr>
            <a:r>
              <a:rPr lang="en-US" sz="850" dirty="0">
                <a:solidFill>
                  <a:srgbClr val="94A3B8"/>
                </a:solidFill>
                <a:latin typeface="Calibri" panose="020F0502020204030204" pitchFamily="34" charset="0"/>
                <a:ea typeface="Calibri" panose="020F0502020204030204" pitchFamily="34" charset="-122"/>
                <a:cs typeface="Calibri" panose="020F0502020204030204" pitchFamily="34" charset="-120"/>
              </a:rPr>
              <a:t>Git history never forgets</a:t>
            </a:r>
            <a:endParaRPr lang="en-US" sz="850" dirty="0"/>
          </a:p>
        </p:txBody>
      </p:sp>
      <p:sp>
        <p:nvSpPr>
          <p:cNvPr id="13" name="Text 11"/>
          <p:cNvSpPr/>
          <p:nvPr/>
        </p:nvSpPr>
        <p:spPr>
          <a:xfrm>
            <a:off x="320040" y="1792224"/>
            <a:ext cx="3977640" cy="685800"/>
          </a:xfrm>
          <a:prstGeom prst="rect">
            <a:avLst/>
          </a:prstGeom>
          <a:noFill/>
        </p:spPr>
        <p:txBody>
          <a:bodyPr wrap="square" lIns="0" tIns="0" rIns="0" bIns="0" rtlCol="0" anchor="t"/>
          <a:lstStyle/>
          <a:p>
            <a:pPr marL="0" indent="0" algn="l">
              <a:buNone/>
            </a:pPr>
            <a:r>
              <a:rPr lang="en-US" sz="850" dirty="0">
                <a:solidFill>
                  <a:srgbClr val="F87171"/>
                </a:solidFill>
                <a:latin typeface="Consolas" panose="020B0609020204030204" pitchFamily="34" charset="0"/>
                <a:ea typeface="Consolas" panose="020B0609020204030204" pitchFamily="34" charset="-122"/>
                <a:cs typeface="Consolas" panose="020B0609020204030204" pitchFamily="34" charset="-120"/>
              </a:rPr>
              <a:t>// appsettings.Development.json  committed
</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"ConnectionStrings": {</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  </a:t>
            </a:r>
            <a:endParaRPr lang="en-US" sz="850" dirty="0"/>
          </a:p>
          <a:p>
            <a:pPr marL="0" indent="0" algn="l">
              <a:buNone/>
            </a:pPr>
            <a:r>
              <a:rPr lang="en-US" sz="850" dirty="0">
                <a:solidFill>
                  <a:srgbClr val="F59E0B"/>
                </a:solidFill>
                <a:latin typeface="Consolas" panose="020B0609020204030204" pitchFamily="34" charset="0"/>
                <a:ea typeface="Consolas" panose="020B0609020204030204" pitchFamily="34" charset="-122"/>
                <a:cs typeface="Consolas" panose="020B0609020204030204" pitchFamily="34" charset="-120"/>
              </a:rPr>
              <a:t>"TMS": "Host=...;Password=real"</a:t>
            </a:r>
            <a:endParaRPr lang="en-US" sz="850" dirty="0"/>
          </a:p>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a:t>
            </a:r>
            <a:endParaRPr lang="en-US" sz="850" dirty="0"/>
          </a:p>
        </p:txBody>
      </p:sp>
      <p:sp>
        <p:nvSpPr>
          <p:cNvPr id="14" name="Text 12"/>
          <p:cNvSpPr/>
          <p:nvPr/>
        </p:nvSpPr>
        <p:spPr>
          <a:xfrm>
            <a:off x="201168" y="2670048"/>
            <a:ext cx="4187952" cy="713232"/>
          </a:xfrm>
          <a:prstGeom prst="rect">
            <a:avLst/>
          </a:prstGeom>
          <a:noFill/>
        </p:spPr>
        <p:txBody>
          <a:bodyPr wrap="square" lIns="0" tIns="0" rIns="0" bIns="0" rtlCol="0" anchor="t"/>
          <a:lstStyle/>
          <a:p>
            <a:pPr marL="0" indent="0" algn="l">
              <a:buNone/>
            </a:pPr>
            <a:r>
              <a:rPr lang="en-US" sz="950" dirty="0">
                <a:solidFill>
                  <a:srgbClr val="1E293B"/>
                </a:solidFill>
                <a:latin typeface="Calibri" panose="020F0502020204030204" pitchFamily="34" charset="0"/>
                <a:ea typeface="Calibri" panose="020F0502020204030204" pitchFamily="34" charset="-122"/>
                <a:cs typeface="Calibri" panose="020F0502020204030204" pitchFamily="34" charset="-120"/>
              </a:rPr>
              <a:t>Result: anyone with clone access has production credentials; scanners and forks multiply exposure.</a:t>
            </a:r>
            <a:endParaRPr lang="en-US" sz="950" dirty="0"/>
          </a:p>
        </p:txBody>
      </p:sp>
      <p:sp>
        <p:nvSpPr>
          <p:cNvPr id="15" name="Shape 13"/>
          <p:cNvSpPr/>
          <p:nvPr/>
        </p:nvSpPr>
        <p:spPr>
          <a:xfrm>
            <a:off x="4663440" y="1097280"/>
            <a:ext cx="4297680" cy="310896"/>
          </a:xfrm>
          <a:prstGeom prst="rect">
            <a:avLst/>
          </a:prstGeom>
          <a:solidFill>
            <a:srgbClr val="F59E0B"/>
          </a:solidFill>
          <a:ln w="12700">
            <a:solidFill>
              <a:srgbClr val="333333"/>
            </a:solidFill>
            <a:prstDash val="solid"/>
          </a:ln>
        </p:spPr>
      </p:sp>
      <p:sp>
        <p:nvSpPr>
          <p:cNvPr id="16" name="Text 14"/>
          <p:cNvSpPr/>
          <p:nvPr/>
        </p:nvSpPr>
        <p:spPr>
          <a:xfrm>
            <a:off x="4736592" y="1097280"/>
            <a:ext cx="4114800" cy="310896"/>
          </a:xfrm>
          <a:prstGeom prst="rect">
            <a:avLst/>
          </a:prstGeom>
          <a:noFill/>
        </p:spPr>
        <p:txBody>
          <a:bodyPr wrap="square" lIns="0" tIns="0" rIns="0" bIns="0" rtlCol="0" anchor="ctr"/>
          <a:lstStyle/>
          <a:p>
            <a:pPr marL="0" indent="0" algn="l">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Scenario 2  “structured” logging that is not</a:t>
            </a:r>
            <a:endParaRPr lang="en-US" sz="1050" dirty="0"/>
          </a:p>
        </p:txBody>
      </p:sp>
      <p:sp>
        <p:nvSpPr>
          <p:cNvPr id="17" name="Shape 15"/>
          <p:cNvSpPr/>
          <p:nvPr/>
        </p:nvSpPr>
        <p:spPr>
          <a:xfrm>
            <a:off x="4663440" y="1444752"/>
            <a:ext cx="4297680" cy="960120"/>
          </a:xfrm>
          <a:prstGeom prst="rect">
            <a:avLst/>
          </a:prstGeom>
          <a:solidFill>
            <a:srgbClr val="1E293B"/>
          </a:solidFill>
          <a:ln w="6350">
            <a:solidFill>
              <a:srgbClr val="334155"/>
            </a:solidFill>
            <a:prstDash val="solid"/>
          </a:ln>
          <a:effectLst>
            <a:outerShdw blurRad="101600" dist="38100" dir="8100000" algn="bl" rotWithShape="0">
              <a:srgbClr val="000000">
                <a:alpha val="12000"/>
              </a:srgbClr>
            </a:outerShdw>
          </a:effectLst>
        </p:spPr>
      </p:sp>
      <p:sp>
        <p:nvSpPr>
          <p:cNvPr id="18" name="Shape 16"/>
          <p:cNvSpPr/>
          <p:nvPr/>
        </p:nvSpPr>
        <p:spPr>
          <a:xfrm>
            <a:off x="4663440" y="1444752"/>
            <a:ext cx="4297680" cy="292608"/>
          </a:xfrm>
          <a:prstGeom prst="rect">
            <a:avLst/>
          </a:prstGeom>
          <a:solidFill>
            <a:srgbClr val="0F172A"/>
          </a:solidFill>
          <a:ln w="12700">
            <a:solidFill>
              <a:srgbClr val="334155"/>
            </a:solidFill>
            <a:prstDash val="solid"/>
          </a:ln>
        </p:spPr>
      </p:sp>
      <p:sp>
        <p:nvSpPr>
          <p:cNvPr id="19" name="Text 17"/>
          <p:cNvSpPr/>
          <p:nvPr/>
        </p:nvSpPr>
        <p:spPr>
          <a:xfrm>
            <a:off x="4773168" y="1444752"/>
            <a:ext cx="4078224" cy="292608"/>
          </a:xfrm>
          <a:prstGeom prst="rect">
            <a:avLst/>
          </a:prstGeom>
          <a:noFill/>
        </p:spPr>
        <p:txBody>
          <a:bodyPr wrap="square" lIns="0" tIns="0" rIns="0" bIns="0" rtlCol="0" anchor="ctr"/>
          <a:lstStyle/>
          <a:p>
            <a:pPr marL="0" indent="0" algn="l">
              <a:buNone/>
            </a:pPr>
            <a:r>
              <a:rPr lang="en-US" sz="850" dirty="0">
                <a:solidFill>
                  <a:srgbClr val="94A3B8"/>
                </a:solidFill>
                <a:latin typeface="Calibri" panose="020F0502020204030204" pitchFamily="34" charset="0"/>
                <a:ea typeface="Calibri" panose="020F0502020204030204" pitchFamily="34" charset="-122"/>
                <a:cs typeface="Calibri" panose="020F0502020204030204" pitchFamily="34" charset="-120"/>
              </a:rPr>
              <a:t>EnrollmentService</a:t>
            </a:r>
            <a:endParaRPr lang="en-US" sz="850" dirty="0"/>
          </a:p>
        </p:txBody>
      </p:sp>
      <p:sp>
        <p:nvSpPr>
          <p:cNvPr id="20" name="Text 18"/>
          <p:cNvSpPr/>
          <p:nvPr/>
        </p:nvSpPr>
        <p:spPr>
          <a:xfrm>
            <a:off x="4800600" y="1792224"/>
            <a:ext cx="4023360" cy="502920"/>
          </a:xfrm>
          <a:prstGeom prst="rect">
            <a:avLst/>
          </a:prstGeom>
          <a:noFill/>
        </p:spPr>
        <p:txBody>
          <a:bodyPr wrap="square" lIns="0" tIns="0" rIns="0" bIns="0" rtlCol="0" anchor="t"/>
          <a:lstStyle/>
          <a:p>
            <a:pPr marL="0" indent="0" algn="l">
              <a:buNone/>
            </a:pPr>
            <a:r>
              <a:rPr lang="en-US" sz="850" dirty="0">
                <a:solidFill>
                  <a:srgbClr val="FFFFFF"/>
                </a:solidFill>
                <a:latin typeface="Consolas" panose="020B0609020204030204" pitchFamily="34" charset="0"/>
                <a:ea typeface="Consolas" panose="020B0609020204030204" pitchFamily="34" charset="-122"/>
                <a:cs typeface="Consolas" panose="020B0609020204030204" pitchFamily="34" charset="-120"/>
              </a:rPr>
              <a:t>logger.LogInformation(</a:t>
            </a:r>
            <a:endParaRPr lang="en-US" sz="850" dirty="0"/>
          </a:p>
          <a:p>
            <a:pPr marL="0" indent="0" algn="l">
              <a:buNone/>
            </a:pPr>
            <a:r>
              <a:rPr lang="en-US" sz="850" dirty="0">
                <a:solidFill>
                  <a:srgbClr val="F87171"/>
                </a:solidFill>
                <a:latin typeface="Consolas" panose="020B0609020204030204" pitchFamily="34" charset="0"/>
                <a:ea typeface="Consolas" panose="020B0609020204030204" pitchFamily="34" charset="-122"/>
                <a:cs typeface="Consolas" panose="020B0609020204030204" pitchFamily="34" charset="-120"/>
              </a:rPr>
              <a:t>  $"</a:t>
            </a:r>
            <a:r>
              <a:rPr lang="en-US" sz="850" dirty="0">
                <a:solidFill>
                  <a:srgbClr val="F59E0B"/>
                </a:solidFill>
                <a:latin typeface="Consolas" panose="020B0609020204030204" pitchFamily="34" charset="0"/>
                <a:ea typeface="Consolas" panose="020B0609020204030204" pitchFamily="34" charset="-122"/>
                <a:cs typeface="Consolas" panose="020B0609020204030204" pitchFamily="34" charset="-120"/>
              </a:rPr>
              <a:t>Enrolled {studentId} in {course}</a:t>
            </a:r>
            <a:r>
              <a:rPr lang="en-US" sz="850" dirty="0">
                <a:solidFill>
                  <a:srgbClr val="F87171"/>
                </a:solidFill>
                <a:latin typeface="Consolas" panose="020B0609020204030204" pitchFamily="34" charset="0"/>
                <a:ea typeface="Consolas" panose="020B0609020204030204" pitchFamily="34" charset="-122"/>
                <a:cs typeface="Consolas" panose="020B0609020204030204" pitchFamily="34" charset="-120"/>
              </a:rPr>
              <a:t>"); </a:t>
            </a:r>
            <a:r>
              <a:rPr lang="en-US" sz="850" dirty="0">
                <a:solidFill>
                  <a:srgbClr val="94A3B8"/>
                </a:solidFill>
                <a:latin typeface="Consolas" panose="020B0609020204030204" pitchFamily="34" charset="0"/>
                <a:ea typeface="Consolas" panose="020B0609020204030204" pitchFamily="34" charset="-122"/>
                <a:cs typeface="Consolas" panose="020B0609020204030204" pitchFamily="34" charset="-120"/>
              </a:rPr>
              <a:t>// one string blob</a:t>
            </a:r>
            <a:endParaRPr lang="en-US" sz="850" dirty="0"/>
          </a:p>
        </p:txBody>
      </p:sp>
      <p:sp>
        <p:nvSpPr>
          <p:cNvPr id="21" name="Text 19"/>
          <p:cNvSpPr/>
          <p:nvPr/>
        </p:nvSpPr>
        <p:spPr>
          <a:xfrm>
            <a:off x="4681728" y="2487168"/>
            <a:ext cx="4187952" cy="914400"/>
          </a:xfrm>
          <a:prstGeom prst="rect">
            <a:avLst/>
          </a:prstGeom>
          <a:noFill/>
        </p:spPr>
        <p:txBody>
          <a:bodyPr wrap="square" lIns="0" tIns="0" rIns="0" bIns="0" rtlCol="0" anchor="t"/>
          <a:lstStyle/>
          <a:p>
            <a:pPr marL="0" indent="0" algn="l">
              <a:buNone/>
            </a:pPr>
            <a:r>
              <a:rPr lang="en-US" sz="950" dirty="0">
                <a:solidFill>
                  <a:srgbClr val="1E293B"/>
                </a:solidFill>
                <a:latin typeface="Calibri" panose="020F0502020204030204" pitchFamily="34" charset="0"/>
                <a:ea typeface="Calibri" panose="020F0502020204030204" pitchFamily="34" charset="-122"/>
                <a:cs typeface="Calibri" panose="020F0502020204030204" pitchFamily="34" charset="-120"/>
              </a:rPr>
              <a:t>Result: Seq/App Insights cannot index StudentId / CourseCode as separate fields  you are back to substring search and false positives.</a:t>
            </a:r>
            <a:endParaRPr lang="en-US" sz="950" dirty="0"/>
          </a:p>
        </p:txBody>
      </p:sp>
      <p:sp>
        <p:nvSpPr>
          <p:cNvPr id="22" name="Shape 20"/>
          <p:cNvSpPr/>
          <p:nvPr/>
        </p:nvSpPr>
        <p:spPr>
          <a:xfrm>
            <a:off x="182880" y="3547872"/>
            <a:ext cx="8778240" cy="868680"/>
          </a:xfrm>
          <a:prstGeom prst="rect">
            <a:avLst/>
          </a:prstGeom>
          <a:solidFill>
            <a:srgbClr val="F0FDFA"/>
          </a:solidFill>
          <a:ln w="12700">
            <a:solidFill>
              <a:srgbClr val="0D9488"/>
            </a:solidFill>
            <a:prstDash val="solid"/>
          </a:ln>
        </p:spPr>
      </p:sp>
      <p:sp>
        <p:nvSpPr>
          <p:cNvPr id="23" name="Shape 21"/>
          <p:cNvSpPr/>
          <p:nvPr/>
        </p:nvSpPr>
        <p:spPr>
          <a:xfrm>
            <a:off x="182880" y="3547872"/>
            <a:ext cx="54864" cy="868680"/>
          </a:xfrm>
          <a:prstGeom prst="rect">
            <a:avLst/>
          </a:prstGeom>
          <a:solidFill>
            <a:srgbClr val="0D9488"/>
          </a:solidFill>
          <a:ln w="12700">
            <a:solidFill>
              <a:srgbClr val="0D9488"/>
            </a:solidFill>
            <a:prstDash val="solid"/>
          </a:ln>
        </p:spPr>
      </p:sp>
      <p:sp>
        <p:nvSpPr>
          <p:cNvPr id="24" name="Text 22"/>
          <p:cNvSpPr/>
          <p:nvPr/>
        </p:nvSpPr>
        <p:spPr>
          <a:xfrm>
            <a:off x="365760" y="3639312"/>
            <a:ext cx="8503920" cy="274320"/>
          </a:xfrm>
          <a:prstGeom prst="rect">
            <a:avLst/>
          </a:prstGeom>
          <a:noFill/>
        </p:spPr>
        <p:txBody>
          <a:bodyPr wrap="square" lIns="0" tIns="0" rIns="0" bIns="0" rtlCol="0" anchor="ctr"/>
          <a:lstStyle/>
          <a:p>
            <a:pPr marL="0" indent="0" algn="l">
              <a:buNone/>
            </a:pPr>
            <a:r>
              <a:rPr lang="en-US" sz="1000" b="1" dirty="0">
                <a:solidFill>
                  <a:srgbClr val="0D9488"/>
                </a:solidFill>
                <a:latin typeface="Calibri" panose="020F0502020204030204" pitchFamily="34" charset="0"/>
                <a:ea typeface="Calibri" panose="020F0502020204030204" pitchFamily="34" charset="-122"/>
                <a:cs typeface="Calibri" panose="020F0502020204030204" pitchFamily="34" charset="-120"/>
              </a:rPr>
              <a:t>Contrast with slides 3–7</a:t>
            </a:r>
            <a:endParaRPr lang="en-US" sz="1000" dirty="0"/>
          </a:p>
        </p:txBody>
      </p:sp>
      <p:sp>
        <p:nvSpPr>
          <p:cNvPr id="25" name="Text 23"/>
          <p:cNvSpPr/>
          <p:nvPr/>
        </p:nvSpPr>
        <p:spPr>
          <a:xfrm>
            <a:off x="365760" y="3931920"/>
            <a:ext cx="8503920" cy="365760"/>
          </a:xfrm>
          <a:prstGeom prst="rect">
            <a:avLst/>
          </a:prstGeom>
          <a:noFill/>
        </p:spPr>
        <p:txBody>
          <a:bodyPr wrap="square" lIns="0" tIns="0" rIns="0" bIns="0" rtlCol="0" anchor="t"/>
          <a:lstStyle/>
          <a:p>
            <a:pPr marL="0" indent="0" algn="l">
              <a:buNone/>
            </a:pPr>
            <a:r>
              <a:rPr lang="en-US" sz="1000" dirty="0">
                <a:solidFill>
                  <a:srgbClr val="1E293B"/>
                </a:solidFill>
                <a:latin typeface="Calibri" panose="020F0502020204030204" pitchFamily="34" charset="0"/>
                <a:ea typeface="Calibri" panose="020F0502020204030204" pitchFamily="34" charset="-122"/>
                <a:cs typeface="Calibri" panose="020F0502020204030204" pitchFamily="34" charset="-120"/>
              </a:rPr>
              <a:t>Secrets via env/vault + user-secrets in dev; Options + ValidateOnStart; template logging with explicit property names; correlation scope for one request’s trail.</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7C3AED"/>
          </a:solidFill>
          <a:ln w="12700">
            <a:solidFill>
              <a:srgbClr val="7C3AED"/>
            </a:solidFill>
            <a:prstDash val="solid"/>
          </a:ln>
        </p:spPr>
      </p:sp>
      <p:sp>
        <p:nvSpPr>
          <p:cNvPr id="3" name="Shape 1"/>
          <p:cNvSpPr/>
          <p:nvPr/>
        </p:nvSpPr>
        <p:spPr>
          <a:xfrm>
            <a:off x="0" y="5052060"/>
            <a:ext cx="9144000" cy="91440"/>
          </a:xfrm>
          <a:prstGeom prst="rect">
            <a:avLst/>
          </a:prstGeom>
          <a:solidFill>
            <a:srgbClr val="0EA5E9"/>
          </a:solidFill>
          <a:ln w="12700">
            <a:solidFill>
              <a:srgbClr val="0EA5E9"/>
            </a:solidFill>
            <a:prstDash val="solid"/>
          </a:ln>
        </p:spPr>
      </p:sp>
      <p:sp>
        <p:nvSpPr>
          <p:cNvPr id="4" name="Text 2"/>
          <p:cNvSpPr/>
          <p:nvPr/>
        </p:nvSpPr>
        <p:spPr>
          <a:xfrm>
            <a:off x="457200" y="457200"/>
            <a:ext cx="1828800" cy="411480"/>
          </a:xfrm>
          <a:prstGeom prst="rect">
            <a:avLst/>
          </a:prstGeom>
          <a:noFill/>
        </p:spPr>
        <p:txBody>
          <a:bodyPr wrap="square" lIns="0" tIns="0" rIns="0" bIns="0" rtlCol="0" anchor="ctr"/>
          <a:lstStyle/>
          <a:p>
            <a:pPr marL="0" indent="0" algn="l">
              <a:buNone/>
            </a:pPr>
            <a:r>
              <a:rPr lang="en-US" sz="1300" kern="0" spc="300" dirty="0">
                <a:solidFill>
                  <a:srgbClr val="C4B5FD"/>
                </a:solidFill>
                <a:latin typeface="Calibri" panose="020F0502020204030204" pitchFamily="34" charset="0"/>
                <a:ea typeface="Calibri" panose="020F0502020204030204" pitchFamily="34" charset="-122"/>
                <a:cs typeface="Calibri" panose="020F0502020204030204" pitchFamily="34" charset="-120"/>
              </a:rPr>
              <a:t>Lab 3</a:t>
            </a:r>
            <a:endParaRPr lang="en-US" sz="1300" dirty="0"/>
          </a:p>
        </p:txBody>
      </p:sp>
      <p:sp>
        <p:nvSpPr>
          <p:cNvPr id="5" name="Text 3"/>
          <p:cNvSpPr/>
          <p:nvPr/>
        </p:nvSpPr>
        <p:spPr>
          <a:xfrm>
            <a:off x="457200" y="868680"/>
            <a:ext cx="7315200" cy="841248"/>
          </a:xfrm>
          <a:prstGeom prst="rect">
            <a:avLst/>
          </a:prstGeom>
          <a:noFill/>
        </p:spPr>
        <p:txBody>
          <a:bodyPr wrap="square" lIns="0" tIns="0" rIns="0" bIns="0" rtlCol="0" anchor="ctr"/>
          <a:lstStyle/>
          <a:p>
            <a:pPr marL="0" indent="0" algn="l">
              <a:buNone/>
            </a:pPr>
            <a:r>
              <a:rPr lang="en-US" sz="4000" b="1" dirty="0">
                <a:solidFill>
                  <a:srgbClr val="FFFFFF"/>
                </a:solidFill>
                <a:latin typeface="Calibri" panose="020F0502020204030204" pitchFamily="34" charset="0"/>
                <a:ea typeface="Calibri" panose="020F0502020204030204" pitchFamily="34" charset="-122"/>
                <a:cs typeface="Calibri" panose="020F0502020204030204" pitchFamily="34" charset="-120"/>
              </a:rPr>
              <a:t>Options, Logging &amp; TMS</a:t>
            </a:r>
            <a:endParaRPr lang="en-US" sz="4000" dirty="0"/>
          </a:p>
        </p:txBody>
      </p:sp>
      <p:sp>
        <p:nvSpPr>
          <p:cNvPr id="6" name="Text 4"/>
          <p:cNvSpPr/>
          <p:nvPr/>
        </p:nvSpPr>
        <p:spPr>
          <a:xfrm>
            <a:off x="457200" y="1783080"/>
            <a:ext cx="7498080" cy="384048"/>
          </a:xfrm>
          <a:prstGeom prst="rect">
            <a:avLst/>
          </a:prstGeom>
          <a:noFill/>
        </p:spPr>
        <p:txBody>
          <a:bodyPr wrap="square" lIns="0" tIns="0" rIns="0" bIns="0" rtlCol="0" anchor="ctr"/>
          <a:lstStyle/>
          <a:p>
            <a:pPr marL="0" indent="0" algn="l">
              <a:buNone/>
            </a:pPr>
            <a:r>
              <a:rPr lang="en-US" sz="1500" dirty="0">
                <a:solidFill>
                  <a:srgbClr val="93C5FD"/>
                </a:solidFill>
                <a:latin typeface="Calibri" panose="020F0502020204030204" pitchFamily="34" charset="0"/>
                <a:ea typeface="Calibri" panose="020F0502020204030204" pitchFamily="34" charset="-122"/>
                <a:cs typeface="Calibri" panose="020F0502020204030204" pitchFamily="34" charset="-120"/>
              </a:rPr>
              <a:t>Exercises 3, 4, and 5  workbook is source of truth</a:t>
            </a:r>
            <a:endParaRPr lang="en-US" sz="1500" dirty="0"/>
          </a:p>
        </p:txBody>
      </p:sp>
      <p:sp>
        <p:nvSpPr>
          <p:cNvPr id="7" name="Shape 5"/>
          <p:cNvSpPr/>
          <p:nvPr/>
        </p:nvSpPr>
        <p:spPr>
          <a:xfrm>
            <a:off x="457200" y="2267712"/>
            <a:ext cx="4114800" cy="0"/>
          </a:xfrm>
          <a:prstGeom prst="line">
            <a:avLst/>
          </a:prstGeom>
          <a:noFill/>
          <a:ln w="12700">
            <a:solidFill>
              <a:srgbClr val="7C3AED"/>
            </a:solidFill>
            <a:prstDash val="solid"/>
          </a:ln>
        </p:spPr>
      </p:sp>
      <p:sp>
        <p:nvSpPr>
          <p:cNvPr id="8" name="Shape 6"/>
          <p:cNvSpPr/>
          <p:nvPr/>
        </p:nvSpPr>
        <p:spPr>
          <a:xfrm>
            <a:off x="457200" y="2514600"/>
            <a:ext cx="274320" cy="274320"/>
          </a:xfrm>
          <a:prstGeom prst="ellipse">
            <a:avLst/>
          </a:prstGeom>
          <a:solidFill>
            <a:srgbClr val="7C3AED"/>
          </a:solidFill>
          <a:ln w="12700">
            <a:solidFill>
              <a:srgbClr val="333333"/>
            </a:solidFill>
            <a:prstDash val="solid"/>
          </a:ln>
        </p:spPr>
      </p:sp>
      <p:sp>
        <p:nvSpPr>
          <p:cNvPr id="9" name="Text 7"/>
          <p:cNvSpPr/>
          <p:nvPr/>
        </p:nvSpPr>
        <p:spPr>
          <a:xfrm>
            <a:off x="457200" y="2514600"/>
            <a:ext cx="274320" cy="274320"/>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000" dirty="0"/>
          </a:p>
        </p:txBody>
      </p:sp>
      <p:sp>
        <p:nvSpPr>
          <p:cNvPr id="10" name="Text 8"/>
          <p:cNvSpPr/>
          <p:nvPr/>
        </p:nvSpPr>
        <p:spPr>
          <a:xfrm>
            <a:off x="868680" y="2514600"/>
            <a:ext cx="7818120" cy="384048"/>
          </a:xfrm>
          <a:prstGeom prst="rect">
            <a:avLst/>
          </a:prstGeom>
          <a:noFill/>
        </p:spPr>
        <p:txBody>
          <a:bodyPr wrap="square" lIns="0" tIns="0" rIns="0" bIns="0" rtlCol="0" anchor="ctr"/>
          <a:lstStyle/>
          <a:p>
            <a:pPr marL="0" indent="0" algn="l">
              <a:buNone/>
            </a:pPr>
            <a:r>
              <a:rPr lang="en-US" sz="1250" dirty="0">
                <a:solidFill>
                  <a:srgbClr val="CBD5E1"/>
                </a:solidFill>
                <a:latin typeface="Calibri" panose="020F0502020204030204" pitchFamily="34" charset="0"/>
                <a:ea typeface="Calibri" panose="020F0502020204030204" pitchFamily="34" charset="-122"/>
                <a:cs typeface="Calibri" panose="020F0502020204030204" pitchFamily="34" charset="-120"/>
              </a:rPr>
              <a:t>M4-Session-3-Presentation.md  Lab handoff Session 3</a:t>
            </a:r>
            <a:endParaRPr lang="en-US" sz="1250" dirty="0"/>
          </a:p>
        </p:txBody>
      </p:sp>
      <p:sp>
        <p:nvSpPr>
          <p:cNvPr id="11" name="Shape 9"/>
          <p:cNvSpPr/>
          <p:nvPr/>
        </p:nvSpPr>
        <p:spPr>
          <a:xfrm>
            <a:off x="457200" y="3044952"/>
            <a:ext cx="274320" cy="274320"/>
          </a:xfrm>
          <a:prstGeom prst="ellipse">
            <a:avLst/>
          </a:prstGeom>
          <a:solidFill>
            <a:srgbClr val="7C3AED"/>
          </a:solidFill>
          <a:ln w="12700">
            <a:solidFill>
              <a:srgbClr val="333333"/>
            </a:solidFill>
            <a:prstDash val="solid"/>
          </a:ln>
        </p:spPr>
      </p:sp>
      <p:sp>
        <p:nvSpPr>
          <p:cNvPr id="12" name="Text 10"/>
          <p:cNvSpPr/>
          <p:nvPr/>
        </p:nvSpPr>
        <p:spPr>
          <a:xfrm>
            <a:off x="457200" y="3044952"/>
            <a:ext cx="274320" cy="274320"/>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000" dirty="0"/>
          </a:p>
        </p:txBody>
      </p:sp>
      <p:sp>
        <p:nvSpPr>
          <p:cNvPr id="13" name="Text 11"/>
          <p:cNvSpPr/>
          <p:nvPr/>
        </p:nvSpPr>
        <p:spPr>
          <a:xfrm>
            <a:off x="868680" y="3044952"/>
            <a:ext cx="7818120" cy="384048"/>
          </a:xfrm>
          <a:prstGeom prst="rect">
            <a:avLst/>
          </a:prstGeom>
          <a:noFill/>
        </p:spPr>
        <p:txBody>
          <a:bodyPr wrap="square" lIns="0" tIns="0" rIns="0" bIns="0" rtlCol="0" anchor="ctr"/>
          <a:lstStyle/>
          <a:p>
            <a:pPr marL="0" indent="0" algn="l">
              <a:buNone/>
            </a:pPr>
            <a:r>
              <a:rPr lang="en-US" sz="1250" dirty="0">
                <a:solidFill>
                  <a:srgbClr val="CBD5E1"/>
                </a:solidFill>
                <a:latin typeface="Calibri" panose="020F0502020204030204" pitchFamily="34" charset="0"/>
                <a:ea typeface="Calibri" panose="020F0502020204030204" pitchFamily="34" charset="-122"/>
                <a:cs typeface="Calibri" panose="020F0502020204030204" pitchFamily="34" charset="-120"/>
              </a:rPr>
              <a:t>M4-Lab-Workbook.md  Exercise 3, Exercise 4, Exercise 5 (full steps)</a:t>
            </a:r>
            <a:endParaRPr lang="en-US" sz="1250" dirty="0"/>
          </a:p>
        </p:txBody>
      </p:sp>
      <p:sp>
        <p:nvSpPr>
          <p:cNvPr id="14" name="Shape 12"/>
          <p:cNvSpPr/>
          <p:nvPr/>
        </p:nvSpPr>
        <p:spPr>
          <a:xfrm>
            <a:off x="457200" y="3575304"/>
            <a:ext cx="274320" cy="274320"/>
          </a:xfrm>
          <a:prstGeom prst="ellipse">
            <a:avLst/>
          </a:prstGeom>
          <a:solidFill>
            <a:srgbClr val="7C3AED"/>
          </a:solidFill>
          <a:ln w="12700">
            <a:solidFill>
              <a:srgbClr val="333333"/>
            </a:solidFill>
            <a:prstDash val="solid"/>
          </a:ln>
        </p:spPr>
      </p:sp>
      <p:sp>
        <p:nvSpPr>
          <p:cNvPr id="15" name="Text 13"/>
          <p:cNvSpPr/>
          <p:nvPr/>
        </p:nvSpPr>
        <p:spPr>
          <a:xfrm>
            <a:off x="457200" y="3575304"/>
            <a:ext cx="274320" cy="274320"/>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000" dirty="0"/>
          </a:p>
        </p:txBody>
      </p:sp>
      <p:sp>
        <p:nvSpPr>
          <p:cNvPr id="16" name="Text 14"/>
          <p:cNvSpPr/>
          <p:nvPr/>
        </p:nvSpPr>
        <p:spPr>
          <a:xfrm>
            <a:off x="868680" y="3575304"/>
            <a:ext cx="7818120" cy="384048"/>
          </a:xfrm>
          <a:prstGeom prst="rect">
            <a:avLst/>
          </a:prstGeom>
          <a:noFill/>
        </p:spPr>
        <p:txBody>
          <a:bodyPr wrap="square" lIns="0" tIns="0" rIns="0" bIns="0" rtlCol="0" anchor="ctr"/>
          <a:lstStyle/>
          <a:p>
            <a:pPr marL="0" indent="0" algn="l">
              <a:buNone/>
            </a:pPr>
            <a:r>
              <a:rPr lang="en-US" sz="1250" dirty="0">
                <a:solidFill>
                  <a:srgbClr val="CBD5E1"/>
                </a:solidFill>
                <a:latin typeface="Calibri" panose="020F0502020204030204" pitchFamily="34" charset="0"/>
                <a:ea typeface="Calibri" panose="020F0502020204030204" pitchFamily="34" charset="-122"/>
                <a:cs typeface="Calibri" panose="020F0502020204030204" pitchFamily="34" charset="-120"/>
              </a:rPr>
              <a:t>Confirm options + logging checkpoint before Session 4 capstone prep</a:t>
            </a:r>
            <a:endParaRPr lang="en-US" sz="1250" dirty="0"/>
          </a:p>
        </p:txBody>
      </p:sp>
      <p:sp>
        <p:nvSpPr>
          <p:cNvPr id="17" name="Shape 15"/>
          <p:cNvSpPr/>
          <p:nvPr/>
        </p:nvSpPr>
        <p:spPr>
          <a:xfrm>
            <a:off x="457200" y="4343400"/>
            <a:ext cx="6400800" cy="438912"/>
          </a:xfrm>
          <a:prstGeom prst="rect">
            <a:avLst/>
          </a:prstGeom>
          <a:solidFill>
            <a:srgbClr val="0D1B36"/>
          </a:solidFill>
          <a:ln w="12700">
            <a:solidFill>
              <a:srgbClr val="0EA5E9"/>
            </a:solidFill>
            <a:prstDash val="solid"/>
          </a:ln>
        </p:spPr>
      </p:sp>
      <p:sp>
        <p:nvSpPr>
          <p:cNvPr id="18" name="Text 16"/>
          <p:cNvSpPr/>
          <p:nvPr/>
        </p:nvSpPr>
        <p:spPr>
          <a:xfrm>
            <a:off x="457200" y="4343400"/>
            <a:ext cx="6400800" cy="438912"/>
          </a:xfrm>
          <a:prstGeom prst="rect">
            <a:avLst/>
          </a:prstGeom>
          <a:noFill/>
        </p:spPr>
        <p:txBody>
          <a:bodyPr wrap="square" lIns="0" tIns="0" rIns="0" bIns="0" rtlCol="0" anchor="ctr"/>
          <a:lstStyle/>
          <a:p>
            <a:pPr marL="0" indent="0" algn="ctr">
              <a:buNone/>
            </a:pPr>
            <a:r>
              <a:rPr lang="en-US" sz="1000" dirty="0">
                <a:solidFill>
                  <a:srgbClr val="0EA5E9"/>
                </a:solidFill>
                <a:latin typeface="Calibri" panose="020F0502020204030204" pitchFamily="34" charset="0"/>
                <a:ea typeface="Calibri" panose="020F0502020204030204" pitchFamily="34" charset="-122"/>
                <a:cs typeface="Calibri" panose="020F0502020204030204" pitchFamily="34" charset="-120"/>
              </a:rPr>
              <a:t>This deck stays concept-first  execution lives in labs deck + workbook</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C3AED"/>
          </a:solidFill>
          <a:ln w="12700">
            <a:solidFill>
              <a:srgbClr val="7C3AED"/>
            </a:solidFill>
            <a:prstDash val="solid"/>
          </a:ln>
        </p:spPr>
      </p:sp>
      <p:sp>
        <p:nvSpPr>
          <p:cNvPr id="3" name="Shape 1"/>
          <p:cNvSpPr/>
          <p:nvPr/>
        </p:nvSpPr>
        <p:spPr>
          <a:xfrm>
            <a:off x="73152" y="0"/>
            <a:ext cx="9070848" cy="749808"/>
          </a:xfrm>
          <a:prstGeom prst="rect">
            <a:avLst/>
          </a:prstGeom>
          <a:solidFill>
            <a:srgbClr val="F8FAFC"/>
          </a:solidFill>
          <a:ln w="6350">
            <a:solidFill>
              <a:srgbClr val="E2E8F0"/>
            </a:solidFill>
            <a:prstDash val="solid"/>
          </a:ln>
        </p:spPr>
      </p:sp>
      <p:sp>
        <p:nvSpPr>
          <p:cNvPr id="4" name="Shape 2"/>
          <p:cNvSpPr/>
          <p:nvPr/>
        </p:nvSpPr>
        <p:spPr>
          <a:xfrm>
            <a:off x="73152" y="749808"/>
            <a:ext cx="9070848" cy="36576"/>
          </a:xfrm>
          <a:prstGeom prst="rect">
            <a:avLst/>
          </a:prstGeom>
          <a:solidFill>
            <a:srgbClr val="7C3AED"/>
          </a:solidFill>
          <a:ln w="12700">
            <a:solidFill>
              <a:srgbClr val="7C3AED"/>
            </a:solidFill>
            <a:prstDash val="solid"/>
          </a:ln>
        </p:spPr>
      </p:sp>
      <p:sp>
        <p:nvSpPr>
          <p:cNvPr id="5" name="Text 3"/>
          <p:cNvSpPr/>
          <p:nvPr/>
        </p:nvSpPr>
        <p:spPr>
          <a:xfrm>
            <a:off x="228600" y="91440"/>
            <a:ext cx="7132320" cy="566928"/>
          </a:xfrm>
          <a:prstGeom prst="rect">
            <a:avLst/>
          </a:prstGeom>
          <a:noFill/>
        </p:spPr>
        <p:txBody>
          <a:bodyPr wrap="square" lIns="0" tIns="0" rIns="0" bIns="0" rtlCol="0" anchor="ctr"/>
          <a:lstStyle/>
          <a:p>
            <a:pPr marL="0" indent="0" algn="l">
              <a:buNone/>
            </a:pPr>
            <a:r>
              <a:rPr lang="en-US" sz="2100" b="1" dirty="0">
                <a:solidFill>
                  <a:srgbClr val="1E293B"/>
                </a:solidFill>
                <a:latin typeface="Calibri" panose="020F0502020204030204" pitchFamily="34" charset="0"/>
                <a:ea typeface="Calibri" panose="020F0502020204030204" pitchFamily="34" charset="-122"/>
                <a:cs typeface="Calibri" panose="020F0502020204030204" pitchFamily="34" charset="-120"/>
              </a:rPr>
              <a:t>Session 3 Summary  What You Learned</a:t>
            </a:r>
            <a:endParaRPr lang="en-US" sz="2100" dirty="0"/>
          </a:p>
        </p:txBody>
      </p:sp>
      <p:sp>
        <p:nvSpPr>
          <p:cNvPr id="6" name="Shape 4"/>
          <p:cNvSpPr/>
          <p:nvPr/>
        </p:nvSpPr>
        <p:spPr>
          <a:xfrm>
            <a:off x="137160" y="786384"/>
            <a:ext cx="8869680" cy="0"/>
          </a:xfrm>
          <a:prstGeom prst="line">
            <a:avLst/>
          </a:prstGeom>
          <a:noFill/>
          <a:ln w="6350">
            <a:solidFill>
              <a:srgbClr val="E2E8F0"/>
            </a:solidFill>
            <a:prstDash val="solid"/>
          </a:ln>
        </p:spPr>
      </p:sp>
      <p:sp>
        <p:nvSpPr>
          <p:cNvPr id="7" name="Shape 5"/>
          <p:cNvSpPr/>
          <p:nvPr/>
        </p:nvSpPr>
        <p:spPr>
          <a:xfrm>
            <a:off x="182880" y="914400"/>
            <a:ext cx="8778240" cy="603504"/>
          </a:xfrm>
          <a:prstGeom prst="rect">
            <a:avLst/>
          </a:prstGeom>
          <a:solidFill>
            <a:srgbClr val="F8FAFC"/>
          </a:solidFill>
          <a:ln w="6350">
            <a:solidFill>
              <a:srgbClr val="E2E8F0"/>
            </a:solidFill>
            <a:prstDash val="solid"/>
          </a:ln>
        </p:spPr>
      </p:sp>
      <p:sp>
        <p:nvSpPr>
          <p:cNvPr id="8" name="Shape 6"/>
          <p:cNvSpPr/>
          <p:nvPr/>
        </p:nvSpPr>
        <p:spPr>
          <a:xfrm>
            <a:off x="182880" y="914400"/>
            <a:ext cx="54864" cy="603504"/>
          </a:xfrm>
          <a:prstGeom prst="rect">
            <a:avLst/>
          </a:prstGeom>
          <a:solidFill>
            <a:srgbClr val="7C3AED"/>
          </a:solidFill>
          <a:ln w="12700">
            <a:solidFill>
              <a:srgbClr val="7C3AED"/>
            </a:solidFill>
            <a:prstDash val="solid"/>
          </a:ln>
        </p:spPr>
      </p:sp>
      <p:sp>
        <p:nvSpPr>
          <p:cNvPr id="9" name="Text 7"/>
          <p:cNvSpPr/>
          <p:nvPr/>
        </p:nvSpPr>
        <p:spPr>
          <a:xfrm>
            <a:off x="347472" y="987552"/>
            <a:ext cx="2514600" cy="274320"/>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Configuration hierarchy</a:t>
            </a:r>
            <a:endParaRPr lang="en-US" sz="1150" dirty="0"/>
          </a:p>
        </p:txBody>
      </p:sp>
      <p:sp>
        <p:nvSpPr>
          <p:cNvPr id="10" name="Text 8"/>
          <p:cNvSpPr/>
          <p:nvPr/>
        </p:nvSpPr>
        <p:spPr>
          <a:xfrm>
            <a:off x="2971800" y="987552"/>
            <a:ext cx="5897880" cy="457200"/>
          </a:xfrm>
          <a:prstGeom prst="rect">
            <a:avLst/>
          </a:prstGeom>
          <a:noFill/>
        </p:spPr>
        <p:txBody>
          <a:bodyPr wrap="square" lIns="0" tIns="0" rIns="0" bIns="0" rtlCol="0" anchor="ctr"/>
          <a:lstStyle/>
          <a:p>
            <a:pPr marL="0" indent="0" algn="l">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Later sources override earlier  env beats files; never commit secrets.</a:t>
            </a:r>
            <a:endParaRPr lang="en-US" sz="1050" dirty="0"/>
          </a:p>
        </p:txBody>
      </p:sp>
      <p:sp>
        <p:nvSpPr>
          <p:cNvPr id="11" name="Shape 9"/>
          <p:cNvSpPr/>
          <p:nvPr/>
        </p:nvSpPr>
        <p:spPr>
          <a:xfrm>
            <a:off x="182880" y="1591056"/>
            <a:ext cx="8778240" cy="603504"/>
          </a:xfrm>
          <a:prstGeom prst="rect">
            <a:avLst/>
          </a:prstGeom>
          <a:solidFill>
            <a:srgbClr val="F8FAFC"/>
          </a:solidFill>
          <a:ln w="6350">
            <a:solidFill>
              <a:srgbClr val="E2E8F0"/>
            </a:solidFill>
            <a:prstDash val="solid"/>
          </a:ln>
        </p:spPr>
      </p:sp>
      <p:sp>
        <p:nvSpPr>
          <p:cNvPr id="12" name="Shape 10"/>
          <p:cNvSpPr/>
          <p:nvPr/>
        </p:nvSpPr>
        <p:spPr>
          <a:xfrm>
            <a:off x="182880" y="1591056"/>
            <a:ext cx="54864" cy="603504"/>
          </a:xfrm>
          <a:prstGeom prst="rect">
            <a:avLst/>
          </a:prstGeom>
          <a:solidFill>
            <a:srgbClr val="0EA5E9"/>
          </a:solidFill>
          <a:ln w="12700">
            <a:solidFill>
              <a:srgbClr val="0EA5E9"/>
            </a:solidFill>
            <a:prstDash val="solid"/>
          </a:ln>
        </p:spPr>
      </p:sp>
      <p:sp>
        <p:nvSpPr>
          <p:cNvPr id="13" name="Text 11"/>
          <p:cNvSpPr/>
          <p:nvPr/>
        </p:nvSpPr>
        <p:spPr>
          <a:xfrm>
            <a:off x="347472" y="1664208"/>
            <a:ext cx="2514600" cy="274320"/>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Options pattern</a:t>
            </a:r>
            <a:endParaRPr lang="en-US" sz="1150" dirty="0"/>
          </a:p>
        </p:txBody>
      </p:sp>
      <p:sp>
        <p:nvSpPr>
          <p:cNvPr id="14" name="Text 12"/>
          <p:cNvSpPr/>
          <p:nvPr/>
        </p:nvSpPr>
        <p:spPr>
          <a:xfrm>
            <a:off x="2971800" y="1664208"/>
            <a:ext cx="5897880" cy="457200"/>
          </a:xfrm>
          <a:prstGeom prst="rect">
            <a:avLst/>
          </a:prstGeom>
          <a:noFill/>
        </p:spPr>
        <p:txBody>
          <a:bodyPr wrap="square" lIns="0" tIns="0" rIns="0" bIns="0" rtlCol="0" anchor="ctr"/>
          <a:lstStyle/>
          <a:p>
            <a:pPr marL="0" indent="0" algn="l">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Typed sections, BindConfiguration, annotations  compile-time shape for TMS settings.</a:t>
            </a:r>
            <a:endParaRPr lang="en-US" sz="1050" dirty="0"/>
          </a:p>
        </p:txBody>
      </p:sp>
      <p:sp>
        <p:nvSpPr>
          <p:cNvPr id="15" name="Shape 13"/>
          <p:cNvSpPr/>
          <p:nvPr/>
        </p:nvSpPr>
        <p:spPr>
          <a:xfrm>
            <a:off x="182880" y="2267712"/>
            <a:ext cx="8778240" cy="603504"/>
          </a:xfrm>
          <a:prstGeom prst="rect">
            <a:avLst/>
          </a:prstGeom>
          <a:solidFill>
            <a:srgbClr val="F8FAFC"/>
          </a:solidFill>
          <a:ln w="6350">
            <a:solidFill>
              <a:srgbClr val="E2E8F0"/>
            </a:solidFill>
            <a:prstDash val="solid"/>
          </a:ln>
        </p:spPr>
      </p:sp>
      <p:sp>
        <p:nvSpPr>
          <p:cNvPr id="16" name="Shape 14"/>
          <p:cNvSpPr/>
          <p:nvPr/>
        </p:nvSpPr>
        <p:spPr>
          <a:xfrm>
            <a:off x="182880" y="2267712"/>
            <a:ext cx="54864" cy="603504"/>
          </a:xfrm>
          <a:prstGeom prst="rect">
            <a:avLst/>
          </a:prstGeom>
          <a:solidFill>
            <a:srgbClr val="0D9488"/>
          </a:solidFill>
          <a:ln w="12700">
            <a:solidFill>
              <a:srgbClr val="0D9488"/>
            </a:solidFill>
            <a:prstDash val="solid"/>
          </a:ln>
        </p:spPr>
      </p:sp>
      <p:sp>
        <p:nvSpPr>
          <p:cNvPr id="17" name="Text 15"/>
          <p:cNvSpPr/>
          <p:nvPr/>
        </p:nvSpPr>
        <p:spPr>
          <a:xfrm>
            <a:off x="347472" y="2340864"/>
            <a:ext cx="2514600" cy="274320"/>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ValidateOnStart()</a:t>
            </a:r>
            <a:endParaRPr lang="en-US" sz="1150" dirty="0"/>
          </a:p>
        </p:txBody>
      </p:sp>
      <p:sp>
        <p:nvSpPr>
          <p:cNvPr id="18" name="Text 16"/>
          <p:cNvSpPr/>
          <p:nvPr/>
        </p:nvSpPr>
        <p:spPr>
          <a:xfrm>
            <a:off x="2971800" y="2340864"/>
            <a:ext cx="5897880" cy="457200"/>
          </a:xfrm>
          <a:prstGeom prst="rect">
            <a:avLst/>
          </a:prstGeom>
          <a:noFill/>
        </p:spPr>
        <p:txBody>
          <a:bodyPr wrap="square" lIns="0" tIns="0" rIns="0" bIns="0" rtlCol="0" anchor="ctr"/>
          <a:lstStyle/>
          <a:p>
            <a:pPr marL="0" indent="0" algn="l">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Invalid or missing config fails process start  not first user action.</a:t>
            </a:r>
            <a:endParaRPr lang="en-US" sz="1050" dirty="0"/>
          </a:p>
        </p:txBody>
      </p:sp>
      <p:sp>
        <p:nvSpPr>
          <p:cNvPr id="19" name="Shape 17"/>
          <p:cNvSpPr/>
          <p:nvPr/>
        </p:nvSpPr>
        <p:spPr>
          <a:xfrm>
            <a:off x="182880" y="2944368"/>
            <a:ext cx="8778240" cy="603504"/>
          </a:xfrm>
          <a:prstGeom prst="rect">
            <a:avLst/>
          </a:prstGeom>
          <a:solidFill>
            <a:srgbClr val="F8FAFC"/>
          </a:solidFill>
          <a:ln w="6350">
            <a:solidFill>
              <a:srgbClr val="E2E8F0"/>
            </a:solidFill>
            <a:prstDash val="solid"/>
          </a:ln>
        </p:spPr>
      </p:sp>
      <p:sp>
        <p:nvSpPr>
          <p:cNvPr id="20" name="Shape 18"/>
          <p:cNvSpPr/>
          <p:nvPr/>
        </p:nvSpPr>
        <p:spPr>
          <a:xfrm>
            <a:off x="182880" y="2944368"/>
            <a:ext cx="54864" cy="603504"/>
          </a:xfrm>
          <a:prstGeom prst="rect">
            <a:avLst/>
          </a:prstGeom>
          <a:solidFill>
            <a:srgbClr val="F59E0B"/>
          </a:solidFill>
          <a:ln w="12700">
            <a:solidFill>
              <a:srgbClr val="F59E0B"/>
            </a:solidFill>
            <a:prstDash val="solid"/>
          </a:ln>
        </p:spPr>
      </p:sp>
      <p:sp>
        <p:nvSpPr>
          <p:cNvPr id="21" name="Text 19"/>
          <p:cNvSpPr/>
          <p:nvPr/>
        </p:nvSpPr>
        <p:spPr>
          <a:xfrm>
            <a:off x="347472" y="3017520"/>
            <a:ext cx="2514600" cy="274320"/>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Structured logging</a:t>
            </a:r>
            <a:endParaRPr lang="en-US" sz="1150" dirty="0"/>
          </a:p>
        </p:txBody>
      </p:sp>
      <p:sp>
        <p:nvSpPr>
          <p:cNvPr id="22" name="Text 20"/>
          <p:cNvSpPr/>
          <p:nvPr/>
        </p:nvSpPr>
        <p:spPr>
          <a:xfrm>
            <a:off x="2971800" y="3017520"/>
            <a:ext cx="5897880" cy="457200"/>
          </a:xfrm>
          <a:prstGeom prst="rect">
            <a:avLst/>
          </a:prstGeom>
          <a:noFill/>
        </p:spPr>
        <p:txBody>
          <a:bodyPr wrap="square" lIns="0" tIns="0" rIns="0" bIns="0" rtlCol="0" anchor="ctr"/>
          <a:lstStyle/>
          <a:p>
            <a:pPr marL="0" indent="0" algn="l">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Template + named holes → indexable StudentId, CourseCode, EnrollmentId.</a:t>
            </a:r>
            <a:endParaRPr lang="en-US" sz="1050" dirty="0"/>
          </a:p>
        </p:txBody>
      </p:sp>
      <p:sp>
        <p:nvSpPr>
          <p:cNvPr id="23" name="Shape 21"/>
          <p:cNvSpPr/>
          <p:nvPr/>
        </p:nvSpPr>
        <p:spPr>
          <a:xfrm>
            <a:off x="182880" y="3621024"/>
            <a:ext cx="8778240" cy="603504"/>
          </a:xfrm>
          <a:prstGeom prst="rect">
            <a:avLst/>
          </a:prstGeom>
          <a:solidFill>
            <a:srgbClr val="F8FAFC"/>
          </a:solidFill>
          <a:ln w="6350">
            <a:solidFill>
              <a:srgbClr val="E2E8F0"/>
            </a:solidFill>
            <a:prstDash val="solid"/>
          </a:ln>
        </p:spPr>
      </p:sp>
      <p:sp>
        <p:nvSpPr>
          <p:cNvPr id="24" name="Shape 22"/>
          <p:cNvSpPr/>
          <p:nvPr/>
        </p:nvSpPr>
        <p:spPr>
          <a:xfrm>
            <a:off x="182880" y="3621024"/>
            <a:ext cx="54864" cy="603504"/>
          </a:xfrm>
          <a:prstGeom prst="rect">
            <a:avLst/>
          </a:prstGeom>
          <a:solidFill>
            <a:srgbClr val="10B981"/>
          </a:solidFill>
          <a:ln w="12700">
            <a:solidFill>
              <a:srgbClr val="10B981"/>
            </a:solidFill>
            <a:prstDash val="solid"/>
          </a:ln>
        </p:spPr>
      </p:sp>
      <p:sp>
        <p:nvSpPr>
          <p:cNvPr id="25" name="Text 23"/>
          <p:cNvSpPr/>
          <p:nvPr/>
        </p:nvSpPr>
        <p:spPr>
          <a:xfrm>
            <a:off x="347472" y="3694176"/>
            <a:ext cx="2514600" cy="274320"/>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Log levels</a:t>
            </a:r>
            <a:endParaRPr lang="en-US" sz="1150" dirty="0"/>
          </a:p>
        </p:txBody>
      </p:sp>
      <p:sp>
        <p:nvSpPr>
          <p:cNvPr id="26" name="Text 24"/>
          <p:cNvSpPr/>
          <p:nvPr/>
        </p:nvSpPr>
        <p:spPr>
          <a:xfrm>
            <a:off x="2971800" y="3694176"/>
            <a:ext cx="5897880" cy="457200"/>
          </a:xfrm>
          <a:prstGeom prst="rect">
            <a:avLst/>
          </a:prstGeom>
          <a:noFill/>
        </p:spPr>
        <p:txBody>
          <a:bodyPr wrap="square" lIns="0" tIns="0" rIns="0" bIns="0" rtlCol="0" anchor="ctr"/>
          <a:lstStyle/>
          <a:p>
            <a:pPr marL="0" indent="0" algn="l">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Information baseline in prod; dial Debug per namespace briefly when investigating.</a:t>
            </a:r>
            <a:endParaRPr lang="en-US" sz="1050" dirty="0"/>
          </a:p>
        </p:txBody>
      </p:sp>
      <p:sp>
        <p:nvSpPr>
          <p:cNvPr id="27" name="Shape 25"/>
          <p:cNvSpPr/>
          <p:nvPr/>
        </p:nvSpPr>
        <p:spPr>
          <a:xfrm>
            <a:off x="182880" y="4297680"/>
            <a:ext cx="8778240" cy="603504"/>
          </a:xfrm>
          <a:prstGeom prst="rect">
            <a:avLst/>
          </a:prstGeom>
          <a:solidFill>
            <a:srgbClr val="F8FAFC"/>
          </a:solidFill>
          <a:ln w="6350">
            <a:solidFill>
              <a:srgbClr val="E2E8F0"/>
            </a:solidFill>
            <a:prstDash val="solid"/>
          </a:ln>
        </p:spPr>
      </p:sp>
      <p:sp>
        <p:nvSpPr>
          <p:cNvPr id="28" name="Shape 26"/>
          <p:cNvSpPr/>
          <p:nvPr/>
        </p:nvSpPr>
        <p:spPr>
          <a:xfrm>
            <a:off x="182880" y="4297680"/>
            <a:ext cx="54864" cy="603504"/>
          </a:xfrm>
          <a:prstGeom prst="rect">
            <a:avLst/>
          </a:prstGeom>
          <a:solidFill>
            <a:srgbClr val="EF4444"/>
          </a:solidFill>
          <a:ln w="12700">
            <a:solidFill>
              <a:srgbClr val="EF4444"/>
            </a:solidFill>
            <a:prstDash val="solid"/>
          </a:ln>
        </p:spPr>
      </p:sp>
      <p:sp>
        <p:nvSpPr>
          <p:cNvPr id="29" name="Text 27"/>
          <p:cNvSpPr/>
          <p:nvPr/>
        </p:nvSpPr>
        <p:spPr>
          <a:xfrm>
            <a:off x="347472" y="4370832"/>
            <a:ext cx="2514600" cy="274320"/>
          </a:xfrm>
          <a:prstGeom prst="rect">
            <a:avLst/>
          </a:prstGeom>
          <a:noFill/>
        </p:spPr>
        <p:txBody>
          <a:bodyPr wrap="square" lIns="0" tIns="0" rIns="0" bIns="0" rtlCol="0" anchor="ctr"/>
          <a:lstStyle/>
          <a:p>
            <a:pPr marL="0" indent="0" algn="l">
              <a:buNone/>
            </a:pPr>
            <a:r>
              <a:rPr lang="en-US" sz="1150" b="1" dirty="0">
                <a:solidFill>
                  <a:srgbClr val="1E293B"/>
                </a:solidFill>
                <a:latin typeface="Calibri" panose="020F0502020204030204" pitchFamily="34" charset="0"/>
                <a:ea typeface="Calibri" panose="020F0502020204030204" pitchFamily="34" charset="-122"/>
                <a:cs typeface="Calibri" panose="020F0502020204030204" pitchFamily="34" charset="-120"/>
              </a:rPr>
              <a:t>Correlation IDs</a:t>
            </a:r>
            <a:endParaRPr lang="en-US" sz="1150" dirty="0"/>
          </a:p>
        </p:txBody>
      </p:sp>
      <p:sp>
        <p:nvSpPr>
          <p:cNvPr id="30" name="Text 28"/>
          <p:cNvSpPr/>
          <p:nvPr/>
        </p:nvSpPr>
        <p:spPr>
          <a:xfrm>
            <a:off x="2971800" y="4370832"/>
            <a:ext cx="5897880" cy="457200"/>
          </a:xfrm>
          <a:prstGeom prst="rect">
            <a:avLst/>
          </a:prstGeom>
          <a:noFill/>
        </p:spPr>
        <p:txBody>
          <a:bodyPr wrap="square" lIns="0" tIns="0" rIns="0" bIns="0" rtlCol="0" anchor="ctr"/>
          <a:lstStyle/>
          <a:p>
            <a:pPr marL="0" indent="0" algn="l">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Scope + header  one filter shows the whole enrollment attempt.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488"/>
          </a:solidFill>
          <a:ln w="12700">
            <a:solidFill>
              <a:srgbClr val="0D9488"/>
            </a:solidFill>
            <a:prstDash val="solid"/>
          </a:ln>
        </p:spPr>
      </p:sp>
      <p:sp>
        <p:nvSpPr>
          <p:cNvPr id="3" name="Shape 1"/>
          <p:cNvSpPr/>
          <p:nvPr/>
        </p:nvSpPr>
        <p:spPr>
          <a:xfrm>
            <a:off x="73152" y="0"/>
            <a:ext cx="9070848" cy="749808"/>
          </a:xfrm>
          <a:prstGeom prst="rect">
            <a:avLst/>
          </a:prstGeom>
          <a:solidFill>
            <a:srgbClr val="F8FAFC"/>
          </a:solidFill>
          <a:ln w="6350">
            <a:solidFill>
              <a:srgbClr val="E2E8F0"/>
            </a:solidFill>
            <a:prstDash val="solid"/>
          </a:ln>
        </p:spPr>
      </p:sp>
      <p:sp>
        <p:nvSpPr>
          <p:cNvPr id="4" name="Shape 2"/>
          <p:cNvSpPr/>
          <p:nvPr/>
        </p:nvSpPr>
        <p:spPr>
          <a:xfrm>
            <a:off x="73152" y="749808"/>
            <a:ext cx="9070848" cy="36576"/>
          </a:xfrm>
          <a:prstGeom prst="rect">
            <a:avLst/>
          </a:prstGeom>
          <a:solidFill>
            <a:srgbClr val="0D9488"/>
          </a:solidFill>
          <a:ln w="12700">
            <a:solidFill>
              <a:srgbClr val="0D9488"/>
            </a:solidFill>
            <a:prstDash val="solid"/>
          </a:ln>
        </p:spPr>
      </p:sp>
      <p:sp>
        <p:nvSpPr>
          <p:cNvPr id="5" name="Text 3"/>
          <p:cNvSpPr/>
          <p:nvPr/>
        </p:nvSpPr>
        <p:spPr>
          <a:xfrm>
            <a:off x="228600" y="91440"/>
            <a:ext cx="7132320" cy="566928"/>
          </a:xfrm>
          <a:prstGeom prst="rect">
            <a:avLst/>
          </a:prstGeom>
          <a:noFill/>
        </p:spPr>
        <p:txBody>
          <a:bodyPr wrap="square" lIns="0" tIns="0" rIns="0" bIns="0" rtlCol="0" anchor="ctr"/>
          <a:lstStyle/>
          <a:p>
            <a:pPr marL="0" indent="0" algn="l">
              <a:buNone/>
            </a:pPr>
            <a:r>
              <a:rPr lang="en-US" sz="2100" b="1" dirty="0">
                <a:solidFill>
                  <a:srgbClr val="1E293B"/>
                </a:solidFill>
                <a:latin typeface="Calibri" panose="020F0502020204030204" pitchFamily="34" charset="0"/>
                <a:ea typeface="Calibri" panose="020F0502020204030204" pitchFamily="34" charset="-122"/>
                <a:cs typeface="Calibri" panose="020F0502020204030204" pitchFamily="34" charset="-120"/>
              </a:rPr>
              <a:t>Reflection  Fail Fast, Search Easy</a:t>
            </a:r>
            <a:endParaRPr lang="en-US" sz="2100" dirty="0"/>
          </a:p>
        </p:txBody>
      </p:sp>
      <p:sp>
        <p:nvSpPr>
          <p:cNvPr id="6" name="Shape 4"/>
          <p:cNvSpPr/>
          <p:nvPr/>
        </p:nvSpPr>
        <p:spPr>
          <a:xfrm>
            <a:off x="137160" y="786384"/>
            <a:ext cx="8869680" cy="0"/>
          </a:xfrm>
          <a:prstGeom prst="line">
            <a:avLst/>
          </a:prstGeom>
          <a:noFill/>
          <a:ln w="6350">
            <a:solidFill>
              <a:srgbClr val="E2E8F0"/>
            </a:solidFill>
            <a:prstDash val="solid"/>
          </a:ln>
        </p:spPr>
      </p:sp>
      <p:sp>
        <p:nvSpPr>
          <p:cNvPr id="7" name="Text 5"/>
          <p:cNvSpPr/>
          <p:nvPr/>
        </p:nvSpPr>
        <p:spPr>
          <a:xfrm>
            <a:off x="228600" y="868680"/>
            <a:ext cx="8686800" cy="292608"/>
          </a:xfrm>
          <a:prstGeom prst="rect">
            <a:avLst/>
          </a:prstGeom>
          <a:noFill/>
        </p:spPr>
        <p:txBody>
          <a:bodyPr wrap="square" lIns="0" tIns="0" rIns="0" bIns="0" rtlCol="0" anchor="ctr"/>
          <a:lstStyle/>
          <a:p>
            <a:pPr marL="0" indent="0" algn="l">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Take 4 minutes  solo notes or pair:</a:t>
            </a:r>
            <a:endParaRPr lang="en-US" sz="1100" dirty="0"/>
          </a:p>
        </p:txBody>
      </p:sp>
      <p:sp>
        <p:nvSpPr>
          <p:cNvPr id="8" name="Text 6"/>
          <p:cNvSpPr/>
          <p:nvPr/>
        </p:nvSpPr>
        <p:spPr>
          <a:xfrm>
            <a:off x="320040" y="1261872"/>
            <a:ext cx="8458200" cy="777240"/>
          </a:xfrm>
          <a:prstGeom prst="rect">
            <a:avLst/>
          </a:prstGeom>
          <a:noFill/>
        </p:spPr>
        <p:txBody>
          <a:bodyPr wrap="square" lIns="0" tIns="0" rIns="0" bIns="0" rtlCol="0" anchor="t"/>
          <a:lstStyle/>
          <a:p>
            <a:pPr marL="0" indent="0" algn="l">
              <a:buNone/>
            </a:pPr>
            <a:r>
              <a:rPr lang="en-US" sz="1500" dirty="0">
                <a:solidFill>
                  <a:srgbClr val="1E293B"/>
                </a:solidFill>
                <a:latin typeface="Calibri" panose="020F0502020204030204" pitchFamily="34" charset="0"/>
                <a:ea typeface="Calibri" panose="020F0502020204030204" pitchFamily="34" charset="-122"/>
                <a:cs typeface="Calibri" panose="020F0502020204030204" pitchFamily="34" charset="-120"/>
              </a:rPr>
              <a:t>· Where would you put the TMS production connection string  and what never goes in Git?</a:t>
            </a:r>
            <a:endParaRPr lang="en-US" sz="1500" dirty="0"/>
          </a:p>
        </p:txBody>
      </p:sp>
      <p:sp>
        <p:nvSpPr>
          <p:cNvPr id="9" name="Text 7"/>
          <p:cNvSpPr/>
          <p:nvPr/>
        </p:nvSpPr>
        <p:spPr>
          <a:xfrm>
            <a:off x="320040" y="2130552"/>
            <a:ext cx="8458200" cy="777240"/>
          </a:xfrm>
          <a:prstGeom prst="rect">
            <a:avLst/>
          </a:prstGeom>
          <a:noFill/>
        </p:spPr>
        <p:txBody>
          <a:bodyPr wrap="square" lIns="0" tIns="0" rIns="0" bIns="0" rtlCol="0" anchor="t"/>
          <a:lstStyle/>
          <a:p>
            <a:pPr marL="0" indent="0" algn="l">
              <a:buNone/>
            </a:pPr>
            <a:r>
              <a:rPr lang="en-US" sz="1500" dirty="0">
                <a:solidFill>
                  <a:srgbClr val="1E293B"/>
                </a:solidFill>
                <a:latin typeface="Calibri" panose="020F0502020204030204" pitchFamily="34" charset="0"/>
                <a:ea typeface="Calibri" panose="020F0502020204030204" pitchFamily="34" charset="-122"/>
                <a:cs typeface="Calibri" panose="020F0502020204030204" pitchFamily="34" charset="-120"/>
              </a:rPr>
              <a:t>· Why is ValidateOnStart better than discovering bad config on the first enrollment?</a:t>
            </a:r>
            <a:endParaRPr lang="en-US" sz="1500" dirty="0"/>
          </a:p>
        </p:txBody>
      </p:sp>
      <p:sp>
        <p:nvSpPr>
          <p:cNvPr id="10" name="Text 8"/>
          <p:cNvSpPr/>
          <p:nvPr/>
        </p:nvSpPr>
        <p:spPr>
          <a:xfrm>
            <a:off x="320040" y="2999232"/>
            <a:ext cx="8458200" cy="777240"/>
          </a:xfrm>
          <a:prstGeom prst="rect">
            <a:avLst/>
          </a:prstGeom>
          <a:noFill/>
        </p:spPr>
        <p:txBody>
          <a:bodyPr wrap="square" lIns="0" tIns="0" rIns="0" bIns="0" rtlCol="0" anchor="t"/>
          <a:lstStyle/>
          <a:p>
            <a:pPr marL="0" indent="0" algn="l">
              <a:buNone/>
            </a:pPr>
            <a:r>
              <a:rPr lang="en-US" sz="1500" dirty="0">
                <a:solidFill>
                  <a:srgbClr val="1E293B"/>
                </a:solidFill>
                <a:latin typeface="Calibri" panose="020F0502020204030204" pitchFamily="34" charset="0"/>
                <a:ea typeface="Calibri" panose="020F0502020204030204" pitchFamily="34" charset="-122"/>
                <a:cs typeface="Calibri" panose="020F0502020204030204" pitchFamily="34" charset="-120"/>
              </a:rPr>
              <a:t>· How would correlation IDs change how you debug a support ticket?</a:t>
            </a:r>
            <a:endParaRPr lang="en-US" sz="1500" dirty="0"/>
          </a:p>
        </p:txBody>
      </p:sp>
      <p:sp>
        <p:nvSpPr>
          <p:cNvPr id="11" name="Shape 9"/>
          <p:cNvSpPr/>
          <p:nvPr/>
        </p:nvSpPr>
        <p:spPr>
          <a:xfrm>
            <a:off x="228600" y="4005072"/>
            <a:ext cx="8686800" cy="868680"/>
          </a:xfrm>
          <a:prstGeom prst="rect">
            <a:avLst/>
          </a:prstGeom>
          <a:solidFill>
            <a:srgbClr val="F0FDFA"/>
          </a:solidFill>
          <a:ln w="12700">
            <a:solidFill>
              <a:srgbClr val="0D9488"/>
            </a:solidFill>
            <a:prstDash val="solid"/>
          </a:ln>
        </p:spPr>
      </p:sp>
      <p:sp>
        <p:nvSpPr>
          <p:cNvPr id="12" name="Text 10"/>
          <p:cNvSpPr/>
          <p:nvPr/>
        </p:nvSpPr>
        <p:spPr>
          <a:xfrm>
            <a:off x="365760" y="4069080"/>
            <a:ext cx="8412480" cy="749808"/>
          </a:xfrm>
          <a:prstGeom prst="rect">
            <a:avLst/>
          </a:prstGeom>
          <a:noFill/>
        </p:spPr>
        <p:txBody>
          <a:bodyPr wrap="square" lIns="0" tIns="0" rIns="0" bIns="0" rtlCol="0" anchor="ctr"/>
          <a:lstStyle/>
          <a:p>
            <a:pPr marL="0" indent="0" algn="l">
              <a:buNone/>
            </a:pPr>
            <a:r>
              <a:rPr lang="en-US" sz="1050" i="1" dirty="0">
                <a:solidFill>
                  <a:srgbClr val="1E293B"/>
                </a:solidFill>
                <a:latin typeface="Calibri" panose="020F0502020204030204" pitchFamily="34" charset="0"/>
                <a:ea typeface="Calibri" panose="020F0502020204030204" pitchFamily="34" charset="-122"/>
                <a:cs typeface="Calibri" panose="020F0502020204030204" pitchFamily="34" charset="-120"/>
              </a:rPr>
              <a:t>Facilitator: connect to Options slide  remove Database:ConnectionString locally, run  show the startup exception in the terminal so the room hears the “fail loud” story.</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A5E9"/>
          </a:solidFill>
          <a:ln w="12700">
            <a:solidFill>
              <a:srgbClr val="0EA5E9"/>
            </a:solidFill>
            <a:prstDash val="solid"/>
          </a:ln>
        </p:spPr>
      </p:sp>
      <p:sp>
        <p:nvSpPr>
          <p:cNvPr id="3" name="Shape 1"/>
          <p:cNvSpPr/>
          <p:nvPr/>
        </p:nvSpPr>
        <p:spPr>
          <a:xfrm>
            <a:off x="73152" y="0"/>
            <a:ext cx="9070848" cy="749808"/>
          </a:xfrm>
          <a:prstGeom prst="rect">
            <a:avLst/>
          </a:prstGeom>
          <a:solidFill>
            <a:srgbClr val="F8FAFC"/>
          </a:solidFill>
          <a:ln w="6350">
            <a:solidFill>
              <a:srgbClr val="E2E8F0"/>
            </a:solidFill>
            <a:prstDash val="solid"/>
          </a:ln>
        </p:spPr>
      </p:sp>
      <p:sp>
        <p:nvSpPr>
          <p:cNvPr id="4" name="Shape 2"/>
          <p:cNvSpPr/>
          <p:nvPr/>
        </p:nvSpPr>
        <p:spPr>
          <a:xfrm>
            <a:off x="73152" y="749808"/>
            <a:ext cx="9070848" cy="36576"/>
          </a:xfrm>
          <a:prstGeom prst="rect">
            <a:avLst/>
          </a:prstGeom>
          <a:solidFill>
            <a:srgbClr val="0EA5E9"/>
          </a:solidFill>
          <a:ln w="12700">
            <a:solidFill>
              <a:srgbClr val="0EA5E9"/>
            </a:solidFill>
            <a:prstDash val="solid"/>
          </a:ln>
        </p:spPr>
      </p:sp>
      <p:sp>
        <p:nvSpPr>
          <p:cNvPr id="5" name="Text 3"/>
          <p:cNvSpPr/>
          <p:nvPr/>
        </p:nvSpPr>
        <p:spPr>
          <a:xfrm>
            <a:off x="228600" y="91440"/>
            <a:ext cx="7132320" cy="566928"/>
          </a:xfrm>
          <a:prstGeom prst="rect">
            <a:avLst/>
          </a:prstGeom>
          <a:noFill/>
        </p:spPr>
        <p:txBody>
          <a:bodyPr wrap="square" lIns="0" tIns="0" rIns="0" bIns="0" rtlCol="0" anchor="ctr"/>
          <a:lstStyle/>
          <a:p>
            <a:pPr marL="0" indent="0" algn="l">
              <a:buNone/>
            </a:pPr>
            <a:r>
              <a:rPr lang="en-US" sz="2100" b="1" dirty="0">
                <a:solidFill>
                  <a:srgbClr val="1E293B"/>
                </a:solidFill>
                <a:latin typeface="Calibri" panose="020F0502020204030204" pitchFamily="34" charset="0"/>
                <a:ea typeface="Calibri" panose="020F0502020204030204" pitchFamily="34" charset="-122"/>
                <a:cs typeface="Calibri" panose="020F0502020204030204" pitchFamily="34" charset="-120"/>
              </a:rPr>
              <a:t>What This Looks Like in an Interview</a:t>
            </a:r>
            <a:endParaRPr lang="en-US" sz="2100" dirty="0"/>
          </a:p>
        </p:txBody>
      </p:sp>
      <p:sp>
        <p:nvSpPr>
          <p:cNvPr id="6" name="Shape 4"/>
          <p:cNvSpPr/>
          <p:nvPr/>
        </p:nvSpPr>
        <p:spPr>
          <a:xfrm>
            <a:off x="137160" y="786384"/>
            <a:ext cx="8869680" cy="0"/>
          </a:xfrm>
          <a:prstGeom prst="line">
            <a:avLst/>
          </a:prstGeom>
          <a:noFill/>
          <a:ln w="6350">
            <a:solidFill>
              <a:srgbClr val="E2E8F0"/>
            </a:solidFill>
            <a:prstDash val="solid"/>
          </a:ln>
        </p:spPr>
      </p:sp>
      <p:sp>
        <p:nvSpPr>
          <p:cNvPr id="7" name="Shape 5"/>
          <p:cNvSpPr/>
          <p:nvPr/>
        </p:nvSpPr>
        <p:spPr>
          <a:xfrm>
            <a:off x="182880" y="868680"/>
            <a:ext cx="8778240" cy="3429000"/>
          </a:xfrm>
          <a:prstGeom prst="rect">
            <a:avLst/>
          </a:prstGeom>
          <a:solidFill>
            <a:srgbClr val="0F1A2E"/>
          </a:solidFill>
          <a:ln w="12700">
            <a:solidFill>
              <a:srgbClr val="0EA5E9"/>
            </a:solidFill>
            <a:prstDash val="solid"/>
          </a:ln>
          <a:effectLst>
            <a:outerShdw blurRad="177800" dist="63500" dir="8100000" algn="bl" rotWithShape="0">
              <a:srgbClr val="000000">
                <a:alpha val="18000"/>
              </a:srgbClr>
            </a:outerShdw>
          </a:effectLst>
        </p:spPr>
      </p:sp>
      <p:sp>
        <p:nvSpPr>
          <p:cNvPr id="8" name="Shape 6"/>
          <p:cNvSpPr/>
          <p:nvPr/>
        </p:nvSpPr>
        <p:spPr>
          <a:xfrm>
            <a:off x="182880" y="868680"/>
            <a:ext cx="91440" cy="3429000"/>
          </a:xfrm>
          <a:prstGeom prst="rect">
            <a:avLst/>
          </a:prstGeom>
          <a:solidFill>
            <a:srgbClr val="0D9488"/>
          </a:solidFill>
          <a:ln w="12700">
            <a:solidFill>
              <a:srgbClr val="333333"/>
            </a:solidFill>
            <a:prstDash val="solid"/>
          </a:ln>
        </p:spPr>
      </p:sp>
      <p:sp>
        <p:nvSpPr>
          <p:cNvPr id="9" name="Text 7"/>
          <p:cNvSpPr/>
          <p:nvPr/>
        </p:nvSpPr>
        <p:spPr>
          <a:xfrm>
            <a:off x="438912" y="1188720"/>
            <a:ext cx="8366760" cy="2926080"/>
          </a:xfrm>
          <a:prstGeom prst="rect">
            <a:avLst/>
          </a:prstGeom>
          <a:noFill/>
        </p:spPr>
        <p:txBody>
          <a:bodyPr wrap="square" lIns="0" tIns="0" rIns="0" bIns="0" rtlCol="0" anchor="ctr"/>
          <a:lstStyle/>
          <a:p>
            <a:pPr marL="0" indent="0">
              <a:lnSpc>
                <a:spcPct val="120000"/>
              </a:lnSpc>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Configuration management is often overlooked by junior developers. Companies notice those who validate at startup rather than discovering missing settings in production at 2am. Structured logging with correlation IDs is what separates someone who "writes code" from someone who "runs systems."</a:t>
            </a:r>
            <a:endParaRPr lang="en-US" sz="1200" dirty="0"/>
          </a:p>
        </p:txBody>
      </p:sp>
      <p:sp>
        <p:nvSpPr>
          <p:cNvPr id="10" name="Text 8"/>
          <p:cNvSpPr/>
          <p:nvPr/>
        </p:nvSpPr>
        <p:spPr>
          <a:xfrm>
            <a:off x="228600" y="4434840"/>
            <a:ext cx="8686800" cy="530352"/>
          </a:xfrm>
          <a:prstGeom prst="rect">
            <a:avLst/>
          </a:prstGeom>
          <a:noFill/>
        </p:spPr>
        <p:txBody>
          <a:bodyPr wrap="square" lIns="0" tIns="0" rIns="0" bIns="0" rtlCol="0" anchor="t"/>
          <a:lstStyle/>
          <a:p>
            <a:pPr marL="0" indent="0" algn="l">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Bring one TMS example: named properties on an enrollment log line + where the correlation ID appears on the API response  tie story to observability you would actually run.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7C3AED"/>
          </a:solidFill>
          <a:ln w="12700">
            <a:solidFill>
              <a:srgbClr val="7C3AED"/>
            </a:solidFill>
            <a:prstDash val="solid"/>
          </a:ln>
        </p:spPr>
      </p:sp>
      <p:sp>
        <p:nvSpPr>
          <p:cNvPr id="3" name="Shape 1"/>
          <p:cNvSpPr/>
          <p:nvPr/>
        </p:nvSpPr>
        <p:spPr>
          <a:xfrm>
            <a:off x="0" y="5052060"/>
            <a:ext cx="9144000" cy="91440"/>
          </a:xfrm>
          <a:prstGeom prst="rect">
            <a:avLst/>
          </a:prstGeom>
          <a:solidFill>
            <a:srgbClr val="0EA5E9"/>
          </a:solidFill>
          <a:ln w="12700">
            <a:solidFill>
              <a:srgbClr val="0EA5E9"/>
            </a:solidFill>
            <a:prstDash val="solid"/>
          </a:ln>
        </p:spPr>
      </p:sp>
      <p:sp>
        <p:nvSpPr>
          <p:cNvPr id="4" name="Text 2"/>
          <p:cNvSpPr/>
          <p:nvPr/>
        </p:nvSpPr>
        <p:spPr>
          <a:xfrm>
            <a:off x="457200" y="457200"/>
            <a:ext cx="5486400" cy="384048"/>
          </a:xfrm>
          <a:prstGeom prst="rect">
            <a:avLst/>
          </a:prstGeom>
          <a:noFill/>
        </p:spPr>
        <p:txBody>
          <a:bodyPr wrap="square" lIns="0" tIns="0" rIns="0" bIns="0" rtlCol="0" anchor="ctr"/>
          <a:lstStyle/>
          <a:p>
            <a:pPr marL="0" indent="0" algn="l">
              <a:buNone/>
            </a:pPr>
            <a:r>
              <a:rPr lang="en-US" sz="1300" kern="0" spc="200" dirty="0">
                <a:solidFill>
                  <a:srgbClr val="C4B5FD"/>
                </a:solidFill>
                <a:latin typeface="Calibri" panose="020F0502020204030204" pitchFamily="34" charset="0"/>
                <a:ea typeface="Calibri" panose="020F0502020204030204" pitchFamily="34" charset="-122"/>
                <a:cs typeface="Calibri" panose="020F0502020204030204" pitchFamily="34" charset="-120"/>
              </a:rPr>
              <a:t>Coming Up in Session 4</a:t>
            </a:r>
            <a:endParaRPr lang="en-US" sz="1300" dirty="0"/>
          </a:p>
        </p:txBody>
      </p:sp>
      <p:sp>
        <p:nvSpPr>
          <p:cNvPr id="5" name="Text 3"/>
          <p:cNvSpPr/>
          <p:nvPr/>
        </p:nvSpPr>
        <p:spPr>
          <a:xfrm>
            <a:off x="457200" y="868680"/>
            <a:ext cx="6583680" cy="1508760"/>
          </a:xfrm>
          <a:prstGeom prst="rect">
            <a:avLst/>
          </a:prstGeom>
          <a:noFill/>
        </p:spPr>
        <p:txBody>
          <a:bodyPr wrap="square" lIns="0" tIns="0" rIns="0" bIns="0" rtlCol="0" anchor="t"/>
          <a:lstStyle/>
          <a:p>
            <a:pPr marL="0" indent="0" algn="l">
              <a:buNone/>
            </a:pPr>
            <a:r>
              <a:rPr lang="en-US" sz="3600" b="1" dirty="0">
                <a:solidFill>
                  <a:srgbClr val="FFFFFF"/>
                </a:solidFill>
                <a:latin typeface="Calibri" panose="020F0502020204030204" pitchFamily="34" charset="0"/>
                <a:ea typeface="Calibri" panose="020F0502020204030204" pitchFamily="34" charset="-122"/>
                <a:cs typeface="Calibri" panose="020F0502020204030204" pitchFamily="34" charset="-120"/>
              </a:rPr>
              <a:t>Capstone Pressure</a:t>
            </a:r>
            <a:endParaRPr lang="en-US" sz="3600" dirty="0"/>
          </a:p>
          <a:p>
            <a:pPr marL="0" indent="0" algn="l">
              <a:buNone/>
            </a:pPr>
            <a:r>
              <a:rPr lang="en-US" sz="36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Rehearsal</a:t>
            </a:r>
            <a:endParaRPr lang="en-US" sz="3600" dirty="0"/>
          </a:p>
        </p:txBody>
      </p:sp>
      <p:sp>
        <p:nvSpPr>
          <p:cNvPr id="6" name="Shape 4"/>
          <p:cNvSpPr/>
          <p:nvPr/>
        </p:nvSpPr>
        <p:spPr>
          <a:xfrm>
            <a:off x="457200" y="2487168"/>
            <a:ext cx="4114800" cy="0"/>
          </a:xfrm>
          <a:prstGeom prst="line">
            <a:avLst/>
          </a:prstGeom>
          <a:noFill/>
          <a:ln w="12700">
            <a:solidFill>
              <a:srgbClr val="0EA5E9"/>
            </a:solidFill>
            <a:prstDash val="solid"/>
          </a:ln>
        </p:spPr>
      </p:sp>
      <p:sp>
        <p:nvSpPr>
          <p:cNvPr id="7" name="Text 5"/>
          <p:cNvSpPr/>
          <p:nvPr/>
        </p:nvSpPr>
        <p:spPr>
          <a:xfrm>
            <a:off x="457200" y="2633472"/>
            <a:ext cx="6720840" cy="1234440"/>
          </a:xfrm>
          <a:prstGeom prst="rect">
            <a:avLst/>
          </a:prstGeom>
          <a:noFill/>
        </p:spPr>
        <p:txBody>
          <a:bodyPr wrap="square" lIns="0" tIns="0" rIns="0" bIns="0" rtlCol="0" anchor="t"/>
          <a:lstStyle/>
          <a:p>
            <a:pPr marL="0" indent="0" algn="l">
              <a:buNone/>
            </a:pPr>
            <a:r>
              <a:rPr lang="en-US" sz="1300" dirty="0">
                <a:solidFill>
                  <a:srgbClr val="93C5FD"/>
                </a:solidFill>
                <a:latin typeface="Calibri" panose="020F0502020204030204" pitchFamily="34" charset="0"/>
                <a:ea typeface="Calibri" panose="020F0502020204030204" pitchFamily="34" charset="-122"/>
                <a:cs typeface="Calibri" panose="020F0502020204030204" pitchFamily="34" charset="-120"/>
              </a:rPr>
              <a:t>Working API, three change requirements at time zero, ~30 minutes  goal is decision-making under pressure: what do you ship first, what do you consciously defer? Same trade-offs professional teams make daily.</a:t>
            </a:r>
            <a:endParaRPr lang="en-US" sz="1300" dirty="0"/>
          </a:p>
        </p:txBody>
      </p:sp>
      <p:sp>
        <p:nvSpPr>
          <p:cNvPr id="8" name="Shape 6"/>
          <p:cNvSpPr/>
          <p:nvPr/>
        </p:nvSpPr>
        <p:spPr>
          <a:xfrm>
            <a:off x="457200" y="3977640"/>
            <a:ext cx="4389120" cy="457200"/>
          </a:xfrm>
          <a:prstGeom prst="rect">
            <a:avLst/>
          </a:prstGeom>
          <a:solidFill>
            <a:srgbClr val="0EA5E9"/>
          </a:solidFill>
          <a:ln w="12700">
            <a:solidFill>
              <a:srgbClr val="333333"/>
            </a:solidFill>
            <a:prstDash val="solid"/>
          </a:ln>
        </p:spPr>
      </p:sp>
      <p:sp>
        <p:nvSpPr>
          <p:cNvPr id="9" name="Text 7"/>
          <p:cNvSpPr/>
          <p:nvPr/>
        </p:nvSpPr>
        <p:spPr>
          <a:xfrm>
            <a:off x="457200" y="3977640"/>
            <a:ext cx="4389120" cy="457200"/>
          </a:xfrm>
          <a:prstGeom prst="rect">
            <a:avLst/>
          </a:prstGeom>
          <a:noFill/>
        </p:spPr>
        <p:txBody>
          <a:bodyPr wrap="square" lIns="0" tIns="0" rIns="0" bIns="0" rtlCol="0" anchor="ctr"/>
          <a:lstStyle/>
          <a:p>
            <a:pPr marL="0" indent="0" algn="ctr">
              <a:buNone/>
            </a:pPr>
            <a:r>
              <a:rPr lang="en-US" sz="1250" b="1" dirty="0">
                <a:solidFill>
                  <a:srgbClr val="1A2B4A"/>
                </a:solidFill>
                <a:latin typeface="Calibri" panose="020F0502020204030204" pitchFamily="34" charset="0"/>
                <a:ea typeface="Calibri" panose="020F0502020204030204" pitchFamily="34" charset="-122"/>
                <a:cs typeface="Calibri" panose="020F0502020204030204" pitchFamily="34" charset="-120"/>
              </a:rPr>
              <a:t>Not a gate you can fail  a rehearsal</a:t>
            </a:r>
            <a:endParaRPr lang="en-US" sz="1250" dirty="0"/>
          </a:p>
        </p:txBody>
      </p:sp>
      <p:sp>
        <p:nvSpPr>
          <p:cNvPr id="10" name="Shape 8"/>
          <p:cNvSpPr/>
          <p:nvPr/>
        </p:nvSpPr>
        <p:spPr>
          <a:xfrm>
            <a:off x="7086600" y="960120"/>
            <a:ext cx="1874520" cy="3154680"/>
          </a:xfrm>
          <a:prstGeom prst="rect">
            <a:avLst/>
          </a:prstGeom>
          <a:solidFill>
            <a:srgbClr val="0D1B36"/>
          </a:solidFill>
          <a:ln w="12700">
            <a:solidFill>
              <a:srgbClr val="0D9488"/>
            </a:solidFill>
            <a:prstDash val="solid"/>
          </a:ln>
        </p:spPr>
      </p:sp>
      <p:sp>
        <p:nvSpPr>
          <p:cNvPr id="11" name="Text 9"/>
          <p:cNvSpPr/>
          <p:nvPr/>
        </p:nvSpPr>
        <p:spPr>
          <a:xfrm>
            <a:off x="7132320" y="1097280"/>
            <a:ext cx="1783080" cy="457200"/>
          </a:xfrm>
          <a:prstGeom prst="rect">
            <a:avLst/>
          </a:prstGeom>
          <a:noFill/>
        </p:spPr>
        <p:txBody>
          <a:bodyPr wrap="square" lIns="0" tIns="0" rIns="0" bIns="0" rtlCol="0" anchor="ctr"/>
          <a:lstStyle/>
          <a:p>
            <a:pPr marL="0" indent="0" algn="ctr">
              <a:buNone/>
            </a:pPr>
            <a:r>
              <a:rPr lang="en-US" sz="1050" dirty="0">
                <a:solidFill>
                  <a:srgbClr val="0D9488"/>
                </a:solidFill>
                <a:latin typeface="Calibri" panose="020F0502020204030204" pitchFamily="34" charset="0"/>
                <a:ea typeface="Calibri" panose="020F0502020204030204" pitchFamily="34" charset="-122"/>
                <a:cs typeface="Calibri" panose="020F0502020204030204" pitchFamily="34" charset="-120"/>
              </a:rPr>
              <a:t>Timebox</a:t>
            </a:r>
            <a:endParaRPr lang="en-US" sz="1050" dirty="0"/>
          </a:p>
        </p:txBody>
      </p:sp>
      <p:sp>
        <p:nvSpPr>
          <p:cNvPr id="12" name="Text 10"/>
          <p:cNvSpPr/>
          <p:nvPr/>
        </p:nvSpPr>
        <p:spPr>
          <a:xfrm>
            <a:off x="7132320" y="1664208"/>
            <a:ext cx="1783080" cy="457200"/>
          </a:xfrm>
          <a:prstGeom prst="rect">
            <a:avLst/>
          </a:prstGeom>
          <a:noFill/>
        </p:spPr>
        <p:txBody>
          <a:bodyPr wrap="square" lIns="0" tIns="0" rIns="0" bIns="0" rtlCol="0" anchor="ctr"/>
          <a:lstStyle/>
          <a:p>
            <a:pPr marL="0" indent="0" algn="ctr">
              <a:buNone/>
            </a:pPr>
            <a:r>
              <a:rPr lang="en-US" sz="1050" dirty="0">
                <a:solidFill>
                  <a:srgbClr val="2D4263"/>
                </a:solidFill>
                <a:latin typeface="Calibri" panose="020F0502020204030204" pitchFamily="34" charset="0"/>
                <a:ea typeface="Calibri" panose="020F0502020204030204" pitchFamily="34" charset="-122"/>
                <a:cs typeface="Calibri" panose="020F0502020204030204" pitchFamily="34" charset="-120"/>
              </a:rPr>
              <a:t>Prioritize</a:t>
            </a:r>
            <a:endParaRPr lang="en-US" sz="1050" dirty="0"/>
          </a:p>
        </p:txBody>
      </p:sp>
      <p:sp>
        <p:nvSpPr>
          <p:cNvPr id="13" name="Text 11"/>
          <p:cNvSpPr/>
          <p:nvPr/>
        </p:nvSpPr>
        <p:spPr>
          <a:xfrm>
            <a:off x="7132320" y="2231136"/>
            <a:ext cx="1783080" cy="457200"/>
          </a:xfrm>
          <a:prstGeom prst="rect">
            <a:avLst/>
          </a:prstGeom>
          <a:noFill/>
        </p:spPr>
        <p:txBody>
          <a:bodyPr wrap="square" lIns="0" tIns="0" rIns="0" bIns="0" rtlCol="0" anchor="ctr"/>
          <a:lstStyle/>
          <a:p>
            <a:pPr marL="0" indent="0" algn="ctr">
              <a:buNone/>
            </a:pPr>
            <a:r>
              <a:rPr lang="en-US" sz="1050" dirty="0">
                <a:solidFill>
                  <a:srgbClr val="2D4263"/>
                </a:solidFill>
                <a:latin typeface="Calibri" panose="020F0502020204030204" pitchFamily="34" charset="0"/>
                <a:ea typeface="Calibri" panose="020F0502020204030204" pitchFamily="34" charset="-122"/>
                <a:cs typeface="Calibri" panose="020F0502020204030204" pitchFamily="34" charset="-120"/>
              </a:rPr>
              <a:t>Communicate cut</a:t>
            </a:r>
            <a:endParaRPr lang="en-US" sz="1050" dirty="0"/>
          </a:p>
        </p:txBody>
      </p:sp>
      <p:sp>
        <p:nvSpPr>
          <p:cNvPr id="14" name="Text 12"/>
          <p:cNvSpPr/>
          <p:nvPr/>
        </p:nvSpPr>
        <p:spPr>
          <a:xfrm>
            <a:off x="7132320" y="2798064"/>
            <a:ext cx="1783080" cy="457200"/>
          </a:xfrm>
          <a:prstGeom prst="rect">
            <a:avLst/>
          </a:prstGeom>
          <a:noFill/>
        </p:spPr>
        <p:txBody>
          <a:bodyPr wrap="square" lIns="0" tIns="0" rIns="0" bIns="0" rtlCol="0" anchor="ctr"/>
          <a:lstStyle/>
          <a:p>
            <a:pPr marL="0" indent="0" algn="ctr">
              <a:buNone/>
            </a:pPr>
            <a:r>
              <a:rPr lang="en-US" sz="1050" dirty="0">
                <a:solidFill>
                  <a:srgbClr val="2D4263"/>
                </a:solidFill>
                <a:latin typeface="Calibri" panose="020F0502020204030204" pitchFamily="34" charset="0"/>
                <a:ea typeface="Calibri" panose="020F0502020204030204" pitchFamily="34" charset="-122"/>
                <a:cs typeface="Calibri" panose="020F0502020204030204" pitchFamily="34" charset="-120"/>
              </a:rPr>
              <a:t>Ship slice</a:t>
            </a:r>
            <a:endParaRPr lang="en-US" sz="1050" dirty="0"/>
          </a:p>
        </p:txBody>
      </p:sp>
      <p:sp>
        <p:nvSpPr>
          <p:cNvPr id="15" name="Text 13"/>
          <p:cNvSpPr/>
          <p:nvPr/>
        </p:nvSpPr>
        <p:spPr>
          <a:xfrm>
            <a:off x="7132320" y="3364992"/>
            <a:ext cx="1783080" cy="457200"/>
          </a:xfrm>
          <a:prstGeom prst="rect">
            <a:avLst/>
          </a:prstGeom>
          <a:noFill/>
        </p:spPr>
        <p:txBody>
          <a:bodyPr wrap="square" lIns="0" tIns="0" rIns="0" bIns="0" rtlCol="0" anchor="ctr"/>
          <a:lstStyle/>
          <a:p>
            <a:pPr marL="0" indent="0" algn="ctr">
              <a:buNone/>
            </a:pPr>
            <a:r>
              <a:rPr lang="en-US" sz="1050" dirty="0">
                <a:solidFill>
                  <a:srgbClr val="2D4263"/>
                </a:solidFill>
                <a:latin typeface="Calibri" panose="020F0502020204030204" pitchFamily="34" charset="0"/>
                <a:ea typeface="Calibri" panose="020F0502020204030204" pitchFamily="34" charset="-122"/>
                <a:cs typeface="Calibri" panose="020F0502020204030204" pitchFamily="34" charset="-120"/>
              </a:rPr>
              <a:t>Reflect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8895</Words>
  <Application>WPS Presentation</Application>
  <PresentationFormat>On-screen Show (16:9)</PresentationFormat>
  <Paragraphs>420</Paragraphs>
  <Slides>15</Slides>
  <Notes>15</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Calibri</vt:lpstr>
      <vt:lpstr>Calibri</vt:lpstr>
      <vt:lpstr>Calibri</vt:lpstr>
      <vt:lpstr>Consolas</vt:lpstr>
      <vt:lpstr>Consolas</vt:lpstr>
      <vt:lpstr>Consolas</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M4 Session 3  Configuration, Options &amp; Structured Logging</dc:title>
  <dc:creator>CoTBE Advanced Digital Skills Programme</dc:creator>
  <dc:subject>PptxGenJS Presentation</dc:subject>
  <cp:lastModifiedBy>Getachew Tebkew</cp:lastModifiedBy>
  <cp:revision>2</cp:revision>
  <dcterms:created xsi:type="dcterms:W3CDTF">2026-05-11T12:09:00Z</dcterms:created>
  <dcterms:modified xsi:type="dcterms:W3CDTF">2026-05-12T05:51:17Z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1033-12.1.0.25862</vt:lpwstr>
  </property>
  <property fmtid="{D5CDD505-2E9C-101B-9397-08002B2CF9AE}" pid="3" name="ICV">
    <vt:lpwstr>7ABBBC57D72649938A8200B0F4DFA681_12</vt:lpwstr>
  </property>
</Properties>
</file>