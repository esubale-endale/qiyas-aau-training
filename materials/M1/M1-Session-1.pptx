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8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1. We are not building a throwaway demo; we are starting the core logic of the Training Management System. The C# fundamentals from this session will support every later module, so focus on getting the basics clean and correct from the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session as the logic engine first; API and UI arrive in later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outcome to something they will show in the lab or integrity pack, not abstract vocabulary.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prior language experience briefly. Static typing as reliability, not language competition.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sequence: logic engine first; expensive mistakes avoided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Unix use ls instead of dir. dotnet new console scaffolds a runnable app; dotnet run compiles and executes in one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start with the logic engine first, then add API and UI in later modules. Correctness at this stage prevents expensive fixes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compiler warnings as teaching signals for nullable reference types.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Nullable annotations and warnings make null assumptions explicit before runtime.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Embedded case study; reinforced in Lab Exercise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 rule: monetary values use `decimal`; approximate scientific values can use `double`. Make learners state the rule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Trade-off language: double ~ range/performance for approximations; decimal ~ precision for financial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Prefer interpolation for readability and maintainability when formatting multiple variables.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nullable annotations as contracts: string vs string?.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Discussion: worst thing when you access null at runtime? Beginner scaffolding: railroad-switch diagram for ?., ??, ??=.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learners look confused, draw the railroad-switch: ?. is the switch; ?? is the default track; ??= lays new track only if none exists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flow analysis explicitly after guarding null.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Underlying program structure still exists; ceremony removed for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readability standard: underscores do not change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verbal check: reasoning, not recitation.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Send learners to M1 Lab Workbook checkpoints that match the Assessment Pack rubric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"/>
            <a:ext cx="411480" cy="4960620"/>
          </a:xfrm>
          <a:prstGeom prst="rect">
            <a:avLst/>
          </a:prstGeom>
          <a:solidFill>
            <a:srgbClr val="243556"/>
          </a:solidFill>
          <a:ln w="12700">
            <a:solidFill>
              <a:srgbClr val="2435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594360"/>
            <a:ext cx="1325880" cy="2926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594360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566928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Environment,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primitives &amp;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null safety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5852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C# 14 Essentials  TMS logic engine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3520440"/>
            <a:ext cx="3840480" cy="0"/>
          </a:xfrm>
          <a:prstGeom prst="line">
            <a:avLst/>
          </a:prstGeom>
          <a:noFill/>
          <a:ln w="15875">
            <a:solidFill>
              <a:srgbClr val="0EA5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868680"/>
            <a:ext cx="2468880" cy="3154680"/>
          </a:xfrm>
          <a:prstGeom prst="rect">
            <a:avLst/>
          </a:prstGeom>
          <a:solidFill>
            <a:srgbClr val="0F1A2E"/>
          </a:solidFill>
          <a:ln w="12700">
            <a:solidFill>
              <a:srgbClr val="0EA5E9"/>
            </a:solidFill>
            <a:prstDash val="solid"/>
          </a:ln>
          <a:effectLst>
            <a:outerShdw blurRad="177800" dist="635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56832" y="96012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TmsCore / Program.cs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656832" y="1207008"/>
            <a:ext cx="2240280" cy="2697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38BD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</a:t>
            </a:r>
            <a:r>
              <a:rPr lang="en-US" sz="7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.WriteLine("=== TMS Core ===");
</a:t>
            </a:r>
            <a:r>
              <a:rPr lang="en-US" sz="7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string </a:t>
            </a:r>
            <a:r>
              <a:rPr lang="en-US" sz="750" dirty="0">
                <a:solidFill>
                  <a:srgbClr val="38BD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student</a:t>
            </a:r>
            <a:r>
              <a:rPr lang="en-US" sz="7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= "Kidane";
</a:t>
            </a:r>
            <a:r>
              <a:rPr lang="en-US" sz="7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decimal </a:t>
            </a:r>
            <a:r>
              <a:rPr lang="en-US" sz="750" dirty="0">
                <a:solidFill>
                  <a:srgbClr val="38BD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fee</a:t>
            </a:r>
            <a:r>
              <a:rPr lang="en-US" sz="7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= 1999.99m;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M1 · SESSION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first C# program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Outcomes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28600" y="804672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 the end of this session, you will: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" y="1170432"/>
            <a:ext cx="8558784" cy="33101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 up a .NET 10 project from the command line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 why C# uses static typing and what that prevents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Choose the correct numeric type for financial vs scientific data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null-safe code using `?`, `??`, and `?.`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your first TMS prototype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M1 · SESSION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 uses C# and why should you care?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C# in the Real World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68680"/>
            <a:ext cx="4261104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68680"/>
            <a:ext cx="4261104" cy="292608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16152"/>
            <a:ext cx="407822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Microsoft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645920"/>
            <a:ext cx="4078224" cy="7589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Azure, Visual Studio, .NET runtime itself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0016" y="868680"/>
            <a:ext cx="4261104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0016" y="868680"/>
            <a:ext cx="4261104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91456" y="1216152"/>
            <a:ext cx="407822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Stack Overflow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91456" y="1645920"/>
            <a:ext cx="4078224" cy="7589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Entire backend runs on ASP.NET Core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" y="2752344"/>
            <a:ext cx="4261104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2752344"/>
            <a:ext cx="4261104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099816"/>
            <a:ext cx="407822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3529584"/>
            <a:ext cx="4078224" cy="7589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70% of mobile games are built with C#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0016" y="2752344"/>
            <a:ext cx="4261104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0016" y="2752344"/>
            <a:ext cx="4261104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3099816"/>
            <a:ext cx="407822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Banks, governments, enterprises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91456" y="3529584"/>
            <a:ext cx="4078224" cy="7589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C# dominates where correctness matters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.NET 10  Install and verify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Pre-flight check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41248"/>
            <a:ext cx="8778240" cy="39776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41248"/>
            <a:ext cx="87782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41248"/>
            <a:ext cx="85587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bash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188720"/>
            <a:ext cx="8503920" cy="3520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Verify .NET 10 installation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dotnet --version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Expected output: 10.0.xxx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Create the TMS project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dotnet new console -n TmsCore --framework net10.0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Observe what was created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cd TmsCore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dir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Program.cs  your entry point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TmsCore.csproj  the project configuration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Run it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dotnet run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Output: Hello, World!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just happened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932688"/>
            <a:ext cx="2791968" cy="1389888"/>
          </a:xfrm>
          <a:prstGeom prst="rect">
            <a:avLst/>
          </a:prstGeom>
          <a:solidFill>
            <a:srgbClr val="F8FAFC"/>
          </a:solidFill>
          <a:ln w="1524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932688"/>
            <a:ext cx="2791968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932688"/>
            <a:ext cx="279196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" y="1316736"/>
            <a:ext cx="264566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dotnet new console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6032" y="1773936"/>
            <a:ext cx="264566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Created a ready-to-run application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76016" y="932688"/>
            <a:ext cx="2791968" cy="1389888"/>
          </a:xfrm>
          <a:prstGeom prst="rect">
            <a:avLst/>
          </a:prstGeom>
          <a:solidFill>
            <a:srgbClr val="F8FAFC"/>
          </a:solidFill>
          <a:ln w="1524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6016" y="932688"/>
            <a:ext cx="2791968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76016" y="932688"/>
            <a:ext cx="279196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49168" y="1316736"/>
            <a:ext cx="264566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Program.cs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49168" y="1773936"/>
            <a:ext cx="264566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entry point  one file, no ceremony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69152" y="932688"/>
            <a:ext cx="2791968" cy="1389888"/>
          </a:xfrm>
          <a:prstGeom prst="rect">
            <a:avLst/>
          </a:prstGeom>
          <a:solidFill>
            <a:srgbClr val="F8FAFC"/>
          </a:solidFill>
          <a:ln w="1524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69152" y="932688"/>
            <a:ext cx="2791968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69152" y="932688"/>
            <a:ext cx="279196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42304" y="1316736"/>
            <a:ext cx="264566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dotnet run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42304" y="1773936"/>
            <a:ext cx="264566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Compiled AND executed in one step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FILE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project file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TmsCore.csproj  Your configuration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41248"/>
            <a:ext cx="8778240" cy="3840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41248"/>
            <a:ext cx="87782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41248"/>
            <a:ext cx="85587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XML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188720"/>
            <a:ext cx="8503920" cy="3383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084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&lt;Project Sdk="Microsoft.NET.Sdk"&gt;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&lt;PropertyGroup&gt;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&lt;OutputType&gt;Exe&lt;/OutputType&gt;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&lt;TargetFramework&gt;net10.0&lt;/TargetFramework&gt;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&lt;LangVersion&gt;14&lt;/LangVersion&gt;</a:t>
            </a: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&lt;!-- C# 14 is default for .NET 10 --&gt;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&lt;Nullable&gt;enable&lt;/Nullable&gt;</a:t>
            </a: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&lt;!-- Null safety is ON --&gt;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&lt;/PropertyGroup&gt;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&lt;/Project&gt;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lines that matter</a:t>
            </a:r>
            <a:endParaRPr lang="en-US" sz="2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182880" y="868680"/>
          <a:ext cx="8778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94944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2B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Setting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2B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What it does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`net10.0`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Targets the latest Long-Term Support release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`LangVersion 14`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Enables C# 14 features like the `field` keyword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`Nullable enable`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The compiler warns when you risk a null crash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decimal trap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bug that costs real money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Financial and audit contexts: the type you pick is not a style choice.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BUG: Using double for money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41248"/>
            <a:ext cx="8778240" cy="39776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41248"/>
            <a:ext cx="87782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41248"/>
            <a:ext cx="85587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C#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188720"/>
            <a:ext cx="8503920" cy="3520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THE BUG: Using double for money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double grantPerStudent = 1999.99;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double totalStudents = 100_000;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double totalBudget = grantPerStudent * totalStudents;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Console.WriteLine($"Total budget (double): {totalBudget}");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Output: 199999000.00000003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did the `.00000003` come from?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68680"/>
            <a:ext cx="8778240" cy="20574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68680"/>
            <a:ext cx="82296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96696"/>
            <a:ext cx="8485632" cy="1801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IEEE 754 floating-point cannot represent `1999.99` exactly in binary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error is tiny per operation but accumulates across thousands of transactions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FIX: Using decimal for money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41248"/>
            <a:ext cx="8778240" cy="39776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41248"/>
            <a:ext cx="87782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41248"/>
            <a:ext cx="85587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C#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188720"/>
            <a:ext cx="8503920" cy="3520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THE FIX: Using decimal for money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decimal grantPerStudentFixed = 1999.99m;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decimal totalStudentsFixed = 100_000m;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decimal totalBudgetFixed = grantPerStudentFixed * totalStudentsFixed;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Console.WriteLine($"Total budget (decimal): {totalBudgetFixed}");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Output: 199999000.00  EXACT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Discussion  precision in real systems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68680"/>
            <a:ext cx="8778240" cy="356616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868680"/>
            <a:ext cx="54864" cy="3566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52728"/>
            <a:ext cx="8503920" cy="3063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"Has anyone seen a bug caused by rounding or precision in a real system? What happened? How was it discovered?"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NUMERIC TYPES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to use each numeric type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decision table</a:t>
            </a:r>
            <a:endParaRPr lang="en-US" sz="2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/>
        </p:nvGraphicFramePr>
        <p:xfrm>
          <a:off x="137160" y="822960"/>
          <a:ext cx="8869680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713232"/>
                <a:gridCol w="2606040"/>
                <a:gridCol w="489204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A2B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Type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A2B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Size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A2B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Use in TMS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A2B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When to use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`int`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32-bit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Enrollment count, student age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Whole numbers within +/- 2 billion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`long`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64-bit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Global student ID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Very large whole numbers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`double`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64-bit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GPS coordinates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Scientific/geometric data ONLY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`decimal`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128-bit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Course fees, grant allocations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Any financial calculation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`bool`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8-bit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`IsEnrolled`, `IsGraduated`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True/false flags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`string`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Variable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Names, emails, descriptions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Text data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rule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68680"/>
            <a:ext cx="8778240" cy="18745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68680"/>
            <a:ext cx="82296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96696"/>
            <a:ext cx="8485632" cy="1618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Money or audit trail? Use `decimal`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GPS or physics? Use `double`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Everything else numeric? Start with `int`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String interpolation  The professional way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Formatting output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41248"/>
            <a:ext cx="8778240" cy="2633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41248"/>
            <a:ext cx="87782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41248"/>
            <a:ext cx="85587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C#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188720"/>
            <a:ext cx="8503920" cy="2176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string studentName = "Abeba";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enrollmentCount = 3;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String interpolation  clean, readable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Console.WriteLine($"Student: {studentName}, Courses: {enrollmentCount}");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String concatenation  avoid this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Console.WriteLine("Student: " + studentName + ", Courses: " + enrollmentCount);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2880" y="3547872"/>
            <a:ext cx="8778240" cy="12618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3547872"/>
            <a:ext cx="82296" cy="1261872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675888"/>
            <a:ext cx="8485632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interpolation wins: reads left to right, like natural language</a:t>
            </a:r>
            <a:endParaRPr lang="en-US" sz="10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hidden `ToString()` calls to forget</a:t>
            </a:r>
            <a:endParaRPr lang="en-US" sz="10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Works with format specifiers: `$"GPA: {gpa:F2}"` gives "GPA: 3.50"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NULL SAFETY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million-dollar bug fix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C# solves the billion-dollar mistake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22960"/>
            <a:ext cx="8778240" cy="96012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822960"/>
            <a:ext cx="54864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0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Tony Hoare, who invented null references, called them his "billion-dollar mistake." C# fixes this with nullable reference types.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1874520"/>
            <a:ext cx="8778240" cy="303580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874520"/>
            <a:ext cx="87782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874520"/>
            <a:ext cx="85587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C#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0040" y="2221992"/>
            <a:ext cx="8503920" cy="2578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string name = "Abeba";       // Guaranteed non-null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string? region = null;        // Explicitly nullable  the '?' is the contract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Without null check  compiler warning CS8602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Console.WriteLine(region.ToUpper()); // WARNING: possible null reference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With null-conditional operator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Console.WriteLine(region?.ToUpper() ?? "NO REGION ASSIGNED");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operators</a:t>
            </a:r>
            <a:endParaRPr lang="en-US" sz="21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/>
        </p:nvGraphicFramePr>
        <p:xfrm>
          <a:off x="182880" y="868680"/>
          <a:ext cx="8778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011680"/>
                <a:gridCol w="566928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2B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Operator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2B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Name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2B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What it does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`?` after type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Nullable marker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"This value might be null"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`?.`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Null-conditional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"Access member only if not null"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`??`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Null-coalescing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"Use this default if null"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`??=`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Null-coalescing assignment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"Assign only if currently null"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Discussion  null at runtime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68680"/>
            <a:ext cx="8778240" cy="214884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868680"/>
            <a:ext cx="54864" cy="2148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52728"/>
            <a:ext cx="850392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"What is the worst thing that happens when you access a null variable at runtime? Has anyone experienced a crash caused by null?"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PRACTICAL NULL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Practical null safety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37160" y="804672"/>
            <a:ext cx="8869680" cy="4069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877570"/>
            <a:ext cx="8595360" cy="3886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 student might not have a region assigned yet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string? region = null;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Safe access with a default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string displayRegion = region ?? "Unassigned";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Console.WriteLine($"Region: {displayRegion}");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Output: Region: Unassigned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Null-conditional: call method only if not null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int? length = region?.Length;  // length is null, not a crash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Practical pattern: Console.ReadLine() returns string?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string? input = Console.ReadLine();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(input is null)
{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Console.WriteLine("No input provided.");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return;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After the null check, 'input' is promoted to non-null string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Console.WriteLine($"You entered: {input.ToUpper()}");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  flow analysis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68680"/>
            <a:ext cx="8778240" cy="3566160"/>
          </a:xfrm>
          <a:prstGeom prst="rect">
            <a:avLst/>
          </a:prstGeom>
          <a:solidFill>
            <a:srgbClr val="EFF6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868680"/>
            <a:ext cx="54864" cy="35661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60120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252728"/>
            <a:ext cx="8503920" cy="3063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 a null check, C# promotes the variable. Inside the `if` block after checking `input is null`, the compiler knows `input` is non-null on the remaining branch. This is called flow analysis.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TOP-LEVEL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Top-level statements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boilerplate, just code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37160" y="804672"/>
            <a:ext cx="8869680" cy="35204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" y="804672"/>
            <a:ext cx="886968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804672"/>
            <a:ext cx="86502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Program.cs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1152144"/>
            <a:ext cx="8595360" cy="3063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Program.cs  the ENTIRE file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No class, no Main method, no namespace ceremony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Console.WriteLine("=== TMS Core Engine ===");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string studentName = "Kidane";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courseCount = 5;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Console.WriteLine($"Welcome, {studentName}. You are enrolled in {courseCount} courses.");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C# 12+ collection expression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string[] courses = ["C# Essentials", "TypeScript", "ASP.NET Core"];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Console.WriteLine($"First course: {courses[0]}");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happening behind the scenes?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41248"/>
            <a:ext cx="8778240" cy="361188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841248"/>
            <a:ext cx="54864" cy="3611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3268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Compiler reality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225296"/>
            <a:ext cx="8503920" cy="3108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compiler wraps this in a `class Program` with a `static async Task Main(string[] args)` for you. You get the simplicity without losing the structure.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SYNTAX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 separators and modern syntax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Readability features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41248"/>
            <a:ext cx="8778240" cy="2606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41248"/>
            <a:ext cx="87782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41248"/>
            <a:ext cx="85587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C#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188720"/>
            <a:ext cx="8503920" cy="2148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Without separators  how many zeros?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population = 100000000;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With digit separators  clearly 100 million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populationClear = 100_000_000;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Same value, same type, same IL code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The underscore is purely for human readers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2880" y="3547872"/>
            <a:ext cx="8778240" cy="1298448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" y="3547872"/>
            <a:ext cx="54864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639312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 check  answer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3931920"/>
            <a:ext cx="8503920" cy="795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100_000 and 100000  same type? Same value? Yes. The underscore is a digit separator for readability. It has no effect on the value or type. Both are `int`. The compiler ignores underscores entirely.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WRAP-UP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 1 summary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you learned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01168" y="850392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" y="85039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850392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856" y="85039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44752" y="850392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55648" y="850392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0280" y="804672"/>
            <a:ext cx="67208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End-of-session recap: one row per main idea  tie each to your M1 lab checkpoints.</a:t>
            </a:r>
            <a:endParaRPr lang="en-US" sz="9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/>
        </p:nvGraphicFramePr>
        <p:xfrm>
          <a:off x="182880" y="1115568"/>
          <a:ext cx="87782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81228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2B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Concept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2B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Key takeaway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.NET 10 CLI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`dotnet new`, `dotnet run`  your daily tools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Static typing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The compiler catches type errors before your users do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`decimal` vs `double`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Money = `decimal`. GPS = `double`. No exceptions.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Null safety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`string` vs `string?` is your contract with the compiler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`?.`, `??`, `??=`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The three operators that eliminate null crashes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Top-level statements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Simple entry point for learning; class-based comes in M4</a:t>
                      </a:r>
                      <a:endParaRPr lang="en-US" sz="8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Hiring signal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41248"/>
            <a:ext cx="8778240" cy="3611880"/>
          </a:xfrm>
          <a:prstGeom prst="rect">
            <a:avLst/>
          </a:prstGeom>
          <a:solidFill>
            <a:srgbClr val="0F1A2E"/>
          </a:solidFill>
          <a:ln w="12700">
            <a:solidFill>
              <a:srgbClr val="0EA5E9"/>
            </a:solidFill>
            <a:prstDash val="solid"/>
          </a:ln>
          <a:effectLst>
            <a:outerShdw blurRad="177800" dist="635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41248"/>
            <a:ext cx="91440" cy="361188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61288"/>
            <a:ext cx="8366760" cy="3108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.NET interview starts with: "What is the difference between value types and reference types?" and "Why would you use `decimal` instead of `double`?" You just learned both.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7837</Words>
  <Application>WPS Presentation</Application>
  <PresentationFormat>On-screen Show (16:9)</PresentationFormat>
  <Paragraphs>418</Paragraphs>
  <Slides>37</Slides>
  <Notes>40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9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 Session 1: Environment, Primitives and Null Safety</dc:title>
  <dc:creator>CoTBE Advanced Digital Skills Programme</dc:creator>
  <dc:subject>C# 14 Essentials  TMS logic engine</dc:subject>
  <cp:lastModifiedBy>user</cp:lastModifiedBy>
  <cp:revision>6</cp:revision>
  <dcterms:created xsi:type="dcterms:W3CDTF">2026-05-11T12:09:00Z</dcterms:created>
  <dcterms:modified xsi:type="dcterms:W3CDTF">2026-05-11T21:56:44Z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1033-12.1.0.25862</vt:lpwstr>
  </property>
  <property fmtid="{D5CDD505-2E9C-101B-9397-08002B2CF9AE}" pid="3" name="ICV">
    <vt:lpwstr>ECA7E807E41E4232A990DA7D2FFF39FE_12</vt:lpwstr>
  </property>
</Properties>
</file>