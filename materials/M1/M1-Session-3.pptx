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3" r:id="rId4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Prerequisites: Sessions 1–3. Focus on why async matters under load, when to parallelize, and when not to  not just syntax.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web systems handle many requests at once; async is how we stay responsive. Goal: understand parallelization trade-offs, not only `await`.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 is central to backend work. So far code ran step by step; today connects to how real services behave under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Coffee shop analogy briefly, then map to thread pool and I/O.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analogy to threads: async releases the worker during I/O wait so the server can continue other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`Task.Delay` is a stand-in for real I/O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explicit: `async` modifier, `Task`-based return, `await` on asynchronous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`await` does not block the thread  repeat until the room owns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Repeat carefully: await does not block the thread. The method yields; continuation resumes when the task completes.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`await` tells the runtime: wait for this operation, release this thread for other work, then resume here when ready. It does NOT block the thread  the thread returns to the pool.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 rule: Task-returning methods get await  no .Result / .Wait.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 strict rule: avoid .Result and .Wait in async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Interview trap: async void only for UI events; Task everywhere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interview answer: async void only for event handlers; use Task everywhere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timing beats intuition. Task.WhenAll for independent I/O.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Task.WhenAll as latency optimization for independent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WhenAll, .Result on those tasks is non-blocking  still prefer consistent await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Clarify: .Result after Task.WhenAll is non-blocking; prefer await style consistently for readability.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try/catch around await  same mental model as 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swallow exceptions; catch specific types first; use throw; to preserve stack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 trade-off: unawaited task must handle its own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Fire-and-forget is deliberate, not a default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language in exception types  logging and UX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custom exceptions as domain language for error handling, logging, and user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reads vs sequential state-changing enrollments.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of full flow from markdown.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operation types: parallelize loads; enrollment sequencing preview before M5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M5: transactions and optimistic concurrency  not a bug in your if-check.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concurrency control; sequential acceptable at M1; later modules add transactional strategies.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Verbal check: sync vs async, await, WhenAll, anti-patterns, exceptions, engine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four sessions: TMS enrollment engine spine is in place for later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411480" cy="4960620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9436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56692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 / await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the TMS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engine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5852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14 Essentials  TMS logic engine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3840480" cy="0"/>
          </a:xfrm>
          <a:prstGeom prst="line">
            <a:avLst/>
          </a:prstGeom>
          <a:noFill/>
          <a:ln w="15875">
            <a:solidFill>
              <a:srgbClr val="0EA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868680"/>
            <a:ext cx="2468880" cy="315468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96012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TMS / async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56832" y="1207008"/>
            <a:ext cx="2240280" cy="2697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Task&lt;Student&gt; </a:t>
            </a:r>
            <a:r>
              <a:rPr lang="en-US" sz="7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FetchStudentAsync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(string id)
{
</a:t>
            </a:r>
            <a:r>
              <a:rPr lang="en-US" sz="75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</a:t>
            </a:r>
            <a:r>
              <a:rPr lang="en-US" sz="75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Task.Delay(500);
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new Student { ... };
</a:t>
            </a:r>
            <a:r>
              <a:rPr lang="en-US" sz="7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the TMS responsive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the end of this session, you will: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8778240" cy="34015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24128"/>
            <a:ext cx="82296" cy="3401568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52144"/>
            <a:ext cx="8485632" cy="31455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why synchronous code wastes server resources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async methods using `async`, `await`, and `Task&lt;T&gt;`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independent operations in parallel with `Task.WhenAll`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exceptions properly in async code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complete async enrollment engine with timing proof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  why sync code fails at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single-threaded coffee shop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786003"/>
            <a:ext cx="4261104" cy="3547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4261104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4078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Synchronous barista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" y="1280160"/>
            <a:ext cx="404164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orders a latte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Barista steams milk  30s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Barista stands watching the milk, doing nothing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grows; everyone waits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customer only after the latte is done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0016" y="841248"/>
            <a:ext cx="4261104" cy="35478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841248"/>
            <a:ext cx="4261104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896112"/>
            <a:ext cx="4078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Asynchronous barista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9744" y="1280160"/>
            <a:ext cx="4041648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orders a latte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Barista starts steaming milk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Barista takes the next order while milk heats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milk is ready, finishes the latte</a:t>
            </a:r>
            <a:endParaRPr lang="en-US" sz="16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one barista  line moves faster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code terms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09728" y="841248"/>
          <a:ext cx="8924290" cy="1341120"/>
        </p:xfrm>
        <a:graphic>
          <a:graphicData uri="http://schemas.openxmlformats.org/drawingml/2006/table">
            <a:tbl>
              <a:tblPr/>
              <a:tblGrid>
                <a:gridCol w="2139315"/>
                <a:gridCol w="823595"/>
                <a:gridCol w="2450338"/>
                <a:gridCol w="3511296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Operation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Sync behavior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Async behavior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Query the database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500ms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Thread blocked, idle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Thread released  other requests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Call an external API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200ms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Thread blocked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Thread released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Read a file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100ms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Thread blocked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Thread released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`async` and `await`  the basics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async method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852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47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Simulating a database call with Task.Delay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Task&lt;Student&gt; FetchStudentAsync(string studentId)
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Console.WriteLine($"  Fetching student {studentId}...");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Task.Delay(500);  // Simulate 500ms database query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new Student { Id = studentId, Name = $"Student-{studentId}", Age = 22 };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Using it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student = await FetchStudentAsync("STU-001");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  Loaded: {student.Name}");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182880" y="3730752"/>
          <a:ext cx="8778240" cy="1341120"/>
        </p:xfrm>
        <a:graphic>
          <a:graphicData uri="http://schemas.openxmlformats.org/drawingml/2006/table">
            <a:tbl>
              <a:tblPr/>
              <a:tblGrid>
                <a:gridCol w="2880360"/>
                <a:gridCol w="5897880"/>
              </a:tblGrid>
              <a:tr h="119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Rule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means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Mark the method `async`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Tells the compiler this method contains `await`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Return `Task&lt;T&gt;` instead of `T`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`Task&lt;Student&gt;` instead of `Student`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 `await` before the async call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Releases the thread until the result is ready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`await` actually do?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 pause. Not a block.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" y="841248"/>
            <a:ext cx="1613002" cy="1261872"/>
          </a:xfrm>
          <a:prstGeom prst="rect">
            <a:avLst/>
          </a:prstGeom>
          <a:solidFill>
            <a:srgbClr val="F8FAFC"/>
          </a:solidFill>
          <a:ln w="1524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41248"/>
            <a:ext cx="1613002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41248"/>
            <a:ext cx="161300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" y="1225296"/>
            <a:ext cx="146669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starts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" y="1719326"/>
            <a:ext cx="146669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FetchStudentAsync("STU-001") runs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51330" y="841248"/>
            <a:ext cx="1613002" cy="1261872"/>
          </a:xfrm>
          <a:prstGeom prst="rect">
            <a:avLst/>
          </a:prstGeom>
          <a:solidFill>
            <a:srgbClr val="F8FAFC"/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51330" y="841248"/>
            <a:ext cx="161300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1330" y="841248"/>
            <a:ext cx="161300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24482" y="1225296"/>
            <a:ext cx="146669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Hit await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24482" y="1682496"/>
            <a:ext cx="146669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await Task.Delay(500)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65499" y="841248"/>
            <a:ext cx="1613002" cy="1261872"/>
          </a:xfrm>
          <a:prstGeom prst="rect">
            <a:avLst/>
          </a:prstGeom>
          <a:solidFill>
            <a:srgbClr val="F8FAFC"/>
          </a:solidFill>
          <a:ln w="1524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65499" y="841248"/>
            <a:ext cx="161300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5499" y="841248"/>
            <a:ext cx="161300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8651" y="1225296"/>
            <a:ext cx="146669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 released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38651" y="1682496"/>
            <a:ext cx="146669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 to thread pool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579669" y="841248"/>
            <a:ext cx="1613002" cy="1261872"/>
          </a:xfrm>
          <a:prstGeom prst="rect">
            <a:avLst/>
          </a:prstGeom>
          <a:solidFill>
            <a:srgbClr val="F8FAFC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9669" y="841248"/>
            <a:ext cx="1613002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9669" y="841248"/>
            <a:ext cx="161300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52821" y="1225296"/>
            <a:ext cx="146669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 completes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52821" y="1682496"/>
            <a:ext cx="146669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 schedules continuation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93838" y="841248"/>
            <a:ext cx="1613002" cy="1261872"/>
          </a:xfrm>
          <a:prstGeom prst="rect">
            <a:avLst/>
          </a:prstGeom>
          <a:solidFill>
            <a:srgbClr val="F8FAFC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93838" y="841248"/>
            <a:ext cx="1613002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3838" y="841248"/>
            <a:ext cx="161300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66990" y="1225296"/>
            <a:ext cx="146669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 + return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66990" y="1682496"/>
            <a:ext cx="1466698" cy="329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continues after await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10185" y="2378710"/>
            <a:ext cx="3883660" cy="1034415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10185" y="2378710"/>
            <a:ext cx="3874135" cy="347345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735" y="2434971"/>
            <a:ext cx="4078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Blocking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28600" y="2782570"/>
            <a:ext cx="4041775" cy="415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`.Result`, `.Wait()`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 sits idle  wasted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370705" y="2435225"/>
            <a:ext cx="4232910" cy="9779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385310" y="2435225"/>
            <a:ext cx="4213225" cy="347345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79290" y="2486025"/>
            <a:ext cx="392811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Awaiting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479925" y="2854960"/>
            <a:ext cx="4041775" cy="5848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`await`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 returns to pool  serves other requests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critical anti-pattern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use `.Result` or `.Wait()`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148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NEVER DO THIS  blocks the thread, risks deadlock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student = FetchStudentAsync("STU-001").Result;  // BLOCKS!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FetchStudentAsync("STU-001").Wait();                // BLOCKS!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ALWAYS DO THIS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student = await FetchStudentAsync("STU-001");   // RELEASES!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" y="3063240"/>
            <a:ext cx="8778240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3063240"/>
            <a:ext cx="82296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91256"/>
            <a:ext cx="8485632" cy="886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Blocks the thread  the thread pool shrinks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load  all threads blocked, none left to resume async work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Deadlock  continuation cannot run because every thread is busy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" y="4279392"/>
            <a:ext cx="877824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4279392"/>
            <a:ext cx="54864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37083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method returns `Task`, you `await` it. Period. No `.Result`. No `.Wait()`. No exceptions.</a:t>
            </a: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`async void`  where it belongs (almost nowhere)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`async void` vs `async Task`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375"/>
            <a:ext cx="8778240" cy="303720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Dangerous in application logic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void ProcessEnrollmentAsync(Student student)
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Task.Delay(50);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throw new Exception("This exception bypasses normal Task handling.");
</a:t>
            </a: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Correct signature for app logic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Task ProcessEnrollmentAsyncSafe(Student student)
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Task.Delay(50);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4020185"/>
            <a:ext cx="8778240" cy="101346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3994150"/>
            <a:ext cx="76200" cy="103505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220210"/>
            <a:ext cx="8503920" cy="5054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`async void` only for UI event handlers. In backend/service code, return `Task` or `Task&lt;T&gt;` so callers can await and handle failures.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vs. parallel  the performance proof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 ~5 seconds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375"/>
            <a:ext cx="8778240" cy="322643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148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Console.WriteLine("Sequential:");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sw = System.Diagnostics.Stopwatch.StartNew();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(int i = 1; i &lt;= 10; i++)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await FetchStudentAsync($"STU-{i:D3}");</a:t>
            </a:r>
            <a:endParaRPr lang="en-US" sz="1400" dirty="0">
              <a:solidFill>
                <a:srgbClr val="38BDF8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  Sequential time: {sw.ElapsedMilliseconds}ms");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~5000ms (10 calls x 500ms each)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 ~500ms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Console.WriteLine("Parallel:");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sw.Restart();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tasks = Enumerable.Range(1, 10)
</a:t>
            </a:r>
            <a:r>
              <a:rPr lang="en-US" sz="140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.Select(i =&gt; FetchStudentAsync($"STU-{i:D3}"));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Student[] allStudents = await Task.WhenAll(tasks);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  Parallel time: {sw.ElapsedMilliseconds}ms");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Output: ~500ms (all 10 calls run simultaneously)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  Loaded {allStudents.Length} students");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" y="4133088"/>
            <a:ext cx="877824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4133088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22452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Takeaway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517136"/>
            <a:ext cx="8503920" cy="118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~10x faster: same data, same server  only difference is parallel vs sequential independent calls.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`Task.WhenAll`  the pattern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8733155" cy="56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 parallel execution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375"/>
            <a:ext cx="4390390" cy="1076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375"/>
            <a:ext cx="4387850" cy="347345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4078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Task.WhenAll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735" y="1280160"/>
            <a:ext cx="4041775" cy="66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Operations are independent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Minimize total wait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0270" y="841375"/>
            <a:ext cx="4141470" cy="1066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270" y="841375"/>
            <a:ext cx="4160520" cy="347345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896112"/>
            <a:ext cx="407822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sequential await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9490" y="1280160"/>
            <a:ext cx="4041775" cy="5657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result depends on another</a:t>
            </a:r>
            <a:endParaRPr lang="en-US" sz="140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matters (e.g. user then enrollment)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" y="2090420"/>
            <a:ext cx="8778240" cy="289179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92608" y="2788920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2167255"/>
            <a:ext cx="8503920" cy="2044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These three are independent  run in parallel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studentTask = FetchStudentAsync("STU-001");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courseTask = FetchCourseAsync("CS101");
var enrollmentTask = FetchEnrollmentAsync("STU-001", "CS101");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await Task.WhenAll(studentTask, courseTask, enrollmentTask);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Safe to access .Result after WhenAll completes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student = studentTask.Result;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course = courseTask.Result;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enrollment = enrollmentTask.Result;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Exception handling in async code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7155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Try/catch works the same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025" y="786130"/>
            <a:ext cx="8997950" cy="435800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185" y="878205"/>
            <a:ext cx="8723630" cy="41522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async Task&lt;decimal&gt; CalculateScholarshipAsync(string studentId)
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try
   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var student = await FetchStudentAsync(studentId);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(student.GPA &lt; 2.0m)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throw new InvalidOperationException(
                $"Student {student.Name} is not eligible (GPA: {student.GPA}).");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decimal award = student.GPA &gt;= 3.5m ? 5000m : 2500m;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award;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catch (InvalidOperationException ex)
    {
        Console.WriteLine($"  Eligibility error: {ex.Message}");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0m;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catch (Exception ex)
   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Console.WriteLine($"  Unexpected error: {ex.Message}");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throw;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rules (exceptions)</a:t>
            </a:r>
            <a:endParaRPr lang="en-US" sz="2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182880" y="841248"/>
          <a:ext cx="8778240" cy="1676400"/>
        </p:xfrm>
        <a:graphic>
          <a:graphicData uri="http://schemas.openxmlformats.org/drawingml/2006/table">
            <a:tbl>
              <a:tblPr/>
              <a:tblGrid>
                <a:gridCol w="4130040"/>
                <a:gridCol w="46482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Rule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Why</a:t>
                      </a:r>
                      <a:endParaRPr lang="en-US" sz="16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Catch specific exceptions first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Know what you are handling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Never write an empty `catch`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Silent failure is the hardest bug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Re-throw unexpected with `throw;`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Preserve the stack trace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 not catch `Exception` unless you re-throw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Catching everything hides bugs</a:t>
                      </a:r>
                      <a:endParaRPr lang="en-US" sz="16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Fire-and-forget  safe pattern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hidden notification failure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28600" y="966470"/>
            <a:ext cx="8778240" cy="321754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085215"/>
            <a:ext cx="8503920" cy="2611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async Task SendNotificationSafeAsync(Student student)
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try
   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8BD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await Task.Delay(100); // simulate email/SMS call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Console.WriteLine($"Notification sent to {student.Name}");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catch (Exception ex)
   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Console.WriteLine($"Notification failed: {ex.Message}");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// log here in real applications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
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Intentional fire-and-forget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_ = SendNotificationSafeAsync(student);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" y="4370832"/>
            <a:ext cx="877824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4370832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46227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503920" cy="91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intentionally do not await a task, that method must contain its own error handling.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exceptions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025" y="0"/>
            <a:ext cx="9070975" cy="655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614553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667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errors meaningful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09855" y="659765"/>
            <a:ext cx="8924290" cy="445325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7015" y="936625"/>
            <a:ext cx="8649970" cy="354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Generic exception  unhelpful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throw new Exception("Something went wrong");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Custom exception  self-documenting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class CapacityReachedException : InvalidOperationException
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string CourseCode { get; }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public CapacityReachedException(string courseCode)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: base($"Course '{courseCode}' has reached maximum capacity.")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CourseCode = courseCode;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
}
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Usage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(course.EnrolledCount &gt;= course.Capacity)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throw new CapacityReachedException(course.Code);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02835" y="2941955"/>
            <a:ext cx="3848735" cy="1204595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02835" y="2941955"/>
            <a:ext cx="76200" cy="1204595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2695" y="3070225"/>
            <a:ext cx="3575685" cy="9036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Self-documenting: the type name tells you what went wrong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Catchable by type: `catch (CapacityReachedException ex)`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Carry context: `CourseCode` tells you which course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standard: domain-specific exceptions in production codebases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Putting it all together  the enrollment engine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3515" y="841375"/>
            <a:ext cx="8777605" cy="208597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TMS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Program.cs (entry point)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 └── EnrollmentService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       ├── FetchStudentAsync(id)     → Task&lt;Student&gt;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       ├── FetchCourseAsync(code)    → Task&lt;Course&gt;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        └── ProcessEnrollmentAsync(student, course) → Task&lt;EnrollmentRecord&gt;
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flow  parallel load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37160" y="804545"/>
            <a:ext cx="9006205" cy="419735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" y="804672"/>
            <a:ext cx="886968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804672"/>
            <a:ext cx="8650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1151890"/>
            <a:ext cx="8595360" cy="3453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service = new EnrollmentService();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1. Load data in parallel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sw = Stopwatch.StartNew();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students = await Task.WhenAll(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service.FetchStudentAsync("STU-001"),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service.FetchStudentAsync("STU-002"),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service.FetchStudentAsync("STU-003")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var courses = await Task.WhenAll(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service.FetchCourseAsync("CS101"),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service.FetchCourseAsync("CS102")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);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Console.WriteLine($"Loaded in {sw.ElapsedMilliseconds}ms");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flow  sequential enroll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2971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41248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8503920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2. Process enrollments (sequential  capacity needs current state)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foreach (var student in students)
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try
   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86EFA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var record = await service.ProcessEnrollmentAsync(student, courses[0]);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Console.WriteLine($"  Enrolled: {student.Name} in {courses[0].Title}");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catch (CapacityReachedException ex)
   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Console.WriteLine($"  Failed: {ex.Message}");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3886200"/>
            <a:ext cx="877824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3886200"/>
            <a:ext cx="54864" cy="9326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7764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note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70248"/>
            <a:ext cx="8503920" cy="4297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operations are often safe to parallelize; state-changing enrollment may need ordering or concurrency control.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M1 · 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sequential enrollment?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concurrency problem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41248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study: capacity race (embedded)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25550"/>
            <a:ext cx="8503920" cy="412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TMS pattern: concurrent requests overbook a course when checks are not coordinated.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874520"/>
            <a:ext cx="8774430" cy="1961515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874520"/>
            <a:ext cx="8778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874520"/>
            <a:ext cx="8558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221865"/>
            <a:ext cx="8503920" cy="1495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Course CS101: Capacity = 30, EnrolledCount = 29 (1 seat left)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Request A checks: 29 &lt; 30? Yes → starts enrolling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Request B checks: 29 &lt; 30? Yes → starts enrolling  (SAME TIME!)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Request A completes: EnrolledCount = 30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Request B completes: EnrolledCount = 31  ← OVER CAPACITY
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959225"/>
            <a:ext cx="8732520" cy="1055370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6535" y="3971290"/>
            <a:ext cx="76200" cy="104330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345" y="4042537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373245"/>
            <a:ext cx="8503920" cy="2260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NOT a bug in your code  it is a concurrency problem. At M1, sequential processing is acceptable. In M5: transactions, optimistic concurrency under load.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Discussion - one seat left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6576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41248"/>
            <a:ext cx="54864" cy="3657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25296"/>
            <a:ext cx="8503920" cy="3154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"Two enrollment requests arrive at the same time for a course with 1 remaining seat. Both check capacity and both pass. Both enroll. The course now has one extra student. How would you prevent this?"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A2B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804672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4 summary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learned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01168" y="850392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8503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85039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8503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4752" y="85039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8503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804672"/>
            <a:ext cx="6720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End-of-session recap: one row per main idea  tie each to your M1 lab checkpoints.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182880" y="1115568"/>
          <a:ext cx="877824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653796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Concept</a:t>
                      </a:r>
                      <a:endParaRPr lang="en-US" sz="14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takeaway</a:t>
                      </a:r>
                      <a:endParaRPr lang="en-US" sz="14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Sync vs async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Sync blocks the thread; async releases it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`async` / `await`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Three changes: `async` keyword, `Task&lt;T&gt;` return, `await` calls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`Task.WhenAll`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 independent operations in parallel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Never `.Result` or `.Wait()`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They block threads and risk deadlock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Custom exceptions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Self-documenting errors with domain context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Sequential vs parallel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Parallel for independent loads; sequential for state-dependent work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Hiring signal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82880" y="841248"/>
            <a:ext cx="8778240" cy="3611880"/>
          </a:xfrm>
          <a:prstGeom prst="rect">
            <a:avLst/>
          </a:prstGeom>
          <a:solidFill>
            <a:srgbClr val="0F1A2E"/>
          </a:solidFill>
          <a:ln w="12700">
            <a:solidFill>
              <a:srgbClr val="0EA5E9"/>
            </a:solidFill>
            <a:prstDash val="solid"/>
          </a:ln>
          <a:effectLst>
            <a:outerShdw blurRad="1778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41248"/>
            <a:ext cx="91440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61288"/>
            <a:ext cx="8366760" cy="310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async question is universal: "What happens if you call `.Result` on a Task?" If you answer "potential deadlock," the interviewer knows you understand threading.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74980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749808"/>
            <a:ext cx="9070848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7132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 complete</a:t>
            </a:r>
            <a:endParaRPr lang="en-US" sz="2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73152" y="841248"/>
          <a:ext cx="8997950" cy="1524000"/>
        </p:xfrm>
        <a:graphic>
          <a:graphicData uri="http://schemas.openxmlformats.org/drawingml/2006/table">
            <a:tbl>
              <a:tblPr/>
              <a:tblGrid>
                <a:gridCol w="903605"/>
                <a:gridCol w="3065145"/>
                <a:gridCol w="5028946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Session</a:t>
                      </a:r>
                      <a:endParaRPr lang="en-US" sz="14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you built</a:t>
                      </a:r>
                      <a:endParaRPr lang="en-US" sz="14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2B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Skills gained</a:t>
                      </a:r>
                      <a:endParaRPr lang="en-US" sz="1400" b="1" dirty="0">
                        <a:solidFill>
                          <a:srgbClr val="1A2B4A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Console prototype with correct types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Primitives, decimal safety, null operators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Domain model with validated entities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Classes, `field`, interfaces, records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pipeline with LINQ queries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Collections, LINQ, pattern matching, guard clauses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Async engine with parallel loading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`async`/`await`, `Task.WhenAll`, custom exceptions</a:t>
                      </a:r>
                      <a:endParaRPr lang="en-US" sz="1400" dirty="0">
                        <a:solidFill>
                          <a:srgbClr val="1E293B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10554</Words>
  <Application>WPS Presentation</Application>
  <PresentationFormat>On-screen Show (16:9)</PresentationFormat>
  <Paragraphs>503</Paragraphs>
  <Slides>37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Session 4: Async/Await and TMS Console Engine</dc:title>
  <dc:creator>CoTBE Advanced Digital Skills Programme</dc:creator>
  <dc:subject>C# 14 Essentials  TMS async enrollment engine</dc:subject>
  <cp:lastModifiedBy>user</cp:lastModifiedBy>
  <cp:revision>6</cp:revision>
  <dcterms:created xsi:type="dcterms:W3CDTF">2026-05-11T12:09:00Z</dcterms:created>
  <dcterms:modified xsi:type="dcterms:W3CDTF">2026-05-23T03:03:50Z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B5DA2DB2E9854ECF8D2D31823E0B8DD2_12</vt:lpwstr>
  </property>
</Properties>
</file>